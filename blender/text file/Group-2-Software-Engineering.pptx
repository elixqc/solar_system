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6"/>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x="18288000" cy="10287000"/>
  <p:notesSz cx="6858000" cy="9144000"/>
  <p:embeddedFontLst>
    <p:embeddedFont>
      <p:font typeface="HK Grotesk" charset="1" panose="00000500000000000000"/>
      <p:regular r:id="rId33"/>
    </p:embeddedFont>
    <p:embeddedFont>
      <p:font typeface="Anton" charset="1" panose="00000500000000000000"/>
      <p:regular r:id="rId34"/>
    </p:embeddedFont>
    <p:embeddedFont>
      <p:font typeface="HK Grotesk Medium" charset="1" panose="00000600000000000000"/>
      <p:regular r:id="rId35"/>
    </p:embeddedFont>
    <p:embeddedFont>
      <p:font typeface="HK Grotesk Semi-Bold" charset="1" panose="00000700000000000000"/>
      <p:regular r:id="rId39"/>
    </p:embeddedFont>
    <p:embeddedFont>
      <p:font typeface="DM Sans Bold" charset="1" panose="00000000000000000000"/>
      <p:regular r:id="rId40"/>
    </p:embeddedFont>
    <p:embeddedFont>
      <p:font typeface="HK Grotesk Bold" charset="1" panose="00000800000000000000"/>
      <p:regular r:id="rId42"/>
    </p:embeddedFont>
    <p:embeddedFont>
      <p:font typeface="DM Sans" charset="1" panose="00000000000000000000"/>
      <p:regular r:id="rId44"/>
    </p:embeddedFont>
    <p:embeddedFont>
      <p:font typeface="DM Sans Bold Italics" charset="1" panose="00000000000000000000"/>
      <p:regular r:id="rId60"/>
    </p:embeddedFont>
    <p:embeddedFont>
      <p:font typeface="DM Sans Italics" charset="1" panose="00000000000000000000"/>
      <p:regular r:id="rId6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notesMasters/notesMaster1.xml" Type="http://schemas.openxmlformats.org/officeDocument/2006/relationships/notesMaster"/><Relationship Id="rId37" Target="theme/theme2.xml" Type="http://schemas.openxmlformats.org/officeDocument/2006/relationships/theme"/><Relationship Id="rId38" Target="notesSlides/notesSlide1.xml" Type="http://schemas.openxmlformats.org/officeDocument/2006/relationships/notesSlide"/><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notesSlides/notesSlide2.xml" Type="http://schemas.openxmlformats.org/officeDocument/2006/relationships/notesSlide"/><Relationship Id="rId42" Target="fonts/font42.fntdata" Type="http://schemas.openxmlformats.org/officeDocument/2006/relationships/font"/><Relationship Id="rId43" Target="notesSlides/notesSlide3.xml" Type="http://schemas.openxmlformats.org/officeDocument/2006/relationships/notesSlide"/><Relationship Id="rId44" Target="fonts/font44.fntdata" Type="http://schemas.openxmlformats.org/officeDocument/2006/relationships/font"/><Relationship Id="rId45" Target="notesSlides/notesSlide4.xml" Type="http://schemas.openxmlformats.org/officeDocument/2006/relationships/notesSlide"/><Relationship Id="rId46" Target="notesSlides/notesSlide5.xml" Type="http://schemas.openxmlformats.org/officeDocument/2006/relationships/notesSlide"/><Relationship Id="rId47" Target="notesSlides/notesSlide6.xml" Type="http://schemas.openxmlformats.org/officeDocument/2006/relationships/notesSlide"/><Relationship Id="rId48" Target="notesSlides/notesSlide7.xml" Type="http://schemas.openxmlformats.org/officeDocument/2006/relationships/notesSlide"/><Relationship Id="rId49" Target="notesSlides/notesSlide8.xml" Type="http://schemas.openxmlformats.org/officeDocument/2006/relationships/notesSlide"/><Relationship Id="rId5" Target="tableStyles.xml" Type="http://schemas.openxmlformats.org/officeDocument/2006/relationships/tableStyles"/><Relationship Id="rId50" Target="notesSlides/notesSlide9.xml" Type="http://schemas.openxmlformats.org/officeDocument/2006/relationships/notesSlide"/><Relationship Id="rId51" Target="notesSlides/notesSlide10.xml" Type="http://schemas.openxmlformats.org/officeDocument/2006/relationships/notesSlide"/><Relationship Id="rId52" Target="notesSlides/notesSlide11.xml" Type="http://schemas.openxmlformats.org/officeDocument/2006/relationships/notesSlide"/><Relationship Id="rId53" Target="notesSlides/notesSlide12.xml" Type="http://schemas.openxmlformats.org/officeDocument/2006/relationships/notesSlide"/><Relationship Id="rId54" Target="notesSlides/notesSlide13.xml" Type="http://schemas.openxmlformats.org/officeDocument/2006/relationships/notesSlide"/><Relationship Id="rId55" Target="notesSlides/notesSlide14.xml" Type="http://schemas.openxmlformats.org/officeDocument/2006/relationships/notesSlide"/><Relationship Id="rId56" Target="notesSlides/notesSlide15.xml" Type="http://schemas.openxmlformats.org/officeDocument/2006/relationships/notesSlide"/><Relationship Id="rId57" Target="notesSlides/notesSlide16.xml" Type="http://schemas.openxmlformats.org/officeDocument/2006/relationships/notesSlide"/><Relationship Id="rId58" Target="notesSlides/notesSlide17.xml" Type="http://schemas.openxmlformats.org/officeDocument/2006/relationships/notesSlide"/><Relationship Id="rId59" Target="notesSlides/notesSlide18.xml" Type="http://schemas.openxmlformats.org/officeDocument/2006/relationships/notesSlide"/><Relationship Id="rId6" Target="slides/slide1.xml" Type="http://schemas.openxmlformats.org/officeDocument/2006/relationships/slide"/><Relationship Id="rId60" Target="fonts/font60.fntdata" Type="http://schemas.openxmlformats.org/officeDocument/2006/relationships/font"/><Relationship Id="rId61" Target="notesSlides/notesSlide19.xml" Type="http://schemas.openxmlformats.org/officeDocument/2006/relationships/notesSlide"/><Relationship Id="rId62" Target="fonts/font62.fntdata" Type="http://schemas.openxmlformats.org/officeDocument/2006/relationships/font"/><Relationship Id="rId63" Target="notesSlides/notesSlide20.xml" Type="http://schemas.openxmlformats.org/officeDocument/2006/relationships/notesSlide"/><Relationship Id="rId64" Target="notesSlides/notesSlide21.xml" Type="http://schemas.openxmlformats.org/officeDocument/2006/relationships/notesSlide"/><Relationship Id="rId65" Target="notesSlides/notesSlide22.xml" Type="http://schemas.openxmlformats.org/officeDocument/2006/relationships/notesSlide"/><Relationship Id="rId66" Target="notesSlides/notesSlide23.xml" Type="http://schemas.openxmlformats.org/officeDocument/2006/relationships/notesSlide"/><Relationship Id="rId67" Target="notesSlides/notesSlide24.xml" Type="http://schemas.openxmlformats.org/officeDocument/2006/relationships/notesSlide"/><Relationship Id="rId68" Target="notesSlides/notesSlide25.xml" Type="http://schemas.openxmlformats.org/officeDocument/2006/relationships/notesSlide"/><Relationship Id="rId69" Target="notesSlides/notesSlide26.xml" Type="http://schemas.openxmlformats.org/officeDocument/2006/relationships/note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to start,kailangan muna natin iestablish kung ano nga ba yung software development technology. Isa itong structured framework or process na naglelead satin kung paano magplaplano, bubuoin, itetest and idedeliver sa mga customers natin yung mga software na gagawin natin. Ito yung magiging strategy natin para malinaw yung mga gagawin natin as we go on through with creating the project. </a:t>
            </a:r>
          </a:p>
          <a:p>
            <a:r>
              <a:rPr lang="en-US"/>
              <a:t/>
            </a:r>
          </a:p>
          <a:p>
            <a:r>
              <a:rPr lang="en-US"/>
              <a:t>Kaya bakit ba ito mahalaga? Isipin mo na lang, kung walang methodology, parang nagtatayo ka ng bahay nang walang blueprint. Oo, maaaring matayo mo yung bahay, pero malaki ang tsansa na may mga mali, hindi aligned yung mga estructura, o worse, bumagsak pa bago pa man matapos. Ganun din sa software development. Kung walang malinaw na framework na sinusundan, magulo ang lahat. Walang maalam kung sino ang gagawa ng ano, walang malinaw na timeline, at malaki ang tsansa na yung final product ay hindi yung gusto ng customer.</a:t>
            </a:r>
          </a:p>
          <a:p>
            <a:r>
              <a:rPr lang="en-US"/>
              <a:t>Ngayon, may apat na common types na nakikita ninyo sa slide. Una yung Waterfall. Linear and sequential siya, meaning kailangan mong tapusin yung isang phase bago ka makaalis sa susunod. Halimbawa, hindi ka magsisimulang mag-code hangga't hindi pa tapos yung buong planning and design phase. Maganda siya para sa mga projects na malinaw na ang lahat ng requirements mula sa simula, pero yung weakness niya, kapag may nagbago sa requirements sa kalagitnaan ng project, sobrang hirap na i-adjust kasi babalik ka pa sa simula.</a:t>
            </a:r>
          </a:p>
          <a:p>
            <a:r>
              <a:rPr lang="en-US"/>
              <a:t>Pangalawa yung Agile. Iterative and flexible siya, ginagawa yung trabaho sa short cycles na tinatawag na sprints, at may constant feedback mula sa customers at stakeholders habang tumatakbo yung project. Ibig sabihin, hindi mo kailangang malaman lahat ng requirements mula sa simula. Habang tumatakbo ang project, pwede kang mag-adjust, mag-add ng features, o mag-remove ng hindi na kailangan. Mas responsive siya sa pagbabago, kaya mas popular siya sa mga modern na software companies ngayon.</a:t>
            </a:r>
          </a:p>
          <a:p>
            <a:r>
              <a:rPr lang="en-US"/>
              <a:t>Pangatlo yung Scrum. Basically, isa itong specific na type ng Agile na gumagamit ng fixed sprints at may specific na team roles na sinusundan, tulad ng Scrum Master, Product Owner, at Development Team. Yung bawat sprint ay may malinaw na goal, at sa katapusan ng bawat sprint, may deliverable na output. Kaya mas structured siya compared sa general Agile, pero nananatili pa rin siyang flexible.</a:t>
            </a:r>
          </a:p>
          <a:p>
            <a:r>
              <a:rPr lang="en-US"/>
              <a:t>At pang-apat yung Spiral. Ito naman ay isang risk-driven model na pinagsama yung design at prototyping in stages. Bawat ikot ng spiral ay may risk assessment, kaya mas madaling ma-catch yung mga potential na problema bago pa man ito lumaki at maging mas malaking issue sa project.</a:t>
            </a:r>
          </a:p>
          <a:p>
            <a:r>
              <a:rPr lang="en-US"/>
              <a:t>Pero sa presentation natin ngayon, hindi natin tatalakayin lahat ng apat na ito nang malalim. Ang magiging focus natin ay yung Agile at Scrum specifically, kasi yun ang basehan ng ating pangunahing topic na Scaling Agile Methods. Kasi nga as we go further into the presentation, makikita ninyo kung paano yung Agile and Scrum na originally designed para sa maliliit na teams ay unti-unting pinalawak at pinalaki para harapin yung mga pangangailangan ng mas malalaking organisasyon. So lets start.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bago tayo makapasok sa Agile, kailangan muna nating i-understand kung bakit nga ba kailangan natin ng something better kaysa sa traditional development. Ano nga ba yung mga problema ng Waterfall at ng mga katulad nitong traditional methods? Kasi hindi naman basta basta lumabas yung Agile, may dahilan kung bakit ito ginawa, and that reason is yung mga challenges na ito.</a:t>
            </a:r>
          </a:p>
          <a:p>
            <a:r>
              <a:rPr lang="en-US"/>
              <a:t/>
            </a:r>
          </a:p>
          <a:p>
            <a:r>
              <a:rPr lang="en-US"/>
              <a:t>Una, yung Takes Too Long. Sa Waterfall, hindi mo makikita yung kahit anong working software hanggang sa pinaka-katapusan ng project. Ibig sabihin, maaaring months o kahit years kang nagtatrabaho bago mo malaman kung tama ba yung ginagawa mo o hindi. Halimbawa, kunwari gumagawa kayo ng isang malaking online banking app. Sa Waterfall, maaaring isang taon kang nag-plan, nag-design, at nag-develop, tapos pagdating ng araw na ipakita mo sa customer, saka mo lang malalaman na hindi pala yun yung gusto nila. Isang taon ng trabaho, posibleng masayang lahat.</a:t>
            </a:r>
          </a:p>
          <a:p>
            <a:r>
              <a:rPr lang="en-US"/>
              <a:t/>
            </a:r>
          </a:p>
          <a:p>
            <a:r>
              <a:rPr lang="en-US"/>
              <a:t>Pangalawa, yung Hard to Change. Kapag nagbago ang isip ng customer sa kalagitnaan ng project, sobrang mahal at mahirap na i-adjust yung plan sa Waterfall. Halimbawa, nasa gitna na kayo ng development ng isang e-commerce app, tapos biglang sinabi ng client na gusto nila ng completely different na payment system kaysa sa orihinal na napagkasunduan. Sa Waterfall, kailangan mo pang bumalik sa planning phase, baguhin yung design, at i-redo yung malaking parte ng development. Napakaraming oras at pera ang nasasayang para lang sa isang pagbabago.</a:t>
            </a:r>
          </a:p>
          <a:p>
            <a:r>
              <a:rPr lang="en-US"/>
              <a:t/>
            </a:r>
          </a:p>
          <a:p>
            <a:r>
              <a:rPr lang="en-US"/>
              <a:t>Pangatlo, yung Customer Left Out. Sa traditional development, yung customer ay involved lang sa simula at sa katapusan. Wala silang say sa kalagitnaan ng development. Halimbawa, kunwari gumagawa kayo ng inventory management system para sa isang tindahan. Nag-usap kayo sa simula, nag-develop kayo nang matagal, tapos pagpresenta ninyo ng final product, saka pa lang sasabihin ng customer na hindi pala ganun yung workflow ng kanilang tindahan at kailangan pang baguhin ang malaking parte ng system. Dahil wala silang involvement sa kalagitnaan, nawala yung pagkakataon na ma-catch yung ganitong mga mismatch nang maaga.</a:t>
            </a:r>
          </a:p>
          <a:p>
            <a:r>
              <a:rPr lang="en-US"/>
              <a:t/>
            </a:r>
          </a:p>
          <a:p>
            <a:r>
              <a:rPr lang="en-US"/>
              <a:t/>
            </a:r>
          </a:p>
          <a:p>
            <a:r>
              <a:rPr lang="en-US"/>
              <a:t>Pang-apat, yung Bugs Found Too Late. Sa Waterfall, yung testing ay nangyayari lang sa katapusan ng project. Kaya kapag may nahanap kang bug, malalim na siya sa system at mas mahirap at mas mahal na ayusin. Halimbawa, gumagawa kayo ng hospital management system. Pagdating sa testing phase na, natuklasan ninyo na may malaking bug sa patient records system na nagdudulot ng mali sa data. Kaso, dahil nasa katapusan na kayo, yung bug na yun ay nakaapekto na sa maraming ibang parte ng system, kaya ang ayusin mo yun ay parang mag-aayos ka ng isang bahagi ng bahay na naapektuhan na ng pundasyon.</a:t>
            </a:r>
          </a:p>
          <a:p>
            <a:r>
              <a:rPr lang="en-US"/>
              <a:t/>
            </a:r>
          </a:p>
          <a:p>
            <a:r>
              <a:rPr lang="en-US"/>
              <a:t/>
            </a:r>
          </a:p>
          <a:p>
            <a:r>
              <a:rPr lang="en-US"/>
              <a:t>Panglima, yung High Risk and High Cost. Kapag hindi natugunan ng final product yung expectations ng customer, yung buong budget ay nasayang na. Halimbawa, kunwari isang kumpanya ang nag-invest ng malaking pera para sa isang custom CRM system. Pagkatapos ng matagal na development, nalaman nila na yung system ay hindi pala compatible sa kanilang existing tools. Dahil Waterfall ang ginamit, walang paraan para ma-catch yung problema nang maaga, kaya yung buong investment ay halos walang mapakitang resulta.</a:t>
            </a:r>
          </a:p>
          <a:p>
            <a:r>
              <a:rPr lang="en-US"/>
              <a:t/>
            </a:r>
          </a:p>
          <a:p>
            <a:r>
              <a:rPr lang="en-US"/>
              <a:t/>
            </a:r>
          </a:p>
          <a:p>
            <a:r>
              <a:rPr lang="en-US"/>
              <a:t>At panghuli, yung Too Much Documentation. Sa traditional methods, kailangan mong mag-document ng bawat hakbang nang sobrang detalye bago ka makapag-move on sa susunod na phase. Halimbawa, bago ka magsimulang mag-code, kailangan mo munang gumawa ng daan-daang pages ng technical specifications, design documents, at requirements documents. Yung oras na ginastos mo sa pag-document ay oras na hindi mo nagagamit sa actual na pag-gawa ng software. At minsan, yung mga dokumentong yun ay nagiging obsolete na agad kapag nagbago ang requirements.</a:t>
            </a:r>
          </a:p>
          <a:p>
            <a:r>
              <a:rPr lang="en-US"/>
              <a:t/>
            </a:r>
          </a:p>
          <a:p>
            <a:r>
              <a:rPr lang="en-US"/>
              <a:t/>
            </a:r>
          </a:p>
          <a:p>
            <a:r>
              <a:rPr lang="en-US"/>
              <a:t>Kaya nga, dahil sa lahat ng mga problemang ito, lumabas yung pangangailangan para sa isang better approach. At doon na papasok yung Agile, na dinisenyo para i-address yung mga exact na challenges na ito.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Let’s dive deep into the history and the "why" behind the Agile movement. To understand Agile, we first need to look at the Waterfall Model that dominated the industry starting in the 1970s. Back then, software development followed a linear, document-heavy process. Isipin niyo yung paggawa ng tulay or building; you can't start the second floor if the first floor isn't done. This was called "Waterfall" because the project flows downwards in stages: Requirements, Design, Implementation, Verification, and Maintenance. The problem with this was the lack of flexibility. Once you moved from the Design phase to the Implementation phase, going back to change something was almost impossible without restarting everything. It was very rigid and heavy on paperwork. In those days, developers would spend months just writing technical specifications bago pa man makahawak ng keyboard para mag-code.</a:t>
            </a:r>
          </a:p>
          <a:p>
            <a:r>
              <a:rPr lang="en-US"/>
              <a:t/>
            </a:r>
          </a:p>
          <a:p>
            <a:r>
              <a:rPr lang="en-US"/>
              <a:t>By the 1990s, technology was evolving so fast that the Waterfall approach couldn't keep up anymore. Many projects were failing—they were too slow, over budget, and by the time the software was released, the market had already moved on. Companies were wasting millions on "perfectly planned" projects that no one wanted to use anymore. People realized that software is not like a bridge; it’s more like a living organism that needs to grow and adapt. There was a desperate need for a more "agile" way of working.</a:t>
            </a:r>
          </a:p>
          <a:p>
            <a:r>
              <a:rPr lang="en-US"/>
              <a:t/>
            </a:r>
          </a:p>
          <a:p>
            <a:r>
              <a:rPr lang="en-US"/>
              <a:t>This led to the 2001 meeting in Utah where 17 developers wrote the Agile Manifesto. They wanted to create a culture that prioritized speed, quality, and most importantly, the human element of development. Fast forward to Today, Agile is used by almost every successful team worldwide. It’s no longer just for coders; even marketing and HR teams use it. Agile means being able to move quickly and easily. In software, it means your team can adapt fast when things change—like new customer requests, market shifts, or sudden competition. Instead of planning everything upfront and building for months in isolation, Agile teams deliver small, working pieces of software regularly, then improve based on real-world feedback. This "build-measure-learn" cycle ensures that we are always building something valuable and relevant. This slide sets the stage for everything else: we are moving away from the "Plan the Work, Work the Plan" mindset towards a "Learn and Adapt" mindset. It’s about being responsive to reality rather than being a slave to a pre-set document.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When we talk about the Definition of Agile Methods, we aren't just talking about a set of rules; we are talking about a fundamental shift in how work is organized. Agile Methods are a group of software development approaches that follow the principles of the Agile Manifesto. The core focus here is delivering working software in short cycles, but the secret sauce is the constant team collaboration and customer involvement. You are never building in the dark. To really break this down, we have to look at the three "Core Characteristics" that make a method truly Agile.</a:t>
            </a:r>
          </a:p>
          <a:p>
            <a:r>
              <a:rPr lang="en-US"/>
              <a:t/>
            </a:r>
          </a:p>
          <a:p>
            <a:r>
              <a:rPr lang="en-US"/>
              <a:t>First, let’s talk about being Iterative. In the traditional way, you do everything once—one big design, one big build, one big test. In Agile, work is broken into short cycles called Sprints, which usually last 2 to 4 weeks. Each cycle is a mini-project in itself. It produces a working piece of software that can be evaluated and improved. Ibig sabihin, every two weeks, may bago tayong "version" or "iteration" ng product. This allows us to learn from our mistakes early. If we messed up a feature, we only wasted two weeks, not two years. It’s a repetitive process that refines the product until it’s exactly what the user needs.</a:t>
            </a:r>
          </a:p>
          <a:p>
            <a:r>
              <a:rPr lang="en-US"/>
              <a:t/>
            </a:r>
          </a:p>
          <a:p>
            <a:r>
              <a:rPr lang="en-US"/>
              <a:t>Second is the Incremental aspect. This is about the "size" of the delivery. Instead of trying to build the entire "super-app" at once, we add features one at a time. The product grows bit by bit. For example, if you're building an e-commerce site, the first increment might just be a landing page with products. The next increment adds the "Add to Cart" function, and the third adds the "Payment Gateway." This way, the product is "growing" in a controlled and stable manner. Lastly, being Collaborative is what binds everything together. Agile demands that the whole team—the developers who write the code, the testers who check for bugs, the designers who make it look good, and the customers who will use it—must work closely together throughout the project. Hindi pwedeng "not my job" ang attitude. Everyone is responsible for the final output. This collaboration ensures that there are no surprises at the end of the project. By working this way, we eliminate the traditional gaps between "business" and "IT." We are one team with one goal: delivering a high-quality product that actually solves a problem for the user.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Agile Manifesto is the heart and soul of this entire philosophy. It’s composed of 4 Core Values that guide every decision we make. These values are often misunderstood, so let’s look at them carefully. The first is Individuals and Interactions over Processes and Tools. While it’s great to have the best software or the most organized workflow, they mean nothing if the people in the team aren't talking to each other. Communication is the lifeblood of Agile. We value the "human" side—brainstorming, quick huddles, and spontaneous problem-solving—more than blindly following a step-by-step manual. If your process is hindering your people from talking, you need to change the process.</a:t>
            </a:r>
          </a:p>
          <a:p>
            <a:r>
              <a:rPr lang="en-US"/>
              <a:t/>
            </a:r>
          </a:p>
          <a:p>
            <a:r>
              <a:rPr lang="en-US"/>
              <a:t>The second value is Working Software over Comprehensive Documentation. This is a huge shift from the Waterfall days. We aren't saying you shouldn't have documentation, but we are saying that a running program is infinitely more valuable than a 300-page report that describes how the program should work. Our progress is measured by what the user can actually do with the software, not by how many pages of technical specs we’ve written. Third, we emphasize Customer Collaboration over Contract Negotiation. Contracts are important, but they shouldn't be used as a shield to avoid making changes that would benefit the product. Traditional projects often become a battle of "what’s in the contract." In Agile, we treat the customer as a partner. We want them in our meetings, we want their feedback every week, and we want to build a relationship based on trust and shared goals rather than just legal obligations.</a:t>
            </a:r>
          </a:p>
          <a:p>
            <a:r>
              <a:rPr lang="en-US"/>
              <a:t/>
            </a:r>
          </a:p>
          <a:p>
            <a:r>
              <a:rPr lang="en-US"/>
              <a:t>Finally, we prioritize Responding to Change over Following a Plan. A plan is just a guess about the future. In a fast-paced market, sticking to a plan that was made six months ago is a recipe for disaster. Being Agile means having the courage to say, "The original plan was wrong; let’s change direction because this new way is better for the customer." It’s about being flexible and adapting to reality. We don't ignore the plan, but we treat it as a flexible roadmap rather than a set-in-stone law. These four values create a mindset of transparency, bravery, and customer-centricity. They remind us that at the end of the day, our job isn't to follow a process or a contract—it’s to deliver value to a human being. When you adopt these values, you stop working for the project manager and start working for the user.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make the core values actionable, the creators of the manifesto developed the 12 Principles of Agile. These serve as the "operating system" for successful teams. The first and most important principle is to satisfy the customer through early and continuous delivery of working software. We want to give them value as soon as possible. Second, we welcome changing requirements, even late in the development cycle. In the old days, a late change request was a nightmare; in Agile, it’s an opportunity to provide a better product. We deliver working software frequently—ideally every few weeks—to keep the momentum going.</a:t>
            </a:r>
          </a:p>
          <a:p>
            <a:r>
              <a:rPr lang="en-US"/>
              <a:t/>
            </a:r>
          </a:p>
          <a:p>
            <a:r>
              <a:rPr lang="en-US"/>
              <a:t>Another critical principle is the daily collaboration between business people and developers. We must bridge the gap between "the office" and "the engineering floor." We also believe in building projects around motivated individuals. If you hire smart people, give them the tools they need, and trust them, they will do amazing work. Micromanagement is the enemy of Agile. For communication, face-to-face interaction is the gold standard because it reduces misunderstandings and builds rapport faster than any email or chat. We also reiterate that working software is the primary measure of progress. If the code isn't running, we aren't moving.</a:t>
            </a:r>
          </a:p>
          <a:p>
            <a:r>
              <a:rPr lang="en-US"/>
              <a:t/>
            </a:r>
          </a:p>
          <a:p>
            <a:r>
              <a:rPr lang="en-US"/>
              <a:t>Agile also promotes sustainable development. We want a pace that the team can maintain forever without burning out. High pressure and 80-hour work weeks are not Agile. We also demand continuous attention to technical excellence and good design. Just because we are moving fast doesn't mean we can write "spaghetti code." Good design actually makes you go faster in the long run. Simplicity—or the art of maximizing the work not done—is essential. We focus on the most important 20% of features that provide 80% of the value. We also believe that the best architectures and designs emerge from self-organizing teams, not from a top-down manager. Finally, the team must regularly reflect on how to become more effective. This is called a "Retrospective." We stop, look at what we did, and figure out how to do it better next time. These 12 principles aren't just suggestions; they are the foundation of a culture of excellence and continuous improvement.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Let’s synthesize everything into the Key Characteristics that define the day-to-day reality of an Agile project. First, as we’ve discussed, it is Iterative and Incremental. Iterative means the work is repeated in cycles to refine and improve it based on previous lessons. Incremental means the product is built in functional pieces, where each piece adds value on its own. This combination allows for a "compound interest" effect on quality and functionality. Second, Agile is inherently Flexible. Plans can change at any time because we prioritize the customer's current needs over our original assumptions. This flexibility is what allows Agile teams to survive in volatile markets.</a:t>
            </a:r>
          </a:p>
          <a:p>
            <a:r>
              <a:rPr lang="en-US"/>
              <a:t/>
            </a:r>
          </a:p>
          <a:p>
            <a:r>
              <a:rPr lang="en-US"/>
              <a:t>Third, Agile is deeply Team-Oriented. It’s about "We," not "I." Developers, testers, and customers collaborate daily, breaking down the silos that usually plague large organizations. In an Agile team, there is a shared sense of ownership. If the software has a bug, it’s the team’s problem, not just the tester’s. Fourth, we are Feedback-Driven. Regular demos and reviews are built into the schedule to ensure the team is building exactly what the customer needs. This eliminates the "But that’s not what I asked for!" moment at the end of a project.</a:t>
            </a:r>
          </a:p>
          <a:p>
            <a:r>
              <a:rPr lang="en-US"/>
              <a:t/>
            </a:r>
          </a:p>
          <a:p>
            <a:r>
              <a:rPr lang="en-US"/>
              <a:t>Lastly, there is Continuous Delivery. Instead of waiting for a massive "big bang" launch that might crash or fail, we release working software regularly—sometimes every two weeks or even every few days. This creates a steady flow of value to the customer and allows the business to start generating revenue or gathering data much earlier. These characteristics—Iterative, Incremental, Flexible, Team-Oriented, Feedback-Driven, and Continuous Delivery—are what make Agile so powerful. It’s a system designed for the real world, where things are messy, requirements change, and humans need to work together to solve complex problems. By embracing these characteristics, we move away from the "command and control" style of management and move towards a "support and empower" style that delivers better results for everyone involved.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wrap everything up, kailangang alam natin both the pros and cons ng Agile development. Hindi ito "magic solution" na walang flaws, but it offers a lot of advantages for modern teams in a fast-paced world:</a:t>
            </a:r>
          </a:p>
          <a:p>
            <a:r>
              <a:rPr lang="en-US"/>
              <a:t/>
            </a:r>
          </a:p>
          <a:p>
            <a:r>
              <a:rPr lang="en-US"/>
              <a:t>The Benefits: First and foremost is Faster Delivery. Since working software is delivered every few weeks, the customer sees progress and gets value immediately. This leads to Higher Customer Satisfaction because they are involved throughout the process and their voice is heard. It’s also Easy to Adapt since requirements can change anytime without ruining the whole plan. Plus, because of constant testing in every sprint, we have Early Bug Detection. Problems are caught and fixed early on. Lastly, it builds Better Team Morale because self-organizing teams feel trusted and empowered in their work.</a:t>
            </a:r>
          </a:p>
          <a:p>
            <a:r>
              <a:rPr lang="en-US"/>
              <a:t/>
            </a:r>
          </a:p>
          <a:p>
            <a:r>
              <a:rPr lang="en-US"/>
              <a:t>The Challenges: On the other hand, Agile Needs an Experienced Team. It works best when team members are skilled and self-motivated; hindi ito pwede sa mga taong kailangang laging binabantayan. It can also be Hard to Predict the Budget and timeline dahil nga laging nagbabago ang requirements—hindi ka sure sa final cost. There is also a Risk of Scope Creep where new features keep getting added without discipline, delaying the whole project. Lastly, because we have Less Documentation, it might be a problem for future teams or for companies that strictly need records for regulatory compliance. You need to find the right balance between moving fast and keeping records.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Plan-Driven Development, also known as Waterfall, is an established software development methodology which implies meticulous planning before starting coding. According to the Plan-Driven Development approach, software development follows a well-defined sequence, in accordance with which each development stage is performed after finishing the previous one. Specifically, software development stages include requirement definition, analysis, architecture design, implementation, integration testing, deployment, and maintenance. By following such a plan, it is possible to define everything in advance so that everyone involved knew what had to be done and when. Thus, planning plays a crucial role in this methodology and becomes a priority before developers start to write code. In particular, a lot of time should be spent on collecting requirements, defining system specifications, and designing its architecture.</a:t>
            </a:r>
          </a:p>
          <a:p>
            <a:r>
              <a:rPr lang="en-US"/>
              <a:t/>
            </a:r>
          </a:p>
          <a:p>
            <a:r>
              <a:rPr lang="en-US"/>
              <a:t>One of the main features of Plan-Driven Development is meticulous documentation. Indeed, all information regarding processes, requirements, and decisions is put on paper even before the development stage starts. This enables creating a kind of plan for the project which allows estimating all aspects of it, including deadlines and required resources. Therefore, Plan-Driven Development becomes easy to manage, especially within complex projects implemented by large companies and teams. Moreover, documentation helps reduce risks since it defines all project elements in advance and thus provides an opportunity for estimating the timeline and required budget.</a:t>
            </a:r>
          </a:p>
          <a:p>
            <a:r>
              <a:rPr lang="en-US"/>
              <a:t/>
            </a:r>
          </a:p>
          <a:p>
            <a:r>
              <a:rPr lang="en-US"/>
              <a:t>Another significant feature of Plan-Driven Development approach is strict sequentiality and predictability. In other words, all stages have to be passed in the same strict sequence. For instance, the requirements stage has to be finished before proceeding to the design stage and so on. Thus, strict structuring and sequentiality provide better management of the project process, helping to identify potential problems, delays, or failures. Such an approach may be particularly useful when the project involves relatively stable requirements.</a:t>
            </a:r>
          </a:p>
          <a:p>
            <a:r>
              <a:rPr lang="en-US"/>
              <a:t/>
            </a:r>
          </a:p>
          <a:p>
            <a:r>
              <a:rPr lang="en-US"/>
              <a:t>Plan-Driven Development is commonly used in sectors that are characterized by high demands in terms of documentation and planning and require accurate solutions. Specifically, it includes software development for governments, banks, hospitals, and pharmaceuticals. Thus, it is often necessary to document every step of development, and any change in requirements and plans might entail serious consequences.</a:t>
            </a:r>
          </a:p>
          <a:p>
            <a:r>
              <a:rPr lang="en-US"/>
              <a:t/>
            </a:r>
          </a:p>
          <a:p>
            <a:r>
              <a:rPr lang="en-US"/>
              <a:t>Although Plan-Driven Development provides more predictability and control than other approaches, this methodology lacks flexibility. Indeed, since all planning is performed at the very beginning of the project, any changes in requirements may significantly increase the risk of delays and additional expenses. Therefore, Plan-Driven Development is efficient only when the project scope of work is clear from the very beginning.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other major feature of Plan-Driven Development is its sequential process. This means that the project development goes through various steps following each other. These stages typically include gathering requirements, design, implementation, testing, deployment, and maintenance. All of them should be performed in order because there is an inevitable connection between them. For example, designers need to understand project requirements first and then develop a design document based on them. Thus, the process becomes systematic and orderly since developers have to complete a certain phase to start another one.</a:t>
            </a:r>
          </a:p>
          <a:p>
            <a:r>
              <a:rPr lang="en-US"/>
              <a:t/>
            </a:r>
          </a:p>
          <a:p>
            <a:r>
              <a:rPr lang="en-US"/>
              <a:t>A sequential process makes project management easier because a project manager can see if a project is being developed timely and estimate the stage that needs more attention and effort to be completed successfully. Besides, there is always the possibility of tracking deadlines for every project phase. As a result, a team leader can keep track of the progress made by team members.</a:t>
            </a:r>
          </a:p>
          <a:p>
            <a:r>
              <a:rPr lang="en-US"/>
              <a:t/>
            </a:r>
          </a:p>
          <a:p>
            <a:r>
              <a:rPr lang="en-US"/>
              <a:t>Another characteristic of Plan-Driven Development is its heavy documentation. Indeed, documentation is crucial in any software development because without it developers will lose track of their actions. Every project stage should be documented thoroughly. Requirement documents list the goals and purposes of the software; system design documents are dedicated to explaining how this system will be designed. Testing plan describes testing procedures that will ensure high-quality software, and user manuals explain to end-users how they should operate software systems. Overall, such heavy documentation allows creating a long-term record of all development stages.</a:t>
            </a:r>
          </a:p>
          <a:p>
            <a:r>
              <a:rPr lang="en-US"/>
              <a:t/>
            </a:r>
          </a:p>
          <a:p>
            <a:r>
              <a:rPr lang="en-US"/>
              <a:t>Heavy documentation contributes to better communication between different stakeholders as all information regarding a particular project will be stored in documents. It is also helpful in avoiding mistakes and misunderstandings since the whole procedure will be well documented, and thus the responsibility, expected outputs, and necessary actions will be described clearly. Finally, documentation helps with maintenance and support because a developer can learn everything about the system when reading its documentation.</a:t>
            </a:r>
          </a:p>
          <a:p>
            <a:r>
              <a:rPr lang="en-US"/>
              <a:t/>
            </a:r>
          </a:p>
          <a:p>
            <a:r>
              <a:rPr lang="en-US"/>
              <a:t>It is apparent that Plan-Driven Development provides for very strict project control. Every phase is performed systematically and thoroughly. At the same time, developers prepare a documentation for every phase and store the final version before implementing changes into a system.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Another key characteristic of the Plan-Driven Development method is the existence of fixed requirements. When developing a project using this model, all requirements are defined, analyzed, and approved by the stakeholders at the start of the development process. After that, these requirements usually do not change; therefore, the development team can estimate the schedule and cost of the project accurately. The fact that the requirements are known and approved from the start makes planning easy and efficient for the manager and team members.</a:t>
            </a:r>
          </a:p>
          <a:p>
            <a:r>
              <a:rPr lang="en-US"/>
              <a:t/>
            </a:r>
          </a:p>
          <a:p>
            <a:r>
              <a:rPr lang="en-US"/>
              <a:t>Fixed requirements are particularly helpful when a change of requirement is very costly or impossible to implement later in the project. For instance, government systems, banking software, and health care applications require approval of the requirements before the project starts. In such fields, there should be no uncertainty about the results of the project; hence, a fixed plan of action is necessary to achieve desired objectives.</a:t>
            </a:r>
          </a:p>
          <a:p>
            <a:r>
              <a:rPr lang="en-US"/>
              <a:t/>
            </a:r>
          </a:p>
          <a:p>
            <a:r>
              <a:rPr lang="en-US"/>
              <a:t>Predictable time frames and outputs are another distinctive trait of the Plan-Driven Development model. As already discussed above, the development team plans all activities and goals of the project from the start. Therefore, managers are able to estimate time frames for the entire project or its parts as well as possible output from each stage. Predictability allows effective allocation of resources, including financial ones, and guarantees that the client gets exactly what he or she wants from the product.</a:t>
            </a:r>
          </a:p>
          <a:p>
            <a:r>
              <a:rPr lang="en-US"/>
              <a:t/>
            </a:r>
          </a:p>
          <a:p>
            <a:r>
              <a:rPr lang="en-US"/>
              <a:t>Finally, less customer participation is a distinct trait of the Plan-Driven Development methodology. When working under this model, customers are mainly active during the initial stage of development, namely during the definition of the project requirements. Once all requirements are approved, customers are involved in the project only at certain checkpoints. During the rest of the development period, they have little to do with the project implementation except reviewing progress reports.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Agile Development model is a flexible approach to software development where changes can happen during the development process. It is different from the Plan-Driven Development model because in the latter, the development process consists of several stages that follow each other. The Agile Development model separates the whole project into shorter development cycles called iterations or sprints. Every sprint has planning, coding, testing, and reviewing. In addition, the product created by the end of the sprint should have some functionality, thus being ready for the next step.</a:t>
            </a:r>
          </a:p>
          <a:p>
            <a:r>
              <a:rPr lang="en-US"/>
              <a:t/>
            </a:r>
          </a:p>
          <a:p>
            <a:r>
              <a:rPr lang="en-US"/>
              <a:t>As one of the main characteristics of Agile Development, flexibility is crucial in it. The thing is that in contrast to the Plan-Driven Development method, there is no need to define all requirements for the product at the beginning. Therefore, the requirements may be changed depending on feedback from the client and the situation that occurs during the process. The advantage of Agile Development lies in the ability to add new features and make necessary changes, especially if the customer wants to implement some ideas.</a:t>
            </a:r>
          </a:p>
          <a:p>
            <a:r>
              <a:rPr lang="en-US"/>
              <a:t/>
            </a:r>
          </a:p>
          <a:p>
            <a:r>
              <a:rPr lang="en-US"/>
              <a:t>Customer collaboration is another principle of the Agile Development approach. During development, it is crucial to involve the customer in the process to know what is expected and whether the work corresponds to his or her wishes. Moreover, every sprint results in presenting working software to the customer, who checks it. Such collaboration makes sure that the final product will be satisfactory.</a:t>
            </a:r>
          </a:p>
          <a:p>
            <a:r>
              <a:rPr lang="en-US"/>
              <a:t/>
            </a:r>
          </a:p>
          <a:p>
            <a:r>
              <a:rPr lang="en-US"/>
              <a:t>Another essential aspect of Agile Development is continuous feedback. The thing is that every sprint results in working software. Therefore, it is possible to evaluate it to see whether any mistakes occurred. After that, it is possible to correct them to create better software and prevent the repetition of the same errors in the future.</a:t>
            </a:r>
          </a:p>
          <a:p>
            <a:r>
              <a:rPr lang="en-US"/>
              <a:t/>
            </a:r>
          </a:p>
          <a:p>
            <a:r>
              <a:rPr lang="en-US"/>
              <a:t>In addition, the idea of frequent delivery of software is implemented during the Agile Development process. Every sprint gives an opportunity to check the product, test it, and make corrections. As a result, customers can obtain something useful even before the end of the project because it is divided into several stages.</a:t>
            </a:r>
          </a:p>
          <a:p>
            <a:r>
              <a:rPr lang="en-US"/>
              <a:t/>
            </a:r>
          </a:p>
          <a:p>
            <a:r>
              <a:rPr lang="en-US"/>
              <a:t>The Agile Development model is used in fast-changing spheres like e-commerce websites, social media, and mobile applications because they are required to update frequently and be flexible enough to cope with changing customer requests.</a:t>
            </a:r>
          </a:p>
          <a:p>
            <a:r>
              <a:rPr lang="en-US"/>
              <a:t/>
            </a:r>
          </a:p>
          <a:p>
            <a:r>
              <a:rPr lang="en-US"/>
              <a:t>To sum up, Agile Development is a flexible method that allows working with clients to provide better results in software creation.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now we’re going to compare yung differences ng characteristics ng Plan Driven and Agile Development. These are different approaches that teams use depending on the type of project that they are working on.</a:t>
            </a:r>
          </a:p>
          <a:p>
            <a:r>
              <a:rPr lang="en-US"/>
              <a:t/>
            </a:r>
          </a:p>
          <a:p>
            <a:r>
              <a:rPr lang="en-US"/>
              <a:t>Para mas maintindihan natin ng mas simple, imagine building a house. There are two ways to do it. One way is to plan everything completely before starting construction. The other way is to build step by step, improving the house as you go based on feedback. Yung dalawa approaches na ito ni re-represent yung Plan-Driven and Agile.</a:t>
            </a:r>
          </a:p>
          <a:p>
            <a:r>
              <a:rPr lang="en-US"/>
              <a:t/>
            </a:r>
          </a:p>
          <a:p>
            <a:r>
              <a:rPr lang="en-US"/>
              <a:t>First is sa Planning</a:t>
            </a:r>
          </a:p>
          <a:p>
            <a:r>
              <a:rPr lang="en-US"/>
              <a:t>Plan-Driven uses full upfront planning. Bago mag start yung development, everything is already planned yung mga features, schedule, tasks, and overall design. The team tries to define the entire project clearly from the beginning. For example, first day ng klase natin dinidiscuss yung complete syllabus dahil dun alam na natin kung ano yung macocover ng subjects natin</a:t>
            </a:r>
          </a:p>
          <a:p>
            <a:r>
              <a:rPr lang="en-US"/>
              <a:t/>
            </a:r>
          </a:p>
          <a:p>
            <a:r>
              <a:rPr lang="en-US"/>
              <a:t>Agile, on the other hand, plans in short cycles na tinatawag nating sprints, na usualy la-last siya ng 1 to 4 weeks. After each sprint, the team plans the next one based on what they learned. This makes it easier to adjust plans as the project progresses.</a:t>
            </a:r>
          </a:p>
          <a:p>
            <a:r>
              <a:rPr lang="en-US"/>
              <a:t/>
            </a:r>
          </a:p>
          <a:p>
            <a:r>
              <a:rPr lang="en-US"/>
              <a:t>Next is yung Requirements</a:t>
            </a:r>
          </a:p>
          <a:p>
            <a:r>
              <a:rPr lang="en-US"/>
              <a:t/>
            </a:r>
          </a:p>
          <a:p>
            <a:r>
              <a:rPr lang="en-US"/>
              <a:t>Sa Plan-Driven, requirements are defined early and changes are not easy. Pwede pa naman sila mabago, pero usually expensive siya at time consuming kasi kakailanganin nyo iupdate yung buong plano. So parang binago niyo yung topic sa research paper niyo pagkatapos niyo tapusin yung mga first few chapter.</a:t>
            </a:r>
          </a:p>
          <a:p>
            <a:r>
              <a:rPr lang="en-US"/>
              <a:t/>
            </a:r>
          </a:p>
          <a:p>
            <a:r>
              <a:rPr lang="en-US"/>
              <a:t>Sa Agile naman, requirements are expected to change. The team accepts that new ideas and improvements will appear during development. Bawat sprint, the client can suggest changes, and the team adjusts the next steps accordingly. This makes Agile more flexible and realistic for changing needs.</a:t>
            </a:r>
          </a:p>
          <a:p>
            <a:r>
              <a:rPr lang="en-US"/>
              <a:t/>
            </a:r>
          </a:p>
          <a:p>
            <a:r>
              <a:rPr lang="en-US"/>
              <a:t>3. Process</a:t>
            </a:r>
          </a:p>
          <a:p>
            <a:r>
              <a:rPr lang="en-US"/>
              <a:t/>
            </a:r>
          </a:p>
          <a:p>
            <a:r>
              <a:rPr lang="en-US"/>
              <a:t>Plan-Driven follows a step-by-step process katulad ng Waterfall. The stages go in order: requirements → design → development → testing → deployment. Bawat phase is mostly dapat completed bago mag move sa next phase. It is more structured and controlled.</a:t>
            </a:r>
          </a:p>
          <a:p>
            <a:r>
              <a:rPr lang="en-US"/>
              <a:t/>
            </a:r>
          </a:p>
          <a:p>
            <a:r>
              <a:rPr lang="en-US"/>
              <a:t>In reality, teams may still revisit earlier phases if needed, but changes are not frequent and are usually difficult. The goal is to follow the plan as closely as possible.</a:t>
            </a:r>
          </a:p>
          <a:p>
            <a:r>
              <a:rPr lang="en-US"/>
              <a:t/>
            </a:r>
          </a:p>
          <a:p>
            <a:r>
              <a:rPr lang="en-US"/>
              <a:t>Agile on the other hand is iterative and incremental. Iterative ibig sabihin work is repeated in cycles, and incremental means the product is built step by step. Instead of waiting until the end, Agile delivers small working parts regularly, improving them over time. Parang pag update ng mobile app meron siyang frequent improvements instead of releasing everything at once. For example namention ng last group yung facebook merong reels sa ngayon pero dati naman wala</a:t>
            </a:r>
          </a:p>
          <a:p>
            <a:r>
              <a:rPr lang="en-US"/>
              <a:t/>
            </a:r>
          </a:p>
          <a:p>
            <a:r>
              <a:rPr lang="en-US"/>
              <a:t>4. Flexibility</a:t>
            </a:r>
          </a:p>
          <a:p>
            <a:r>
              <a:rPr lang="en-US"/>
              <a:t/>
            </a:r>
          </a:p>
          <a:p>
            <a:r>
              <a:rPr lang="en-US"/>
              <a:t>Plan-Driven has lower flexibility kasi yung changes na a-affect niya yung overall plan, budget, and timeline. Adjustments are possible but usually require formal approval and extra effort.</a:t>
            </a:r>
          </a:p>
          <a:p>
            <a:r>
              <a:rPr lang="en-US"/>
              <a:t/>
            </a:r>
          </a:p>
          <a:p>
            <a:r>
              <a:rPr lang="en-US"/>
              <a:t>Agile has high flexibility. Because work is done in short sprints, the team can adjust quickly when requirements, priorities, or market conditions change.</a:t>
            </a:r>
          </a:p>
          <a:p>
            <a:r>
              <a:rPr lang="en-US"/>
              <a:t/>
            </a:r>
          </a:p>
          <a:p>
            <a:r>
              <a:rPr lang="en-US"/>
              <a:t>5. Documentation</a:t>
            </a:r>
          </a:p>
          <a:p>
            <a:r>
              <a:rPr lang="en-US"/>
              <a:t/>
            </a:r>
          </a:p>
          <a:p>
            <a:r>
              <a:rPr lang="en-US"/>
              <a:t>Pagdating sa documentation, Plan-Driven uses detailed and formal documentation. Lahat ay clearly recorded before and during development. This is important for large organizations, government systems, or projects that require strict tracking and approval.</a:t>
            </a:r>
          </a:p>
          <a:p>
            <a:r>
              <a:rPr lang="en-US"/>
              <a:t/>
            </a:r>
          </a:p>
          <a:p>
            <a:r>
              <a:rPr lang="en-US"/>
              <a:t>Agile uses lighter documentation dahil yung focus is on building working software instead of producing heavy documents. Necessary documentation is still created, but only what is useful for development and maintenance.</a:t>
            </a:r>
          </a:p>
          <a:p>
            <a:r>
              <a:rPr lang="en-US"/>
              <a:t/>
            </a:r>
          </a:p>
          <a:p>
            <a:r>
              <a:rPr lang="en-US"/>
              <a:t>6. Client Role</a:t>
            </a:r>
          </a:p>
          <a:p>
            <a:r>
              <a:rPr lang="en-US"/>
              <a:t/>
            </a:r>
          </a:p>
          <a:p>
            <a:r>
              <a:rPr lang="en-US"/>
              <a:t>In Plan-Driven, heavily involved yung client sa simula para maka provide ng requirements, at pagkatapos nun less involvement na sila during development. They usually see the final product near the end, with limited changes during the process.</a:t>
            </a:r>
          </a:p>
          <a:p>
            <a:r>
              <a:rPr lang="en-US"/>
              <a:t/>
            </a:r>
          </a:p>
          <a:p>
            <a:r>
              <a:rPr lang="en-US"/>
              <a:t>In Agile, the client is involved throughout the project. After each sprint, kasi ni re-review nila yung progress at nagbibigay ng feedback. This helps ensure the product stays aligned with what they actually need.</a:t>
            </a:r>
          </a:p>
          <a:p>
            <a:r>
              <a:rPr lang="en-US"/>
              <a:t/>
            </a:r>
          </a:p>
          <a:p>
            <a:r>
              <a:rPr lang="en-US"/>
              <a:t>7. Delivery</a:t>
            </a:r>
          </a:p>
          <a:p>
            <a:r>
              <a:rPr lang="en-US"/>
              <a:t/>
            </a:r>
          </a:p>
          <a:p>
            <a:r>
              <a:rPr lang="en-US"/>
              <a:t>Plan-Driven delivers the product once at the end of the project after everything is fully completed and tested. This can take a long time, but the final product is delivered in one complete release.</a:t>
            </a:r>
          </a:p>
          <a:p>
            <a:r>
              <a:rPr lang="en-US"/>
              <a:t/>
            </a:r>
          </a:p>
          <a:p>
            <a:r>
              <a:rPr lang="en-US"/>
              <a:t>Yung Agile naman na de-delivers siya in small parts throughout the project. Users can already use some features early while the rest is still being developed. This allows faster feedback and earlier value.</a:t>
            </a:r>
          </a:p>
          <a:p>
            <a:r>
              <a:rPr lang="en-US"/>
              <a:t/>
            </a:r>
          </a:p>
          <a:p>
            <a:r>
              <a:rPr lang="en-US"/>
              <a:t>And finally, Best For</a:t>
            </a:r>
          </a:p>
          <a:p>
            <a:r>
              <a:rPr lang="en-US"/>
              <a:t/>
            </a:r>
          </a:p>
          <a:p>
            <a:r>
              <a:rPr lang="en-US"/>
              <a:t>Plan-Driven is best for large, stable, and well-defined projects where requirements are clear and unlikely to change. Mga Examples nito ay government systems, banking systems, and infrastructure-related software.</a:t>
            </a:r>
          </a:p>
          <a:p>
            <a:r>
              <a:rPr lang="en-US"/>
              <a:t/>
            </a:r>
          </a:p>
          <a:p>
            <a:r>
              <a:rPr lang="en-US"/>
              <a:t>Agile is best for projects where change is expected, such as mobile apps, startups, websites, and fast-changing digital products. It works well in environments where feedback and speed are important.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kailan nga ba natin pwede gamitin yung Plan-Driven Development? since hindi lahat ng project ay fit sa ganitong approach So Plan-Driven is best for situations where structure, predictability, and control are more important than flexibility.</a:t>
            </a:r>
          </a:p>
          <a:p>
            <a:r>
              <a:rPr lang="en-US"/>
              <a:t/>
            </a:r>
          </a:p>
          <a:p>
            <a:r>
              <a:rPr lang="en-US"/>
              <a:t>1. Fixed or Stable Requirements</a:t>
            </a:r>
          </a:p>
          <a:p>
            <a:r>
              <a:rPr lang="en-US"/>
              <a:t/>
            </a:r>
          </a:p>
          <a:p>
            <a:r>
              <a:rPr lang="en-US"/>
              <a:t>The first situation ay kapag ang isang project ay mayroong stable or clearly defined na requirements.</a:t>
            </a:r>
          </a:p>
          <a:p>
            <a:r>
              <a:rPr lang="en-US"/>
              <a:t/>
            </a:r>
          </a:p>
          <a:p>
            <a:r>
              <a:rPr lang="en-US"/>
              <a:t>Ibig sabihin na sa start ng development, the project scope is already well understood and agreed upon by stakeholders, and it is not expected to change significantly during development.</a:t>
            </a:r>
          </a:p>
          <a:p>
            <a:r>
              <a:rPr lang="en-US"/>
              <a:t/>
            </a:r>
          </a:p>
          <a:p>
            <a:r>
              <a:rPr lang="en-US"/>
              <a:t>In analogy, mag oorder ka ng custom cake dito sasabihin mo na sa baker kung ano yung gusto mong flavor, design, size, message. Kapag nag start na yung baking process, mahirap na kung may babaguhin   . Hindi mo pwede sabihin na gawin na lang chocolate yung flavor ng cake kung hiningi mo vanilla since nag start na yung process sa paggawa nito for example na bake na yung cake kung uulitin magiging costly yun para sayo.</a:t>
            </a:r>
          </a:p>
          <a:p>
            <a:r>
              <a:rPr lang="en-US"/>
              <a:t/>
            </a:r>
          </a:p>
          <a:p>
            <a:r>
              <a:rPr lang="en-US"/>
              <a:t>So ganun rin yung Plan-Driven. Requirements are gathered and documented in detail at the start, and the team builds based on that agreement. This allows more accurate planning of cost, timeline, and tasks.</a:t>
            </a:r>
          </a:p>
          <a:p>
            <a:r>
              <a:rPr lang="en-US"/>
              <a:t/>
            </a:r>
          </a:p>
          <a:p>
            <a:r>
              <a:rPr lang="en-US"/>
              <a:t>2. Formal Approvals and Compliance</a:t>
            </a:r>
          </a:p>
          <a:p>
            <a:r>
              <a:rPr lang="en-US"/>
              <a:t/>
            </a:r>
          </a:p>
          <a:p>
            <a:r>
              <a:rPr lang="en-US"/>
              <a:t>Yung second situation ay kapag yung project nagre-require ng formal approvals and strict compliance.</a:t>
            </a:r>
          </a:p>
          <a:p>
            <a:r>
              <a:rPr lang="en-US"/>
              <a:t/>
            </a:r>
          </a:p>
          <a:p>
            <a:r>
              <a:rPr lang="en-US"/>
              <a:t>May mga industries kasi tulad ng government, banking, and healthcare na nag re-require ng documentation and approval after each development phase. So dito, Work must be reviewed by authorities or auditors before moving forward.</a:t>
            </a:r>
          </a:p>
          <a:p>
            <a:r>
              <a:rPr lang="en-US"/>
              <a:t/>
            </a:r>
          </a:p>
          <a:p>
            <a:r>
              <a:rPr lang="en-US"/>
              <a:t>For example, a government tax system must pass security and legal reviews at different stages to ensure it follows regulations.</a:t>
            </a:r>
          </a:p>
          <a:p>
            <a:r>
              <a:rPr lang="en-US"/>
              <a:t/>
            </a:r>
          </a:p>
          <a:p>
            <a:r>
              <a:rPr lang="en-US"/>
              <a:t>Plan-Driven fits well here because it follows a structured step-by-step process with strong documentation. Yung bawat phase ay nag po-produce ng records na pwede i-review for compliance. Agile can still document work, but its fast and flexible nature is less suitable for environments requiring strict formal approval.</a:t>
            </a:r>
          </a:p>
          <a:p>
            <a:r>
              <a:rPr lang="en-US"/>
              <a:t/>
            </a:r>
          </a:p>
          <a:p>
            <a:r>
              <a:rPr lang="en-US"/>
              <a:t>3. Fixed Budget and Timeline</a:t>
            </a:r>
          </a:p>
          <a:p>
            <a:r>
              <a:rPr lang="en-US"/>
              <a:t/>
            </a:r>
          </a:p>
          <a:p>
            <a:r>
              <a:rPr lang="en-US"/>
              <a:t>The third situation is when the client requires a fixed budget and fixed deadline.</a:t>
            </a:r>
          </a:p>
          <a:p>
            <a:r>
              <a:rPr lang="en-US"/>
              <a:t/>
            </a:r>
          </a:p>
          <a:p>
            <a:r>
              <a:rPr lang="en-US"/>
              <a:t>May mga clients kasi na nag-specify upfront ng “Ito yung budget and ito yung deadline” In these cases, careful planning is needed before development begins.</a:t>
            </a:r>
          </a:p>
          <a:p>
            <a:r>
              <a:rPr lang="en-US"/>
              <a:t/>
            </a:r>
          </a:p>
          <a:p>
            <a:r>
              <a:rPr lang="en-US"/>
              <a:t>Plan-Driven supports this because requirements are defined early, allowing better estimation of cost, effort, and time. Yung project is divided siya sa mga phases na mayroong clear schedules and responsibilities, helping control scope and reduce unexpected changes.</a:t>
            </a:r>
          </a:p>
          <a:p>
            <a:r>
              <a:rPr lang="en-US"/>
              <a:t/>
            </a:r>
          </a:p>
          <a:p>
            <a:r>
              <a:rPr lang="en-US"/>
              <a:t>Agile allows changes during development, which can affect cost and timelines. While Agile can still be estimated, its flexibility makes it harder to guarantee a fixed final cost and delivery date. That is why Plan-Driven is preferred in fixed-contract projects.</a:t>
            </a:r>
          </a:p>
          <a:p>
            <a:r>
              <a:rPr lang="en-US"/>
              <a:t/>
            </a:r>
          </a:p>
          <a:p>
            <a:r>
              <a:rPr lang="en-US"/>
              <a:t>4. High-Stakes Industries</a:t>
            </a:r>
          </a:p>
          <a:p>
            <a:r>
              <a:rPr lang="en-US"/>
              <a:t/>
            </a:r>
          </a:p>
          <a:p>
            <a:r>
              <a:rPr lang="en-US"/>
              <a:t>Yung fourth situation is high-stakes industries katulad ng healthcare, aerospace, and defense.</a:t>
            </a:r>
          </a:p>
          <a:p>
            <a:r>
              <a:rPr lang="en-US"/>
              <a:t/>
            </a:r>
          </a:p>
          <a:p>
            <a:r>
              <a:rPr lang="en-US"/>
              <a:t>Sa mga fields kasi na toh, yung software errors ay magkakaroon ng serious consequences. A bug in a social media app may be minor, but in an aircraft system or medical device, it can endanger lives.</a:t>
            </a:r>
          </a:p>
          <a:p>
            <a:r>
              <a:rPr lang="en-US"/>
              <a:t/>
            </a:r>
          </a:p>
          <a:p>
            <a:r>
              <a:rPr lang="en-US"/>
              <a:t>Because of this, these industries require strict documentation, careful design reviews, and thorough testing, especially in later stages of development.</a:t>
            </a:r>
          </a:p>
          <a:p>
            <a:r>
              <a:rPr lang="en-US"/>
              <a:t/>
            </a:r>
          </a:p>
          <a:p>
            <a:r>
              <a:rPr lang="en-US"/>
              <a:t>Plan-Driven supports this well because it emphasizes structured development and traceability, which helps reduce risk and ensure compliance with safety regulations.</a:t>
            </a:r>
          </a:p>
          <a:p>
            <a:r>
              <a:rPr lang="en-US"/>
              <a:t/>
            </a:r>
          </a:p>
          <a:p>
            <a:r>
              <a:rPr lang="en-US"/>
              <a:t>5. Large, Distributed Teams</a:t>
            </a:r>
          </a:p>
          <a:p>
            <a:r>
              <a:rPr lang="en-US"/>
              <a:t/>
            </a:r>
          </a:p>
          <a:p>
            <a:r>
              <a:rPr lang="en-US"/>
              <a:t>The fifth situation is when working with large teams across different locations.</a:t>
            </a:r>
          </a:p>
          <a:p>
            <a:r>
              <a:rPr lang="en-US"/>
              <a:t/>
            </a:r>
          </a:p>
          <a:p>
            <a:r>
              <a:rPr lang="en-US"/>
              <a:t>For example, may project na nag i-involve ng teams na galing sa iba’t ibang countries working on the same system. Kung walang clear structure, coordination issues can occur.</a:t>
            </a:r>
          </a:p>
          <a:p>
            <a:r>
              <a:rPr lang="en-US"/>
              <a:t/>
            </a:r>
          </a:p>
          <a:p>
            <a:r>
              <a:rPr lang="en-US"/>
              <a:t>Plan-Driven helps by defining everything upfront yung mga architecture, responsibilities, timelines, and interfaces between components. Ito yung nag a-act as a shared blueprint that all teams follow.</a:t>
            </a:r>
          </a:p>
          <a:p>
            <a:r>
              <a:rPr lang="en-US"/>
              <a:t/>
            </a:r>
          </a:p>
          <a:p>
            <a:r>
              <a:rPr lang="en-US"/>
              <a:t>This structure helps reduce confusion, rework, and integration problems in large and complex projects.</a:t>
            </a:r>
          </a:p>
          <a:p>
            <a:r>
              <a:rPr lang="en-US"/>
              <a:t/>
            </a:r>
          </a:p>
          <a:p>
            <a:r>
              <a:rPr lang="en-US"/>
              <a:t>6. Well-Understood Technology</a:t>
            </a:r>
          </a:p>
          <a:p>
            <a:r>
              <a:rPr lang="en-US"/>
              <a:t/>
            </a:r>
          </a:p>
          <a:p>
            <a:r>
              <a:rPr lang="en-US"/>
              <a:t>The final situation is when the project uses well-understood or familiar technology.</a:t>
            </a:r>
          </a:p>
          <a:p>
            <a:r>
              <a:rPr lang="en-US"/>
              <a:t/>
            </a:r>
          </a:p>
          <a:p>
            <a:r>
              <a:rPr lang="en-US"/>
              <a:t>This means the team already has experience with the tools, programming languages, and systems being used, and there is low uncertainty.</a:t>
            </a:r>
          </a:p>
          <a:p>
            <a:r>
              <a:rPr lang="en-US"/>
              <a:t/>
            </a:r>
          </a:p>
          <a:p>
            <a:r>
              <a:rPr lang="en-US"/>
              <a:t>In this case, Plan-Driven is effective because estimates are more reliable and development is more predictable.</a:t>
            </a:r>
          </a:p>
          <a:p>
            <a:r>
              <a:rPr lang="en-US"/>
              <a:t/>
            </a:r>
          </a:p>
          <a:p>
            <a:r>
              <a:rPr lang="en-US"/>
              <a:t>If the technology is new or experimental, Agile is usually better because it allows learning and adaptation during development. But when everything is familiar, Plan-Driven provides efficiency and control.</a:t>
            </a:r>
          </a:p>
          <a:p>
            <a:r>
              <a:rPr lang="en-US"/>
              <a:t/>
            </a:r>
          </a:p>
          <a:p>
            <a:r>
              <a:rPr lang="en-US"/>
              <a:t>Conclusion</a:t>
            </a:r>
          </a:p>
          <a:p>
            <a:r>
              <a:rPr lang="en-US"/>
              <a:t/>
            </a:r>
          </a:p>
          <a:p>
            <a:r>
              <a:rPr lang="en-US"/>
              <a:t>So in conclusion for this slide, Plan-Driven development is best used kapag yung projects na ginagawa niyo ay kailangan ng stability, predictability, and strong control. It works well when requirements are clear, risks are low or well understood, compliance is strict, budgets are fixed, teams are large, and the technology is familiar.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kailan nga ba natin pwede gamitin yung Agile Development? Agile is used when projects need flexibility, fast delivery, and continuous feedback. Common po siya in modern software development where change is normal and user needs can evolve during the project.</a:t>
            </a:r>
          </a:p>
          <a:p>
            <a:r>
              <a:rPr lang="en-US"/>
              <a:t/>
            </a:r>
          </a:p>
          <a:p>
            <a:r>
              <a:rPr lang="en-US"/>
              <a:t>This means Agile is very suitable in environments where uncertainty is high and requirements are not always clear from the beginning. It focuses on adaptability rather than strict planning.</a:t>
            </a:r>
          </a:p>
          <a:p>
            <a:r>
              <a:rPr lang="en-US"/>
              <a:t/>
            </a:r>
          </a:p>
          <a:p>
            <a:r>
              <a:rPr lang="en-US"/>
              <a:t>First is, Evolving Requirements</a:t>
            </a:r>
          </a:p>
          <a:p>
            <a:r>
              <a:rPr lang="en-US"/>
              <a:t/>
            </a:r>
          </a:p>
          <a:p>
            <a:r>
              <a:rPr lang="en-US"/>
              <a:t>Agile works best kapag yung requirements ay hindi fully fixed at the start. The project has a general goal, pero yung mga details ay pwede mag change as the team learns more..</a:t>
            </a:r>
          </a:p>
          <a:p>
            <a:r>
              <a:rPr lang="en-US"/>
              <a:t>This allows teams to explore better solutions while the project is ongoing. It also reduces the risk of building features that are not useful to users.</a:t>
            </a:r>
          </a:p>
          <a:p>
            <a:r>
              <a:rPr lang="en-US"/>
              <a:t/>
            </a:r>
          </a:p>
          <a:p>
            <a:r>
              <a:rPr lang="en-US"/>
              <a:t>Yung Agile gumagamit siya ng sprints, usually 1 to 4 weeks long. In each sprint, the team selects tasks from a product backlog, builds them, then reviews the results. Based on feedback, ina-adjust nila priorities for the next sprint. This allows the product to improve and adapt continuously instead of being locked into one fixed plan.</a:t>
            </a:r>
          </a:p>
          <a:p>
            <a:r>
              <a:rPr lang="en-US"/>
              <a:t>Each sprint acts as a mini-project with its own goals and outcomes. This makes progress more visible and easier to manage.</a:t>
            </a:r>
          </a:p>
          <a:p>
            <a:r>
              <a:rPr lang="en-US"/>
              <a:t/>
            </a:r>
          </a:p>
          <a:p>
            <a:r>
              <a:rPr lang="en-US"/>
              <a:t>Next is, Speed to Market</a:t>
            </a:r>
          </a:p>
          <a:p>
            <a:r>
              <a:rPr lang="en-US"/>
              <a:t/>
            </a:r>
          </a:p>
          <a:p>
            <a:r>
              <a:rPr lang="en-US"/>
              <a:t>Agile is useful when releasing a product quickly is important.</a:t>
            </a:r>
          </a:p>
          <a:p>
            <a:r>
              <a:rPr lang="en-US"/>
              <a:t>This is especially important in competitive industries where being first in the market gives an advantage.</a:t>
            </a:r>
          </a:p>
          <a:p>
            <a:r>
              <a:rPr lang="en-US"/>
              <a:t/>
            </a:r>
          </a:p>
          <a:p>
            <a:r>
              <a:rPr lang="en-US"/>
              <a:t>Instead na mag wait sa entire system na matapos, Agile delivers small working parts after every sprint. Users can already use basic features early while development continues.</a:t>
            </a:r>
          </a:p>
          <a:p>
            <a:r>
              <a:rPr lang="en-US"/>
              <a:t>Early releases also allow companies to gather real user feedback as soon as possible.</a:t>
            </a:r>
          </a:p>
          <a:p>
            <a:r>
              <a:rPr lang="en-US"/>
              <a:t/>
            </a:r>
          </a:p>
          <a:p>
            <a:r>
              <a:rPr lang="en-US"/>
              <a:t>Nirereduce nito yung time-to-value, meaning users start benefiting from the product much earlier instead of waiting for full completion.</a:t>
            </a:r>
          </a:p>
          <a:p>
            <a:r>
              <a:rPr lang="en-US"/>
              <a:t>This also helps stakeholders see progress sooner and make better decisions.</a:t>
            </a:r>
          </a:p>
          <a:p>
            <a:r>
              <a:rPr lang="en-US"/>
              <a:t/>
            </a:r>
          </a:p>
          <a:p>
            <a:r>
              <a:rPr lang="en-US"/>
              <a:t>High-Change Environments</a:t>
            </a:r>
          </a:p>
          <a:p>
            <a:r>
              <a:rPr lang="en-US"/>
              <a:t/>
            </a:r>
          </a:p>
          <a:p>
            <a:r>
              <a:rPr lang="en-US"/>
              <a:t>Ideal si Agile sa mga fast-changing industries tulad ng mobile apps, social media, fintech, and e-commerce.</a:t>
            </a:r>
          </a:p>
          <a:p>
            <a:r>
              <a:rPr lang="en-US"/>
              <a:t>These industries often experience rapid innovation and constant competition.</a:t>
            </a:r>
          </a:p>
          <a:p>
            <a:r>
              <a:rPr lang="en-US"/>
              <a:t/>
            </a:r>
          </a:p>
          <a:p>
            <a:r>
              <a:rPr lang="en-US"/>
              <a:t>Sa mga industries na ito, trends, user behavior, and technology can change quickly. A long fixed plan may become outdated before the project is finished.</a:t>
            </a:r>
          </a:p>
          <a:p>
            <a:r>
              <a:rPr lang="en-US"/>
              <a:t>Because of this, flexibility becomes more valuable than strict planning.</a:t>
            </a:r>
          </a:p>
          <a:p>
            <a:r>
              <a:rPr lang="en-US"/>
              <a:t/>
            </a:r>
          </a:p>
          <a:p>
            <a:r>
              <a:rPr lang="en-US"/>
              <a:t>Sinosolve toh ng agile by allowing teams to adjust every sprint. Kapag nabago yung priorities o may mga new ideas na nag appear, the team can quickly shift focus without restarting the project.</a:t>
            </a:r>
          </a:p>
          <a:p>
            <a:r>
              <a:rPr lang="en-US"/>
              <a:t>This helps save time, cost, and effort compared to restarting an entire project.</a:t>
            </a:r>
          </a:p>
          <a:p>
            <a:r>
              <a:rPr lang="en-US"/>
              <a:t/>
            </a:r>
          </a:p>
          <a:p>
            <a:r>
              <a:rPr lang="en-US"/>
              <a:t>Think of a GPS navigation system that recalculates your route when there is traffic. You don’t restart the trip—you just adjust your direction.</a:t>
            </a:r>
          </a:p>
          <a:p>
            <a:r>
              <a:rPr lang="en-US"/>
              <a:t>This analogy shows how Agile adapts to real-time changes.</a:t>
            </a:r>
          </a:p>
          <a:p>
            <a:r>
              <a:rPr lang="en-US"/>
              <a:t/>
            </a:r>
          </a:p>
          <a:p>
            <a:r>
              <a:rPr lang="en-US"/>
              <a:t>Active Client Involvement</a:t>
            </a:r>
          </a:p>
          <a:p>
            <a:r>
              <a:rPr lang="en-US"/>
              <a:t/>
            </a:r>
          </a:p>
          <a:p>
            <a:r>
              <a:rPr lang="en-US"/>
              <a:t>In Agile, involved yung clients throughout the entire project, not just at the beginning.</a:t>
            </a:r>
          </a:p>
          <a:p>
            <a:r>
              <a:rPr lang="en-US"/>
              <a:t>This ensures that the product being developed matches the client’s expectations.</a:t>
            </a:r>
          </a:p>
          <a:p>
            <a:r>
              <a:rPr lang="en-US"/>
              <a:t/>
            </a:r>
          </a:p>
          <a:p>
            <a:r>
              <a:rPr lang="en-US"/>
              <a:t>Pagkatapos ng bawat sprint, pinapakita ng team yung progress and nakakakuha sila ng feedback from the client or stakeholders. This feedback is then used to improve the next sprint.</a:t>
            </a:r>
          </a:p>
          <a:p>
            <a:r>
              <a:rPr lang="en-US"/>
              <a:t>Regular feedback reduces the chances of major revisions later.</a:t>
            </a:r>
          </a:p>
          <a:p>
            <a:r>
              <a:rPr lang="en-US"/>
              <a:t/>
            </a:r>
          </a:p>
          <a:p>
            <a:r>
              <a:rPr lang="en-US"/>
              <a:t>This constant feedback reduces misunderstandings and helps ensure the final product matches what the client actually needs.</a:t>
            </a:r>
          </a:p>
          <a:p>
            <a:r>
              <a:rPr lang="en-US"/>
              <a:t>It also increases customer satisfaction because they are part of the process.</a:t>
            </a:r>
          </a:p>
          <a:p>
            <a:r>
              <a:rPr lang="en-US"/>
              <a:t/>
            </a:r>
          </a:p>
          <a:p>
            <a:r>
              <a:rPr lang="en-US"/>
              <a:t>Small, Cross-Functional Teams</a:t>
            </a:r>
          </a:p>
          <a:p>
            <a:r>
              <a:rPr lang="en-US"/>
              <a:t/>
            </a:r>
          </a:p>
          <a:p>
            <a:r>
              <a:rPr lang="en-US"/>
              <a:t>Agile works best with small teams made up of different roles katulad ng developers, designers, and testers. These teams are self-organizing, meaning they can make decisions quickly without waiting for long approval processes.</a:t>
            </a:r>
          </a:p>
          <a:p>
            <a:r>
              <a:rPr lang="en-US"/>
              <a:t>Having all necessary skills in one team improves efficiency and collaboration.</a:t>
            </a:r>
          </a:p>
          <a:p>
            <a:r>
              <a:rPr lang="en-US"/>
              <a:t/>
            </a:r>
          </a:p>
          <a:p>
            <a:r>
              <a:rPr lang="en-US"/>
              <a:t>This makes Agile teams faster, more flexible, and more responsive to problems.</a:t>
            </a:r>
          </a:p>
          <a:p>
            <a:r>
              <a:rPr lang="en-US"/>
              <a:t>It also reduces delays caused by dependencies on other teams.</a:t>
            </a:r>
          </a:p>
          <a:p>
            <a:r>
              <a:rPr lang="en-US"/>
              <a:t/>
            </a:r>
          </a:p>
          <a:p>
            <a:r>
              <a:rPr lang="en-US"/>
              <a:t>Innovation and Experimentation</a:t>
            </a:r>
          </a:p>
          <a:p>
            <a:r>
              <a:rPr lang="en-US"/>
              <a:t/>
            </a:r>
          </a:p>
          <a:p>
            <a:r>
              <a:rPr lang="en-US"/>
              <a:t>Agile is also useful when building something new or uncertain.</a:t>
            </a:r>
          </a:p>
          <a:p>
            <a:r>
              <a:rPr lang="en-US"/>
              <a:t>This is common in startups or projects involving new technologies.</a:t>
            </a:r>
          </a:p>
          <a:p>
            <a:r>
              <a:rPr lang="en-US"/>
              <a:t/>
            </a:r>
          </a:p>
          <a:p>
            <a:r>
              <a:rPr lang="en-US"/>
              <a:t>Teams use a build–measure–learn cycle: they build a small feature, test it with users, collect feedback, and then improve it in the next sprint.</a:t>
            </a:r>
          </a:p>
          <a:p>
            <a:r>
              <a:rPr lang="en-US"/>
              <a:t>This continuous cycle helps refine the product over time.</a:t>
            </a:r>
          </a:p>
          <a:p>
            <a:r>
              <a:rPr lang="en-US"/>
              <a:t/>
            </a:r>
          </a:p>
          <a:p>
            <a:r>
              <a:rPr lang="en-US"/>
              <a:t>Para siyan scientist na nag ru-run ng mga experiments. They don’t know the final answer at the start—they test ideas, observe results, and improve based on what they learn.</a:t>
            </a:r>
          </a:p>
          <a:p>
            <a:r>
              <a:rPr lang="en-US"/>
              <a:t>This encourages creativity and problem-solving.</a:t>
            </a:r>
          </a:p>
          <a:p>
            <a:r>
              <a:rPr lang="en-US"/>
              <a:t/>
            </a:r>
          </a:p>
          <a:p>
            <a:r>
              <a:rPr lang="en-US"/>
              <a:t>Many successful apps like Spotify and Instagram used this approach. Nagsisimula sila small, tested features early, and improved based on real user feedback instead of waiting for a perfect final version.</a:t>
            </a:r>
          </a:p>
          <a:p>
            <a:r>
              <a:rPr lang="en-US"/>
              <a:t>This proves that Agile can lead to successful and scalable products.</a:t>
            </a:r>
          </a:p>
          <a:p>
            <a:r>
              <a:rPr lang="en-US"/>
              <a:t/>
            </a:r>
          </a:p>
          <a:p>
            <a:r>
              <a:rPr lang="en-US"/>
              <a:t>In Conclusion, Agile is best kapag yung projects need ng flexibility, speed, teamwork, and continuous improvement.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finally sa last part po ng report ko its going to be about Risk Management. So ano nga ba yung risk? Yung risk is anything that could go wrong during a project. It might be a technical issue, team delays, changing requirements, or system failures.</a:t>
            </a:r>
          </a:p>
          <a:p>
            <a:r>
              <a:rPr lang="en-US"/>
              <a:t/>
            </a:r>
          </a:p>
          <a:p>
            <a:r>
              <a:rPr lang="en-US"/>
              <a:t>So When Are Risks Identified?</a:t>
            </a:r>
          </a:p>
          <a:p>
            <a:r>
              <a:rPr lang="en-US"/>
              <a:t/>
            </a:r>
          </a:p>
          <a:p>
            <a:r>
              <a:rPr lang="en-US"/>
              <a:t>Sa Plan-Driven development, risks are primarily identified during the planning phase, bago mag start yung development. Sa stage na toh, tina-try ng team i-anticipate yung mga possible problems and they prepare responses in advance. So yung tawag po dun is risk planning.</a:t>
            </a:r>
          </a:p>
          <a:p>
            <a:r>
              <a:rPr lang="en-US"/>
              <a:t/>
            </a:r>
          </a:p>
          <a:p>
            <a:r>
              <a:rPr lang="en-US"/>
              <a:t>In analogy para siya pilot doing a full checklist before a flight. They check systems, prepare for emergencies, and plan responses before takeoff. However, not all risks can be predicted perfectly, so Plan-Driven works best in environments that are familiar and relatively stable.</a:t>
            </a:r>
          </a:p>
          <a:p>
            <a:r>
              <a:rPr lang="en-US"/>
              <a:t/>
            </a:r>
          </a:p>
          <a:p>
            <a:r>
              <a:rPr lang="en-US"/>
              <a:t>Sa Agile naman, continuous yung risk identification throughout the project. Instead of trying to predict everything upfront, Agile teams accept that new risks may appear during development. That is why they review progress at the end of every sprint and adjust accordingly.</a:t>
            </a:r>
          </a:p>
          <a:p>
            <a:r>
              <a:rPr lang="en-US"/>
              <a:t/>
            </a:r>
          </a:p>
          <a:p>
            <a:r>
              <a:rPr lang="en-US"/>
              <a:t>2. How Are Risks Tracked?</a:t>
            </a:r>
          </a:p>
          <a:p>
            <a:r>
              <a:rPr lang="en-US"/>
              <a:t/>
            </a:r>
          </a:p>
          <a:p>
            <a:r>
              <a:rPr lang="en-US"/>
              <a:t>So yung Plan-Driven gumagamit siya ng risk register, which is a formal document listing risks, their likelihood, impact, and planned responses. Yung document na toh is regularly ni re-review at ina-update as needed.</a:t>
            </a:r>
          </a:p>
          <a:p>
            <a:r>
              <a:rPr lang="en-US"/>
              <a:t/>
            </a:r>
          </a:p>
          <a:p>
            <a:r>
              <a:rPr lang="en-US"/>
              <a:t>Important yung approach na toh sa industries where documentation and accountability are required, katulad ng construction, government systems, and large enterprises. It ensures that risks are formally recorded and managed.</a:t>
            </a:r>
          </a:p>
          <a:p>
            <a:r>
              <a:rPr lang="en-US"/>
              <a:t/>
            </a:r>
          </a:p>
          <a:p>
            <a:r>
              <a:rPr lang="en-US"/>
              <a:t>Agile uses lightweight and continuous tracking, mainly through communication practices such as daily standups. In these short meetings, team members share progress and mention blockers or concerns.</a:t>
            </a:r>
          </a:p>
          <a:p>
            <a:r>
              <a:rPr lang="en-US"/>
              <a:t/>
            </a:r>
          </a:p>
          <a:p>
            <a:r>
              <a:rPr lang="en-US"/>
              <a:t>For example, kung yung developer nagsabi ng, “This feature is more complex than expected,” nagiging early indicator ito ng risk. Because communication happens frequently, issues are identified early before they escalate.</a:t>
            </a:r>
          </a:p>
          <a:p>
            <a:r>
              <a:rPr lang="en-US"/>
              <a:t/>
            </a:r>
          </a:p>
          <a:p>
            <a:r>
              <a:rPr lang="en-US"/>
              <a:t>3. What Happens When New Risks Appear?</a:t>
            </a:r>
          </a:p>
          <a:p>
            <a:r>
              <a:rPr lang="en-US"/>
              <a:t/>
            </a:r>
          </a:p>
          <a:p>
            <a:r>
              <a:rPr lang="en-US"/>
              <a:t>Sa Plan-Driven, yung mga new risks can be more costly to handle kasi nga yung project ay naka based on a structured plan. Kapag may major issue na nag appear, the team may need to revise plans, adjust schedules, or redo earlier work. This can increase cost and delay delivery.</a:t>
            </a:r>
          </a:p>
          <a:p>
            <a:r>
              <a:rPr lang="en-US"/>
              <a:t/>
            </a:r>
          </a:p>
          <a:p>
            <a:r>
              <a:rPr lang="en-US"/>
              <a:t/>
            </a:r>
          </a:p>
          <a:p>
            <a:r>
              <a:rPr lang="en-US"/>
              <a:t>In Agile, risks are handled more easily through iterative development and continuous feedback mechanisms such as:</a:t>
            </a:r>
          </a:p>
          <a:p>
            <a:r>
              <a:rPr lang="en-US"/>
              <a:t/>
            </a:r>
          </a:p>
          <a:p>
            <a:r>
              <a:rPr lang="en-US"/>
              <a:t>Automated testing dito ine-ensures na yung new changes do not break existing features</a:t>
            </a:r>
          </a:p>
          <a:p>
            <a:r>
              <a:rPr lang="en-US"/>
              <a:t>CI/CD (Continuous Integration and Continuous Delivery) kung saan frequently ini-integrates and tine-tests yung small code changes</a:t>
            </a:r>
          </a:p>
          <a:p>
            <a:r>
              <a:rPr lang="en-US"/>
              <a:t>Sprint reviews dito naman ina-allow stakeholders to evaluate progress and provide early feedback</a:t>
            </a:r>
          </a:p>
          <a:p>
            <a:r>
              <a:rPr lang="en-US"/>
              <a:t/>
            </a:r>
          </a:p>
          <a:p>
            <a:r>
              <a:rPr lang="en-US"/>
              <a:t>Because work is delivered in small increments, problems are easier to detect, isolate, and fix quickly.</a:t>
            </a:r>
          </a:p>
          <a:p>
            <a:r>
              <a:rPr lang="en-US"/>
              <a:t/>
            </a:r>
          </a:p>
          <a:p>
            <a:r>
              <a:rPr lang="en-US"/>
              <a:t>4. Best Risk Environment for Each Approach</a:t>
            </a:r>
          </a:p>
          <a:p>
            <a:r>
              <a:rPr lang="en-US"/>
              <a:t/>
            </a:r>
          </a:p>
          <a:p>
            <a:r>
              <a:rPr lang="en-US"/>
              <a:t>Plan-Driven works best when risks are predictable and well understood. This is common in systems like banking applications, government databases, or hospital systems, where many risks are already known from past experience. In these cases, upfront planning is effective.</a:t>
            </a:r>
          </a:p>
          <a:p>
            <a:r>
              <a:rPr lang="en-US"/>
              <a:t/>
            </a:r>
          </a:p>
          <a:p>
            <a:r>
              <a:rPr lang="en-US"/>
              <a:t>Agile works best when risks are uncertain and constantly changing. This includes startups, mobile apps, and new digital products where user behavior and requirements evolve quickly.</a:t>
            </a:r>
          </a:p>
          <a:p>
            <a:r>
              <a:rPr lang="en-US"/>
              <a:t/>
            </a:r>
          </a:p>
          <a:p>
            <a:r>
              <a:rPr lang="en-US"/>
              <a:t>In these environments, trying to predict all risks upfront is unrealistic. Agile handles this uncertainty by continuously adapting and learning throughout development.</a:t>
            </a:r>
          </a:p>
          <a:p>
            <a:r>
              <a:rPr lang="en-US"/>
              <a:t/>
            </a:r>
          </a:p>
          <a:p>
            <a:r>
              <a:rPr lang="en-US"/>
              <a:t>Conclusion</a:t>
            </a:r>
          </a:p>
          <a:p>
            <a:r>
              <a:rPr lang="en-US"/>
              <a:t/>
            </a:r>
          </a:p>
          <a:p>
            <a:r>
              <a:rPr lang="en-US"/>
              <a:t>Both Plan-Driven and Agile take risk seriously, but they handle it differently.</a:t>
            </a:r>
          </a:p>
          <a:p>
            <a:r>
              <a:rPr lang="en-US"/>
              <a:t/>
            </a:r>
          </a:p>
          <a:p>
            <a:r>
              <a:rPr lang="en-US"/>
              <a:t>Plan-Driven focuses on predicting and planning risks early using structured documentation and formal processes. Agile focuses on continuously identifying and responding to risks through communication, feedback, and iterative development.</a:t>
            </a:r>
          </a:p>
          <a:p>
            <a:r>
              <a:rPr lang="en-US"/>
              <a:t/>
            </a:r>
          </a:p>
          <a:p>
            <a:r>
              <a:rPr lang="en-US"/>
              <a:t>These two are designed for different levels of uncertainty and project needs. Understanding both helps in choosing the right approach depending on the project context.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Hello everyone, and welcome to our presentation on Extreme Programming, commonly referred to simply as XP. To kick things off, I want to look at the core definition we have provided here on the slide. Extreme Programming is a highly disciplined software development methodology specifically designed for small teams. Now, when we say "small teams," we are typically talking about groups of maybe four to ten developers, sometimes up to twelve at the absolute maximum. The reason for this size constraint is that XP relies heavily on very tight, constant, and intimate collaboration, which simply becomes unmanageable and chaotic with larger groups. The entire framework is engineered from the ground up to keep change at the very front of the developer's mind. Instead of trying to lock down requirements at the beginning of a project, XP assumes that things will change—customer requirements will shift, market conditions will evolve, and bugs will inevitably be discovered. Therefore, the methodology builds in constant rework and continuous iteration as a core feature, not a flaw. The ultimate goal of embracing all this change is to ensure the highest possible quality of the final software release, delivering exactly what the user actually needs at that exact moment in time.</a:t>
            </a:r>
          </a:p>
          <a:p>
            <a:r>
              <a:rPr lang="en-US"/>
              <a:t/>
            </a:r>
          </a:p>
          <a:p>
            <a:r>
              <a:rPr lang="en-US"/>
              <a:t>To truly understand where this approach comes from, we have to look at its origins. XP was developed back in the 1990s by a software engineer named Kent Beck. During this era, the software industry was heavily dominated by traditional, rigid methodologies—often referred to as the "Waterfall" model. In Waterfall, you spent months gathering requirements, then months designing, then months coding, and finally months testing. If a customer changed their mind during the testing phase, it was an absolute nightmare to fix, costing massive amounts of time and money. Kent Beck recognized that this traditional way of working was incredibly fragile and ultimately doomed to fail in dynamic business environments. He realized that developers needed a framework that acknowledged the reality of software development: humans are bad at predicting the future, and requirements always change. So, he set out to create a system that made adapting to change easy, fast, and safe.</a:t>
            </a:r>
          </a:p>
          <a:p>
            <a:r>
              <a:rPr lang="en-US"/>
              <a:t/>
            </a:r>
          </a:p>
          <a:p>
            <a:r>
              <a:rPr lang="en-US"/>
              <a:t>This brings us to the central philosophy of Extreme Programming, which is highlighted by the three bullet points in the middle of our slide. The name "Extreme" often confuses people at first. It does not mean the developers are working frantically or taking reckless risks. Rather, it refers to taking standard, universally accepted "best practices" in software engineering and turning the dial up to eleven—taking them to their absolute extreme logical conclusion. Kent Beck looked at the industry and asked a very simple question: if doing a certain practice a little bit is good for the software, what would happen if we did it all day, every day, on every single line of code? </a:t>
            </a:r>
          </a:p>
          <a:p>
            <a:r>
              <a:rPr lang="en-US"/>
              <a:t/>
            </a:r>
          </a:p>
          <a:p>
            <a:r>
              <a:rPr lang="en-US"/>
              <a:t>Let’s break down those three examples from the slide to see exactly what I mean. The first one is code reviews. In traditional software development, a code review might happen once a week, or right before a major release, where a senior developer sits down and reads through pages of code written by a junior developer. It is helpful, but bugs can easily hide in the gaps of time. XP says: if reviewing code is good, we should review code all the time. And that is exactly what leads to the practice of "Pair Programming." In XP, no code is ever written alone. Two developers sit at one computer. One types—the driver—while the other watches, thinks strategically, and reviews every single keystroke as it happens—the navigator. This provides constant, real-time review. Bugs are caught seconds after they are typed, and knowledge is shared instantly across the team. </a:t>
            </a:r>
          </a:p>
          <a:p>
            <a:r>
              <a:rPr lang="en-US"/>
              <a:t/>
            </a:r>
          </a:p>
          <a:p>
            <a:r>
              <a:rPr lang="en-US"/>
              <a:t>The second example is testing. Traditionally, testing happens after the code is written. A developer writes a feature, hands it to a quality assurance team, and waits to see if it breaks. XP says: if testing is good, we should test all the time. This leads to "Test-Driven Development," or TDD. In TDD, you are literally not allowed to write a single line of feature code until you have first written an automated test that fails, proving the feature is needed. You then write the simplest code possible just to make that test pass. By doing this constantly, the team builds a massive safety net of automated tests. Every time a change is made, the entire system is tested automatically in seconds. If a new change breaks an old feature, the tests immediately scream, allowing developers to fix it instantly before it becomes a larger problem.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Moving to our next slide, we are going to ground everything we have discussed so far into concrete, real-world scenarios. It is one thing to talk about Extreme Programming in the abstract, but it is much easier to understand its value when you see exactly how it solves specific industry problems. We have outlined three distinct environments where XP thrives, followed by a detailed walk-through of a common feature request. Let us break down exactly what is happening in each of these situations and why traditional methods would struggle here.</a:t>
            </a:r>
          </a:p>
          <a:p>
            <a:r>
              <a:rPr lang="en-US"/>
              <a:t/>
            </a:r>
          </a:p>
          <a:p>
            <a:r>
              <a:rPr lang="en-US"/>
              <a:t>First, let us look at the E-commerce Website scenario. E-commerce platforms are incredibly complex systems dealing with volatile inventory, fluctuating prices, and complex discount logic that changes based on seasons or promotions. The slide notes that XP helps developers release updates weekly without breaking logic. Imagine it is the week before a major holiday sale. The marketing team wants to add a new "buy-one-get-one" promotion. In a traditional setup, adding this promotion might accidentally break the standard checkout flow, and you would not find out until weeks of manual testing were done. With XP, the team uses Test-Driven Development to first write automated tests for the standard checkout flow. When they add the new promotion code, continuous integration immediately runs thousands of tests in minutes. If the new code breaks the standard logic, the developers are alerted instantly and fix it before they even go home for the day. This allows the e-commerce site to safely push new features and promotions weekly, reacting instantly to market trends.</a:t>
            </a:r>
          </a:p>
          <a:p>
            <a:r>
              <a:rPr lang="en-US"/>
              <a:t/>
            </a:r>
          </a:p>
          <a:p>
            <a:r>
              <a:rPr lang="en-US"/>
              <a:t>Second, we have the Startup Mobile App. Startups operate in an environment of extreme uncertainty. They often have a brilliant idea, but they do not really know what their users want until the app is in their hands. As the slide mentions, a startup keeps improving its app from user feedback. In a fast-paced startup, you usually have a small team and a limited budget—often called a "runway." You cannot afford to spend three months building a feature nobody wants. By utilizing pair programming and continuous testing, the startup reduces bugs quickly, but more importantly, they prevent technical debt. When user feedback says, "We hate this swipe navigation," the pair programming team uses collective code ownership, meaning anyone can refactor the navigation without worrying about stepping on a colleague's toes. The continuous testing ensures the app does not crash on obscure mobile devices while they are making these rapid changes.</a:t>
            </a:r>
          </a:p>
          <a:p>
            <a:r>
              <a:rPr lang="en-US"/>
              <a:t/>
            </a:r>
          </a:p>
          <a:p>
            <a:r>
              <a:rPr lang="en-US"/>
              <a:t>Third, let us examine the Banking System scenario. People often assume banks are too slow and rigid for Agile, but XP is actually perfect for backend financial systems. Security updates and regulatory compliance patches must be released fast to protect user data and avoid massive fines. However, you absolutely cannot accidentally break the core payment logic when deploying a security patch. The slide points out that automated tests ensure new code does not break payment logic. In XP, a banking team has a massive safety net of automated tests representing every possible transaction scenario. When a new security encryption layer is added, it is pushed through continuous integration. The tests run and verify that money is still moving from Account A to Account B correctly. This gives the bank the confidence to release critical security updates in days rather than months.</a:t>
            </a:r>
          </a:p>
          <a:p>
            <a:r>
              <a:rPr lang="en-US"/>
              <a:t/>
            </a:r>
          </a:p>
          <a:p>
            <a:r>
              <a:rPr lang="en-US"/>
              <a:t>Finally, let us look at the specific mini-scenario at the bottom of the slide: "A food delivery app notices users want live rider tracking." This is a perfect example of XP's core values of Communication and Feedback in action. If a traditional team received this request, they might spend a month designing the database architecture for GPS coordinates, another month coding it, and only then realize users actually wanted an estimated arrival time, not a live map. With XP, the team handles this completely differently. First, they question the clients continuously. During the planning phase, they sit with the product owner and ask, "What exactly do you mean by live tracking? Do they need a moving dot on a map, or just a text update?" Once the exact requirement is clear, they build the feature quickly using pair programming. They do not build a massive, enterprise-grade GPS system right away; they build the simplest version first. They test it continuously using Test-Driven Development, writing tests that simulate a rider moving from a restaurant to a house. They release this small tracking feature in just a two-week cycle. The users play with it, and the feedback loop begins again. This iterative approach ensures the feature perfectly solves the user's problem without the team wasting time over-engineering a solution for a problem they did not fully understand.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Moving on to our second slide, we are going to look at the underlying philosophy of Extreme Programming. If the technical practices we discussed on the first slide—like pair programming and test-driven development—are the "what" and the "how" of Extreme Programming, then these five core values are the "why." You cannot successfully implement XP just by forcing developers to sit together; you have to understand the mindset behind it. These five values—Simplicity, Communication, Feedback, Courage, and Respect—serve as the ethical and psychological compass for the entire team. They guide every decision, from how to write a specific line of code, to how to interact with a frustrated customer. Let's walk through each of these in detail to understand how they shape the XP environment.</a:t>
            </a:r>
          </a:p>
          <a:p>
            <a:r>
              <a:rPr lang="en-US"/>
              <a:t/>
            </a:r>
          </a:p>
          <a:p>
            <a:r>
              <a:rPr lang="en-US"/>
              <a:t>The first value is Simplicity. As you can see on the slide, this is heavily tied to the concept of YAGNI, which stands for "You Aren't Gonna Need It." In traditional software development, there is a very common trap where developers try to predict what the customer might need six months or a year down the line. They build flexible, highly complex architectures to handle hypothetical future scenarios. The problem is, predicting the future is impossible, and all that extra code becomes dead weight that still has to be maintained, tested, and debugged. Simplicity in XP means doing only what is strictly necessary to implement the current requirement. You write the simplest code that could possibly work right now. By keeping the codebase lean and manageable, you ensure that when the customer inevitably changes their mind about that future feature, you haven't wasted weeks of time and budget building something that is now completely useless.</a:t>
            </a:r>
          </a:p>
          <a:p>
            <a:r>
              <a:rPr lang="en-US"/>
              <a:t/>
            </a:r>
          </a:p>
          <a:p>
            <a:r>
              <a:rPr lang="en-US"/>
              <a:t>Next, we have Communication. XP argues that the vast majority of software project failures are not actually technical failures, but rather failures of communication. Think about the traditional "telephone game" in corporate settings: a customer tells a business analyst what they want, the analyst writes a document, a project manager reads the document and tells a lead developer, and the lead developer tells a junior developer how to code it. By the time the junior developer writes the code, the original intent has been completely warped. XP completely bypasses this by keeping teams co-located and enforcing practices like pair programming. Developers are constantly talking to each other, sharing knowledge, and solving problems in real-time. More importantly, the developers are put in direct, face-to-face communication with the customer, eliminating the middlemen and ensuring absolute clarity.</a:t>
            </a:r>
          </a:p>
          <a:p>
            <a:r>
              <a:rPr lang="en-US"/>
              <a:t/>
            </a:r>
          </a:p>
          <a:p>
            <a:r>
              <a:rPr lang="en-US"/>
              <a:t>The third core value is Feedback. This value recognizes a fundamental human flaw: we are really bad at guessing what will work. We might think a certain design is perfect or a specific feature is exactly what the user wants, but until we test it against reality, we are just guessing. Therefore, XP demands continuous feedback loops from multiple directions. First, feedback from the system itself: automated tests run constantly to tell developers immediately if a change broke the software. Second, feedback from the customer: by releasing small pieces of software every few weeks, the customer can actually use it and tell the team if it meets their needs. Third, feedback from the team: through pair programming, developers constantly bounce ideas off one another. This relentless loop of feedback acts as an early warning system, catching tiny misunderstandings before they compound into massive, expensive failures.</a:t>
            </a:r>
          </a:p>
          <a:p>
            <a:r>
              <a:rPr lang="en-US"/>
              <a:t/>
            </a:r>
          </a:p>
          <a:p>
            <a:r>
              <a:rPr lang="en-US"/>
              <a:t>The fourth value is Courage, and it is often the hardest one for teams to truly embrace. In many corporate environments, developers are pressured by management to take shortcuts to meet arbitrary deadlines. They are encouraged to slap a quick, messy patch over a bug rather than fixing the root cause, just to get the release out the door. XP requires developers to have the courage to resist this pressure. It takes immense professional courage to look a manager in the eye and push back on an unrealistic deadline. It takes courage to throw away a thousand lines of bad code and start over from scratch because you know it's the right thing to do. It takes courage to be completely transparent when you make a mistake. Without courage, the practices of XP degrade, and the team falls right back into the technical debt and messy code that plagues traditional projects.</a:t>
            </a:r>
          </a:p>
          <a:p>
            <a:r>
              <a:rPr lang="en-US"/>
              <a:t/>
            </a:r>
          </a:p>
          <a:p>
            <a:r>
              <a:rPr lang="en-US"/>
              <a:t>Finally, we arrive at Respect. This value operates on two distinct, equally important levels. Internally, team members must respect each other’s time, skills, and boundaries. This means trusting that your partner during pair programming has valuable input, and it means respecting a colleague's need to step away and recharge—hence the XP practice of maintaining a sustainable work pace without crushing overtime.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Now that we understand the philosophy, let’s look at how these ideas translate into day-to-day work on Slide 3. As noted, Kent Beck originally outlined twelve specific practices, which have expanded over the years. We are focusing on the eight most critical ones here. It is important to remember that Extreme Programming is not a buffet; you cannot just pick and choose the practices you like. These are highly interlocked mechanisms that support one another, and if you try to do one without the others, the system breaks down.</a:t>
            </a:r>
          </a:p>
          <a:p>
            <a:r>
              <a:rPr lang="en-US"/>
              <a:t/>
            </a:r>
          </a:p>
          <a:p>
            <a:r>
              <a:rPr lang="en-US"/>
              <a:t>First is Pair Programming. Two developers sit at one workstation with distinct roles. The Driver focuses tactically on typing syntax and making the code compile. The Navigator thinks strategically, looking at the bigger picture, spotting typos, and planning the next steps. They switch roles frequently. This produces code with fewer bugs immediately and eliminates the "bus factor"—the risk of a project failing because only one person understands a critical system.</a:t>
            </a:r>
          </a:p>
          <a:p>
            <a:r>
              <a:rPr lang="en-US"/>
              <a:t/>
            </a:r>
          </a:p>
          <a:p>
            <a:r>
              <a:rPr lang="en-US"/>
              <a:t>Second is Test-Driven Development, or TDD. This flips traditional coding upside down. Normally, you write the feature, then test it. In TDD, you write the automated test before a single line of feature code exists. Because the feature doesn't exist, the test fails—the "Red" phase. Then, you write the absolute simplest code required to make that test pass—the "Green" phase. Finally, you clean up the code. This builds an extensive safety net, giving developers the confidence to make rapid changes without fear of breaking existing features.</a:t>
            </a:r>
          </a:p>
          <a:p>
            <a:r>
              <a:rPr lang="en-US"/>
              <a:t/>
            </a:r>
          </a:p>
          <a:p>
            <a:r>
              <a:rPr lang="en-US"/>
              <a:t>Third is Continuous Integration. In older methods, developers work in isolation for weeks, leading to "integration hell" when trying to merge everything together. XP eliminates this. With Continuous Integration, developers merge their code into the shared main branch multiple times a day. Every single merge triggers an automated server to build the code and run the entire TDD test suite. This acts as the heartbeat of an XP project, ensuring that integration bugs are caught immediately while they are still small and easy to fix.</a:t>
            </a:r>
          </a:p>
          <a:p>
            <a:r>
              <a:rPr lang="en-US"/>
              <a:t/>
            </a:r>
          </a:p>
          <a:p>
            <a:r>
              <a:rPr lang="en-US"/>
              <a:t>Fourth is Refactoring. As software grows, it naturally becomes messy, accumulating "technical debt." Instead of leaving a mess for a future cleanup phase, XP developers refactor continuously. This means restructuring existing code to make it cleaner and more efficient without changing what the code actually does externally. Because of the automated TDD safety net, developers can refactor fearlessly, continually tuning up the engine while driving the car.</a:t>
            </a:r>
          </a:p>
          <a:p>
            <a:r>
              <a:rPr lang="en-US"/>
              <a:t/>
            </a:r>
          </a:p>
          <a:p>
            <a:r>
              <a:rPr lang="en-US"/>
              <a:t>Fifth is Small Releases. Traditional projects hold onto software for a year before releasing a massive update. XP takes the opposite approach, slicing functionality into tiny, usable pieces and releasing them every few weeks. This provides massive business value because the customer gets a return on investment immediately. It also forces reality checks, allowing the customer to use the software early and pivot the team before months are wasted building the wrong thing.</a:t>
            </a:r>
          </a:p>
          <a:p>
            <a:r>
              <a:rPr lang="en-US"/>
              <a:t/>
            </a:r>
          </a:p>
          <a:p>
            <a:r>
              <a:rPr lang="en-US"/>
              <a:t>Sixth is Collective Code Ownership. In many companies, code is territorial; if Developer A wrote the database module, only they can touch it. This creates bottlenecks. In XP, the code belongs to the team, not the individual. Anyone can go into any part of the codebase to fix a bug or add a feature. Supported by pair programming and TDD, the risk of someone accidentally breaking an unfamiliar module is drastically reduced, and knowledge spreads across the whole team.</a:t>
            </a:r>
          </a:p>
          <a:p>
            <a:r>
              <a:rPr lang="en-US"/>
              <a:t/>
            </a:r>
          </a:p>
          <a:p>
            <a:r>
              <a:rPr lang="en-US"/>
              <a:t>Seventh is Customer Tests. While TDD tests ensure code works technically, Customer Tests—Acceptance Testing—ensure it solves the business problem. The customer defines specific, real-world scenarios. The developers then automate these scenarios. The rule is simple: the feature is not "done" until it passes all of the customer's automated acceptance tests. This creates a binding, unambiguous contract between the business side and the technical side.</a:t>
            </a:r>
          </a:p>
          <a:p>
            <a:r>
              <a:rPr lang="en-US"/>
              <a:t/>
            </a:r>
          </a:p>
          <a:p>
            <a:r>
              <a:rPr lang="en-US"/>
              <a:t>Finally, we have Sustainable Pace. The tech industry often glorifies "crunch time" and sixty-hour workweeks. XP strictly forbids mandatory overtime. Software development is an intellectually demanding, creative task. Tired developers make stupid mistakes, write buggy code, and burn out. XP views overtime as a symptom of poor planning, not a badge of honor. A well-rested team working a sustainable pace will consistently outproduce an exhausted, stressed team.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Moving to Slide 4, let’s examine the life cycle or process of Extreme Programming. If you look at the flowchart on the screen, you’ll notice immediately that it isn’t a straight line pointing toward a final finish line. Unlike the traditional Waterfall methodology, which goes strictly from gathering requirements to designing, then to coding, then to testing in a single, one-way trip, XP operates as a continuous, tightly woven loop. This cycle is specifically designed to be incredibly short—usually lasting only one to two weeks per full rotation. This short duration is what allows the team to constantly adjust their trajectory based on real-world realities rather than outdated assumptions. Let’s break down exactly what happens in each phase of this loop.</a:t>
            </a:r>
          </a:p>
          <a:p>
            <a:r>
              <a:rPr lang="en-US"/>
              <a:t/>
            </a:r>
          </a:p>
          <a:p>
            <a:r>
              <a:rPr lang="en-US"/>
              <a:t>It all starts with Requirements. In traditional corporate models, this phase usually means writing a massive, hundred-page specification document that takes months to finalize and gets locked away in a drawer. In Extreme Programming, requirements are gathered entirely as "User Stories." These are simple, short, plain-English sentences written from the perspective of the end-user. For example, a story might simply say, "As a registered user, I want to save my payment details so I can check out faster next time." The customer writes these stories, not the software engineers. There are absolutely no technical details attached to them at this stage; the stories just define the business value, leaving the technical implementation entirely up to the development team.</a:t>
            </a:r>
          </a:p>
          <a:p>
            <a:r>
              <a:rPr lang="en-US"/>
              <a:t/>
            </a:r>
          </a:p>
          <a:p>
            <a:r>
              <a:rPr lang="en-US"/>
              <a:t>Once we have a backlog of these user stories, we move to the Planning phase, which is often referred to as the "Planning Game." This is a highly collaborative, dynamic meeting between the developers and the customer. The developers look at the user stories and estimate how much effort or time each one will take to implement. The customer then takes those estimates and prioritizes the list based on what brings the most immediate business value. Here is the critical difference in XP: the team is only planning for the current short cycle. They are not trying to map out the next six months or a year. They simply select the highest-priority stories that safely fit into the upcoming one or two-week window, and that specific batch becomes the goal for the cycle.</a:t>
            </a:r>
          </a:p>
          <a:p>
            <a:r>
              <a:rPr lang="en-US"/>
              <a:t/>
            </a:r>
          </a:p>
          <a:p>
            <a:r>
              <a:rPr lang="en-US"/>
              <a:t>Next, we hit the Coding and Testing phase. On this slide, they are grouped together for a very deliberate reason: in Extreme Programming, they are essentially the exact same phase. They happen simultaneously. As we discussed in detail on the previous slide, developers use Test-Driven Development to write an automated test first, and then write the feature code to make that test pass. They do this intensive work in pairs. Because the automated tests are running continuously in the background, the "testing" phase isn’t a stressful, last-minute scramble at the end of the week. It is a constant, ongoing validation process happening every single second that new code is being typed into the machine.</a:t>
            </a:r>
          </a:p>
          <a:p>
            <a:r>
              <a:rPr lang="en-US"/>
              <a:t/>
            </a:r>
          </a:p>
          <a:p>
            <a:r>
              <a:rPr lang="en-US"/>
              <a:t>Once the code is written and passes all the technical tests and the customer's acceptance tests, the software is ready. The team moves to Small Releases. Instead of holding onto the software for months until a massive, monolithic feature set is completely finished, the team puts this small, functional increment of working software directly into the hands of the actual users. This is a massive milestone because the software goes from being a theoretical concept discussed in meetings to a real, tangible product that provides immediate, measurable value to the business.</a:t>
            </a:r>
          </a:p>
          <a:p>
            <a:r>
              <a:rPr lang="en-US"/>
              <a:t/>
            </a:r>
          </a:p>
          <a:p>
            <a:r>
              <a:rPr lang="en-US"/>
              <a:t>Finally, we reach the most important part of the slide: the Repeat phase. What happens immediately after a small release? The customer takes that newly released software, starts actually using it in their daily operations, and immediately begins generating real-world feedback. They might realize, "This saved payment feature is great, but it would be even better if it also showed loyalty points." This new feedback instantly becomes new requirements. The customer writes new user stories based on this experience, the team goes right back into the planning phase to prioritize them, and the coding begins again. This cycle just keeps looping continuously throughout the entire lifespan of the project. It is this endless, rapid loop of building, releasing, and learning that allows XP to be so responsive to change and ensures the final product is exactly what the user needs.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Benefits:</a:t>
            </a:r>
          </a:p>
          <a:p>
            <a:r>
              <a:rPr lang="en-US"/>
              <a:t>•	Higher Code Quality: Because two sets of eyes look at every line of code (pair programming) and tests are written before the code (TDD), bugs are caught almost immediately. The codebase remains highly stable.</a:t>
            </a:r>
          </a:p>
          <a:p>
            <a:r>
              <a:rPr lang="en-US"/>
              <a:t>•	Faster response to change: Since there are no long-term, rigid plans, if a competitor releases a new feature or the market shifts, the XP team can pivot in the very next 2-week cycle.</a:t>
            </a:r>
          </a:p>
          <a:p>
            <a:r>
              <a:rPr lang="en-US"/>
              <a:t>•	Improved collaboration: XP eliminates the "throw it over the wall" mentality. Developers, testers, and customers work together daily, creating a shared understanding of the project.</a:t>
            </a:r>
          </a:p>
          <a:p>
            <a:r>
              <a:rPr lang="en-US"/>
              <a:t>•	Increased customer satisfaction: Customers don't have to wait 6 months to see a product. They get working software every few weeks, allowing them to provide input and feel in control of the final product.</a:t>
            </a:r>
          </a:p>
          <a:p>
            <a:r>
              <a:rPr lang="en-US"/>
              <a:t>Challenges:</a:t>
            </a:r>
          </a:p>
          <a:p>
            <a:r>
              <a:rPr lang="en-US"/>
              <a:t>•	Costly rework: While XP handles change well, completely scrapping and rewriting large chunks of code because a customer changed their mind can consume a lot of time and budget if not managed carefully.</a:t>
            </a:r>
          </a:p>
          <a:p>
            <a:r>
              <a:rPr lang="en-US"/>
              <a:t>•	Better for small teams: The practices of XP (like everyone knowing the whole codebase and pair programming) become incredibly difficult to coordinate when a team grows beyond 10-12 people.</a:t>
            </a:r>
          </a:p>
          <a:p>
            <a:r>
              <a:rPr lang="en-US"/>
              <a:t>•	Pair programming discomfort: Not all developers thrive in this environment. Introverts may find it draining, and if two developers have conflicting personalities or egos, productivity can actually drop.</a:t>
            </a:r>
          </a:p>
          <a:p>
            <a:r>
              <a:rPr lang="en-US"/>
              <a:t>•	Requires a lot of discipline: XP is not a "free-for-all." If a team gets lazy and stops writing tests first, or stops integrating daily, the entire framework collapses, often resulting in a mess worse than traditional methods.</a:t>
            </a:r>
          </a:p>
          <a:p>
            <a:r>
              <a:rPr lang="en-US"/>
              <a:t/>
            </a:r>
          </a:p>
          <a:p>
            <a:r>
              <a:rPr lang="en-US"/>
              <a:t/>
            </a:r>
          </a:p>
          <a:p>
            <a:r>
              <a:rPr lang="en-US"/>
              <a:t>To successfully implement Extreme Programming (XP), it's crucial to foster a culture of continuous learning and adaptation. Teams should regularly reflect on their processes and be open to feedback, ensuring that they evolve and refine their practices over time. Encouraging open communication and trust among team members can mitigate challenges like pair programming discomfort and coordination in larger teams.</a:t>
            </a:r>
          </a:p>
          <a:p>
            <a:r>
              <a:rPr lang="en-US"/>
              <a:t/>
            </a:r>
          </a:p>
          <a:p>
            <a:r>
              <a:rPr lang="en-US"/>
              <a:t>Moreover, investing in training and mentorship can help developers acclimate to the XP environment, particularly those new to its practices. By prioritizing these aspects, organizations can leverage XP's strengths to deliver high-quality software efficiently, while maintaining flexibility to adapt to changing requirements.</a:t>
            </a:r>
          </a:p>
          <a:p>
            <a:r>
              <a:rPr lang="en-US"/>
              <a:t/>
            </a:r>
          </a:p>
          <a:p>
            <a:r>
              <a:rPr lang="en-US"/>
              <a:t>Organizations should also consider the importance of leadership support and clear vision. Having leaders who understand and champion XP principles can greatly enhance the team's commitment and success. It's essential to establish an environment where experimentation is encouraged and failure is seen as a learning opportunity, rather than a setback.</a:t>
            </a:r>
          </a:p>
          <a:p>
            <a:r>
              <a:rPr lang="en-US"/>
              <a:t/>
            </a:r>
          </a:p>
          <a:p>
            <a:r>
              <a:rPr lang="en-US"/>
              <a:t>Additionally, integrating regular feedback loops with stakeholders can enhance customer satisfaction and ensure that the product aligns with user needs. This approach not only fosters a sense of ownership among customers but also provides valuable insights that can drive innovation and improvement.</a:t>
            </a:r>
          </a:p>
          <a:p>
            <a:r>
              <a:rPr lang="en-US"/>
              <a:t/>
            </a:r>
          </a:p>
          <a:p>
            <a:r>
              <a:rPr lang="en-US"/>
              <a:t>Ultimately, the key to thriving in an XP environment lies in maintaining a balance between structure and flexibility. By embracing change and nurturing a collaborative team spirit, organizations can harness the full potential of Extreme Programming, leading to more responsive, robust, and customer-centric software development.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 order to understand Scaling Agile method more clearly, isa-isahin muna natin yung terms within it. Starting with scaling. What does it mean to scale? It means to grow or shrink something to some proportion. And within agile methodology is  yung scrums and kanban na ginagawa ng mga small-scale companies to create their projects with the patterns of said methods.  </a:t>
            </a:r>
          </a:p>
          <a:p>
            <a:r>
              <a:rPr lang="en-US"/>
              <a:t/>
            </a:r>
          </a:p>
          <a:p>
            <a:r>
              <a:rPr lang="en-US"/>
              <a:t>Since nga as I've mentioned ginagamit sa smaller scale companies yung scrum and kanban. Mahirap siya iimplement sa larger scale companies especially when you are handling hundreds or thousands of people. Imagine handling a scrum for that scale. Mahirap magbigay ng tasks since iisipin mo pa kung paano, Masyadong maraming tao na nagpapahirap para ilead sila and most likely hindi lahat mabibigyan ng gawain and in the end baka masayang pa ang resources given by the company since nga hindi allocated ng maayos yung resources na binigay sa mga tao. </a:t>
            </a:r>
          </a:p>
          <a:p>
            <a:r>
              <a:rPr lang="en-US"/>
              <a:t/>
            </a:r>
          </a:p>
          <a:p>
            <a:r>
              <a:rPr lang="en-US"/>
              <a:t>To be frank, walang iisang Scaling Agile Methodology na babagay sa isang kumpanya. Walang one size fits all na methodology kaya madaming mga frameworks na ginagawa for them to become blueprints for the companies to come. </a:t>
            </a:r>
          </a:p>
          <a:p>
            <a:r>
              <a:rPr lang="en-US"/>
              <a:t/>
            </a:r>
          </a:p>
          <a:p>
            <a:r>
              <a:rPr lang="en-US"/>
              <a:t>Sabihin din natin na nakapili na kayo ng Scaling Agile Methodology na gagamitin ninyo, hindi lang din siya basta basta magagamit ng lahat. It has to be gradual and when it comes to the workers, kailangan na alam din nila kung paano ba  yung mismong sistema ng paraan ng pag gawa nila. Kumbaga may prerequsite bago maimplement itong mga naturang frameworks na to which of course one of them is to know all about the principles of Agile Methodology and kung ano nga ba yung mga nandoon such as kanban and scrums.</a:t>
            </a:r>
          </a:p>
          <a:p>
            <a:r>
              <a:rPr lang="en-US"/>
              <a:t/>
            </a:r>
          </a:p>
          <a:p>
            <a:r>
              <a:rPr lang="en-US"/>
              <a:t>May mga framework din na nakapaloob dito such as SAFe, Nexus, LeSS, and Scrum@Scale na may kanya kanyang strengths since nga may kanya kanyang finifix ang mga frameworks na ito na problem. </a:t>
            </a:r>
          </a:p>
          <a:p>
            <a:r>
              <a:rPr lang="en-US"/>
              <a:t/>
            </a:r>
          </a:p>
          <a:p>
            <a:r>
              <a:rPr lang="en-US"/>
              <a:t>On the next slide, ipapakita natin yung description nila and itatackle nadin yung mismong process for us to be able to fully understand kung paano nga ba gumagana yung iilan sa mga examples na pinakita ko sainyo.  </a:t>
            </a:r>
          </a:p>
          <a:p>
            <a:r>
              <a:rPr lang="en-US"/>
              <a:t/>
            </a:r>
          </a:p>
          <a:p>
            <a:r>
              <a:rPr lang="en-US"/>
              <a:t/>
            </a:r>
          </a:p>
          <a:p>
            <a:r>
              <a:rPr lang="en-US"/>
              <a:t>SAFe (Scaled Agile Framework): SAFe is designed to support enterprises in scaling lean and agile practices. It provides a structured approach to scaling agile across multiple teams, with an emphasis on aligning and synchronizing team efforts. SAFe offers a set of roles, responsibilities, and ceremonies that help ensure all teams are moving in the same direction, fostering collaboration and transparency.</a:t>
            </a:r>
          </a:p>
          <a:p>
            <a:r>
              <a:rPr lang="en-US"/>
              <a:t/>
            </a:r>
          </a:p>
          <a:p>
            <a:r>
              <a:rPr lang="en-US"/>
              <a:t>Nexus: This framework is built upon Scrum, providing a way to scale Scrum for use by multiple teams working on a single product. Nexus emphasizes integration, focusing on managing dependencies and reducing complexity. It introduces the Nexus Integration Team, whose role is to coordinate the work of the Scrum teams and ensure a seamless integration of their outputs.</a:t>
            </a:r>
          </a:p>
          <a:p>
            <a:r>
              <a:rPr lang="en-US"/>
              <a:t/>
            </a:r>
          </a:p>
          <a:p>
            <a:r>
              <a:rPr lang="en-US"/>
              <a:t>LeSS (Large Scale Scrum): LeSS aims to retain the simplicity and essence of Scrum while scaling it for larger groups. The framework is flexible and lightweight, encouraging organizations to strip down to the essential practices that work best for them. LeSS emphasizes the importance of customer-centricity and lean thinking, promoting continuous improvement and learning across teams.</a:t>
            </a:r>
          </a:p>
          <a:p>
            <a:r>
              <a:rPr lang="en-US"/>
              <a:t/>
            </a:r>
          </a:p>
          <a:p>
            <a:r>
              <a:rPr lang="en-US"/>
              <a:t>Scrum@Scale: This framework allows you to scale Scrum by using a modular approach, enabling organizations to scale incrementally and according to their specific needs. Scrum@Scale focuses on decentralizing decision-making and empowering teams, thereby increasing efficiency and effectiveness throughout the organization.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dito para sa SAFe, syempre everything naman starts with planning. Pero dito there are multiple teams na iba iba ang mga scrum master na naglelead. Tapos may leader pa sila which are most likely yung mga may vision for the product such as yung product owner. </a:t>
            </a:r>
          </a:p>
          <a:p>
            <a:r>
              <a:rPr lang="en-US"/>
              <a:t/>
            </a:r>
          </a:p>
          <a:p>
            <a:r>
              <a:rPr lang="en-US"/>
              <a:t>Everyone na may mga hawak na tao is nagmemeeting for them to understand kung ano ba yung  mga dapat na iimplement, kung paano iimplement, kung kaninong team yung dapat gagawa ng gantong feature and whatnot. </a:t>
            </a:r>
          </a:p>
          <a:p>
            <a:r>
              <a:rPr lang="en-US"/>
              <a:t/>
            </a:r>
          </a:p>
          <a:p>
            <a:r>
              <a:rPr lang="en-US"/>
              <a:t>With this meeting makikita nila kung paano mag aalign yung mga tauhan nila para mareach yung mga kinakailangan na mga features na ibinigay ng product owners to give them the product that they need. </a:t>
            </a:r>
          </a:p>
          <a:p>
            <a:r>
              <a:rPr lang="en-US"/>
              <a:t/>
            </a:r>
          </a:p>
          <a:p>
            <a:r>
              <a:rPr lang="en-US"/>
              <a:t/>
            </a:r>
          </a:p>
          <a:p>
            <a:r>
              <a:rPr lang="en-US"/>
              <a:t>Ang main advantage nito ofcourse is naaallocate ng maayos yung mga resources and hindi nasasayang dahil sa pag gawa ng mali since nabibigay ng tama yung mga tasks for the different teams to handle. </a:t>
            </a:r>
          </a:p>
          <a:p>
            <a:r>
              <a:rPr lang="en-US"/>
              <a:t/>
            </a:r>
          </a:p>
          <a:p>
            <a:r>
              <a:rPr lang="en-US"/>
              <a:t>Sa LeSS or Large Scale Scrum naman, lahat ng mga scrums ay bibigyan lang ng iisang backlog, and then gagawin na ng mga teams yun to build a product. </a:t>
            </a:r>
          </a:p>
          <a:p>
            <a:r>
              <a:rPr lang="en-US"/>
              <a:t/>
            </a:r>
          </a:p>
          <a:p>
            <a:r>
              <a:rPr lang="en-US"/>
              <a:t>Sa LeSS sobrang flexible, kasi tinatanggal yung pagkakaroon ng organizational complexity, Yung sinasabi nating  organizational complexity dito is yung mga other managers and kung sino pang mga middleman na in this case is nagpapatagal lang ng mga changes. </a:t>
            </a:r>
          </a:p>
          <a:p>
            <a:r>
              <a:rPr lang="en-US"/>
              <a:t/>
            </a:r>
          </a:p>
          <a:p>
            <a:r>
              <a:rPr lang="en-US"/>
              <a:t>Kumpara sa SAFe, mas less leader roles, thus more working para sa mga developers para magawa yung mga features na magagawa in the future. </a:t>
            </a:r>
          </a:p>
          <a:p>
            <a:r>
              <a:rPr lang="en-US"/>
              <a:t/>
            </a:r>
          </a:p>
          <a:p>
            <a:r>
              <a:rPr lang="en-US"/>
              <a:t>Kasi minsan sobrang strict ng mga kumpanya na magmanage ang nangyayari is nasasakal yung mga employees due to not being able to do what they want kahit na yun yung best for that app as a whole.</a:t>
            </a:r>
          </a:p>
          <a:p>
            <a:r>
              <a:rPr lang="en-US"/>
              <a:t/>
            </a:r>
          </a:p>
          <a:p>
            <a:r>
              <a:rPr lang="en-US"/>
              <a:t>Dito naman para sa nexus framework, it is more on smart managing and distributing of tasks. Ang ginagawa dito is for example. Gagawa tayo ng shopping app, isang team   para sa mismong paggawa ng shopping system,isa para sa profile system, isang team para sa pag gawa ng ui, isang team para sa  and whatnot. Ngayon base sa paghahati na yun, magkakaroon ng dependencies, kasi nga paano magagawa yung shopping system if yung profile/user system natin is hindi pa nagana ? </a:t>
            </a:r>
          </a:p>
          <a:p>
            <a:r>
              <a:rPr lang="en-US"/>
              <a:t/>
            </a:r>
          </a:p>
          <a:p>
            <a:r>
              <a:rPr lang="en-US"/>
              <a:t>Ang pinakapoint lang ng nexus framework is smart planning, less dependencies, less time wasted since lahat ng mga tao is nagwowork together as a whole to create the project. Walang maiiwan kung sakaling may hindi pa natatapos na maimplement. </a:t>
            </a:r>
          </a:p>
          <a:p>
            <a:r>
              <a:rPr lang="en-US"/>
              <a:t/>
            </a:r>
          </a:p>
          <a:p>
            <a:r>
              <a:rPr lang="en-US"/>
              <a:t>Sa scrum@scale, each team is may leader, and yung leaders na yun is hawak ng another team wherein sa shared meeting na yun ay nag uusap sila kung paano mafix kunyare yung mga hurdle na finaface nung group na may mga hawak dun. Kumbaga parang trees sa DSA natin to, yung root node may problema, tutulong yung leaf nodes niya by having these meetings para maayos and magawa ng each leaf node yung mga part na dapat nasa group nila.</a:t>
            </a:r>
          </a:p>
          <a:p>
            <a:r>
              <a:rPr lang="en-US"/>
              <a:t/>
            </a:r>
          </a:p>
          <a:p>
            <a:r>
              <a:rPr lang="en-US"/>
              <a:t>It is more on the disconnect sa management and developers ang finifix ng scrum@scale kasi nga marami ang hawak na tao dito, maraming mga features, maraming mga kayang gumawa nun when you distribute them to do in specific teams, and within those teams, spread the tasks needed to finish said problem or feature.</a:t>
            </a:r>
          </a:p>
          <a:p>
            <a:r>
              <a:rPr lang="en-US"/>
              <a:t/>
            </a:r>
          </a:p>
          <a:p>
            <a:r>
              <a:rPr lang="en-US"/>
              <a:t/>
            </a:r>
          </a:p>
          <a:p>
            <a:r>
              <a:rPr lang="en-US"/>
              <a:t>In essence, these frameworks—SAFe, LeSS, Nexus, and Scrum@Scale—each offer unique approaches to managing large-scale agile projects. They cater to different organizational needs and structures, aiming to enhance efficiency, communication, and collaboration among teams.</a:t>
            </a:r>
          </a:p>
          <a:p>
            <a:r>
              <a:rPr lang="en-US"/>
              <a:t/>
            </a:r>
          </a:p>
          <a:p>
            <a:r>
              <a:rPr lang="en-US"/>
              <a:t>SAFe emphasizes structured planning and alignment across multiple teams, providing a clear hierarchy and ensuring that everyone is on the same page. This can be particularly beneficial in larger organizations where maintaining consistency and strategic alignment is crucial.</a:t>
            </a:r>
          </a:p>
          <a:p>
            <a:r>
              <a:rPr lang="en-US"/>
              <a:t/>
            </a:r>
          </a:p>
          <a:p>
            <a:r>
              <a:rPr lang="en-US"/>
              <a:t>LeSS simplifies the process by reducing the number of managerial layers, allowing teams to work more autonomously and flexibly. This approach can lead to faster decision-making and increased innovation, as teams are empowered to act swiftly without bureaucratic delays.</a:t>
            </a:r>
          </a:p>
          <a:p>
            <a:r>
              <a:rPr lang="en-US"/>
              <a:t/>
            </a:r>
          </a:p>
          <a:p>
            <a:r>
              <a:rPr lang="en-US"/>
              <a:t>The Nexus framework focuses on minimizing dependencies and fostering collaboration, ensuring that all teams work cohesively towards a common goal. By smartly managing and distributing tasks, Nexus helps prevent bottlenecks and delays, allowing for smoother project progression.</a:t>
            </a:r>
          </a:p>
          <a:p>
            <a:r>
              <a:rPr lang="en-US"/>
              <a:t/>
            </a:r>
          </a:p>
          <a:p>
            <a:r>
              <a:rPr lang="en-US"/>
              <a:t>Scrum@Scale, on the other hand, addresses the challenges of scaling Scrum by creating a network of interdependent teams that communicate effectively to resolve issues. It enhances the connection between management and developers, ensuring that obstacles are quickly identified and addressed.</a:t>
            </a:r>
          </a:p>
          <a:p>
            <a:r>
              <a:rPr lang="en-US"/>
              <a:t/>
            </a:r>
          </a:p>
          <a:p>
            <a:r>
              <a:rPr lang="en-US"/>
              <a:t>Ultimately, the choice of framework depends on the specific needs and dynamics of an organization. By understanding the strengths and focus areas of each, companies can select the approach that best supports their goals and operational style, leading to successful project outcomes and a more harmonious working environment.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ngayon, titingnan na natin yung actual na proseso ng bawat framework. Yung mga diagram na nakikita ninyo sa slide ay nagpapakita kung paano nga ba gumagana ang bawat isa sa kanila in practice.</a:t>
            </a:r>
          </a:p>
          <a:p>
            <a:r>
              <a:rPr lang="en-US"/>
              <a:t/>
            </a:r>
          </a:p>
          <a:p>
            <a:r>
              <a:rPr lang="en-US"/>
              <a:t>Sisimulan natin sa SAFe.Syempre, everything starts with planning. Pero yung unique sa SAFe is mayroon kang multiple teams, at bawat team ay may sariling Scrum Master na naglelead sa kanila. Tapos may mas mataas pang level ng leadership, which are yung mga may vision for the product, like the Product Owner. Lahat ng may hawak na tao ay nagmemeeting together para malaman nila kung ano yung mga dapat i-implement, paano i-implement, at kung saang team dapat mapunta yung bawat feature. Para ma-gets natin ito, mag-eexample tayo. Sabihin nating gumagawa kayo ng isang malaking banking app. May isang team para sa login and security, may isa para sa transactions, may isa para sa customer support features, at iba pa. Sa SAFe, lahat ng team leads at product owners ay magkakasama sa isang malaking planning meeting para malaman nila kung sino ang gagawa ng ano, at paano mag-a-align yung lahat ng ginagawa nila para mabuo yung isang maayos na produkto. Kaya yung pinakamagandang advantage nito is naaallocate ng tama yung resources, walang nasasayang, at nabibigay ng tama yung tasks sa tamang teams.</a:t>
            </a:r>
          </a:p>
          <a:p>
            <a:r>
              <a:rPr lang="en-US"/>
              <a:t/>
            </a:r>
          </a:p>
          <a:p>
            <a:r>
              <a:rPr lang="en-US"/>
              <a:t>Susunod, yung LeSS or Large-Scale Scrum. Dito, lahat ng teams ay bibigyan ng iisang shared backlog, at sama-sama nilang bubuuin yung product mula doon. Yung pinaka-defining characteristic ng LeSS is yung flexibility niya. Tinatanggal niya yung organizational complexity, meaning tinatanggal yung mga layers ng managers at middlemen na madalas ay nagpapatagal lang ng mga desisyon at changes. Para ma-imagine natin ito, kunwari gumagawa kayo ng social media app. Sa ibang setup, pag gusto ng developer na baguhin yung isang feature, kailangan pa nilang dumaan sa team lead, tapos sa manager, tapos sa another manager bago ma-approve. Sa LeSS, mas maikli yung chain. Mas kaunti yung leader roles, kaya mas maraming oras at energy ang napupunta sa actual na pag-gawa ng features. Kasi minsan, yung sobrang strictness ng management ang nagse-choke sa mga developers, kahit na yung gusto nilang gawin ay yung pinakamaganda para sa product as a whole.</a:t>
            </a:r>
          </a:p>
          <a:p>
            <a:r>
              <a:rPr lang="en-US"/>
              <a:t/>
            </a:r>
          </a:p>
          <a:p>
            <a:r>
              <a:rPr lang="en-US"/>
              <a:t>Ngayon para sa Nexus Framework, ito ay mas nakatuon sa smart managing at distributing ng tasks. Yung key idea dito ay pag-minimize ng dependencies sa pagitan ng mga teams. Halimbawa, gumagawa tayo ng shopping app. May isang team para sa shopping system, isang team para sa profile and user system, isang team para sa UI, at isang team para sa payment system. Ngayon, obvious na may dependency dito, di ba? Paano magagawa ng shopping system yung checkout kung yung payment system ay hindi pa tapos? Sa Nexus, yung smart planning ay tinitiyak na alam ng lahat kung ano ang dapat matapos muna bago simulan ng ibang team yung susunod nilang trabaho. Kaya lahat ay nagtatrabaho nang magkakasabay bilang isang malaking grupo, walang maiiwan, at walang time na nasasayang dahil naghihintay sa isang team na matapos ang kanilang part.</a:t>
            </a:r>
          </a:p>
          <a:p>
            <a:r>
              <a:rPr lang="en-US"/>
              <a:t/>
            </a:r>
          </a:p>
          <a:p>
            <a:r>
              <a:rPr lang="en-US"/>
              <a:t>At panghuli, yung Scrum@Scale. Dito, bawat team ay may sariling leader, at yung mga leaders na yun ay hawak ng another team. Sa shared meetings, yung mga leaders ay nagtatagpo para pag-usapan kung paano masosolusyunan yung mga hurdles na nararamdaman ng bawat grupo. Para mas madaling maintindihan, isipin mo yung trees sa data structures. Yung root node may problema, so tinutulungan siya ng leaf nodes niya sa pamamagitan ng mga meetings para maayos yung problema at magawa ng bawat leaf node yung part na nasa kanila. Konkretong halimbawa, kunwari may isang team na nahihirapan sa pag-implement ng notification system ng isang app. Sa Scrum@Scale, hindi lang sila nag-iisa, kasi yung leader nila ay magre-raise ng issue sa shared meeting, at yung ibang teams ay maaaring makapag-contribute ng solusyon o resources para matulungan sila. Basically, ito yung pina-fix ng Scrum@Scale, yung disconnect sa pagitan ng management at developers, para lahat ay magkakasabay, maayos na nacocommunicate ang mga problema, at mabilis na narereso ang mga issues.</a:t>
            </a:r>
          </a:p>
          <a:p>
            <a:r>
              <a:rPr lang="en-US"/>
              <a:t/>
            </a:r>
          </a:p>
          <a:p>
            <a:r>
              <a:rPr lang="en-US"/>
              <a:t>So in summary, bawat framework ay may kanya-kanyang paraan ng pag-address sa challenges ng large-scale Agile. SAFe para sa structured at aligned na planning, LeSS para sa flexibility at less bureaucracy, Nexus para sa smart task distribution at less dependencies, at Scrum@Scale para sa better communication sa pagitan ng management at developers. At depende sa pangangailangan ng inyong kumpanya, isa sa mga ito ang maaaring maging pinakamagandang blueprint para sa inyo.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ngayon naman, pag-usapan natin yung mga challenges na kakaharapin ninyo kapag nag-implement kayo ng Scaling Agile Methods. And importante na malaman ninyo ito kasi generalized na to para sa lahat ng frameworks na tinackle natin kanina. Wala kasing isang Scaling Agile Method na kayang ayusin ang lahat ng challenges na ito nang sabay-sabay. Kung mag-aaral ka ng mabuti sa mga frameworks na yun, mapapansin mo na paisa-isa lang talaga ang nifi-fix nila, o minimitigate lang nila yung impact, hindi completely naaalis.</a:t>
            </a:r>
          </a:p>
          <a:p>
            <a:r>
              <a:rPr lang="en-US"/>
              <a:t/>
            </a:r>
          </a:p>
          <a:p>
            <a:r>
              <a:rPr lang="en-US"/>
              <a:t>Una, yung Resistance to Change. Ito yung isa sa pinaka-common na challenges na mahaharap ninyo. Hindi lahat ng tao ay komportable sa pagbabago, lalo na yung mga taong matagal na sa kumpanya at sanay na sa dati nilang paraan ng pagtatrabaho. Halimbawa, kunwari yung isang developer na sampung taon nang gumagamit ng kanilang lumang project management system. Tapos biglang sasabihin ng management na lilipat na sila sa SAFe. Syempre, yung developer na yun ay magtatanong, "Ayos naman yung ginagawa namin dati, bakit pa kailangang baguhin?" And yun yung problema. Kahit gaano kaganda yung framework na pinili ninyo, kung hindi bukas ang mga tao sa pagbabago, mahihirapan kayong i-implement ito nang maayos.</a:t>
            </a:r>
          </a:p>
          <a:p>
            <a:r>
              <a:rPr lang="en-US"/>
              <a:t/>
            </a:r>
          </a:p>
          <a:p>
            <a:r>
              <a:rPr lang="en-US"/>
              <a:t>Pangalawa, yung Teams Getting in Each Other's Way. Kapag maraming teams ang nagtatrabaho sa iisang malaking project, madalas na nagkakaroon ng overlap sa trabaho. Halimbawa, kunwari gumagawa kayo ng isang e-commerce app. Yung team na responsable sa UI ay nagsimulang mag-implement ng sarili nilang version ng checkout page, pero yung backend team ay gumagawa din ng kanilang sariling version ng parehong feature nang hindi nila alam. Sa huli, dalawang beses ginawa yung iisang bagay, nasayang yung oras at resources, at nagkaroon pa ng conflict kung alin yung gagamitin. </a:t>
            </a:r>
          </a:p>
          <a:p>
            <a:r>
              <a:rPr lang="en-US"/>
              <a:t/>
            </a:r>
          </a:p>
          <a:p>
            <a:r>
              <a:rPr lang="en-US"/>
              <a:t>Pangatlo, yung Communication Breakdown. Habang lumalaki yung organisasyon, lumalaki din yung tsansa na hindi maayos na maiparating yung impormasyon sa lahat. Halimbawa, may desisyon na ginawa ang product owner na baguhin yung isang malaking feature. Sinabi niya sa team lead, sinabi ng team lead sa kanyang mga developers, pero yung ibang teams na apektado din pala ay hindi naabisuhan. Tapos isang sprint na ang lumipas bago nila nalaman na kailangan pala nilang baguhin yung ginagawa nila. Yung Scrum@Scale ay tumutulong dito sa pamamagitan ng shared meetings, pero kahit ganoon, hindi pa rin nito garantisado na lahat ng impormasyon ay maayos na naihahatid sa bawat miyembro ng bawat team.</a:t>
            </a:r>
          </a:p>
          <a:p>
            <a:r>
              <a:rPr lang="en-US"/>
              <a:t>Pang-apat, yung Managing Access Permissions. Ito ay nagiging sobrang chaotic at risky kapag daan-daan na ang mga developers na nagtatrabaho sa iba't ibang systems nang sabay-sabay. Halimbawa, kunwari may isang developer na nag-accidentally na-access yung production database ng ibang team dahil hindi maayos na na-set yung kanilang permissions. Yung isang maling galaw doon ay maaaring makapag-corrupt ng data o makapag-expose ng sensitive na impormasyon. At habang dumarami ang tao at systems, dumarami din ang ganitong panganib. Walang framework sa ating tinackle na direktang nag-a-address nito, kaya ito ay isang challenge na kailangan pang harapin ng kumpanya mismo sa labas ng framework.</a:t>
            </a:r>
          </a:p>
          <a:p>
            <a:r>
              <a:rPr lang="en-US"/>
              <a:t/>
            </a:r>
          </a:p>
          <a:p>
            <a:r>
              <a:rPr lang="en-US"/>
              <a:t>At panghuli, yung Mandatory Security Audits and Compliance Checks. Kapag maraming teams ang involved, yung bawat security audit at compliance check ay kailangan na i-coordinate sa lahat ng teams bago makapag-release ng software. Halimbawa, gumagawa kayo ng isang healthcare app na kailangan sumunod sa mahigpit na regulasyon. Bago makapag-release ng kahit anong update, kailangan munang ma-audit ng security team yung code ng bawat team, ma-verify na compliant ito sa lahat ng required standards, at ma-approve ng management. Yung prosesong yun ay maaaring tumagal ng ilang linggo o kahit ilang buwan, na nagre-result sa sobrang bagal ng software release times. At muli, kahit aling framework ang ginagamit ninyo, hindi nito maiwasan ang ganitong challenge, minimitigate lang niya kung gaano kabagal yung proseso.</a:t>
            </a:r>
          </a:p>
          <a:p>
            <a:r>
              <a:rPr lang="en-US"/>
              <a:t/>
            </a:r>
          </a:p>
          <a:p>
            <a:r>
              <a:rPr lang="en-US"/>
              <a:t>So as you can see, yung mga challenges na ito ay hindi lang simpleng problema na masosolusyunan ng isang framework. Kaya nga importante na kapag pumipili kayo ng Scaling Agile Method, alam ninyo kung ano yung mga pangunahing challenges ng inyong organisasyon, para makapili kayo ng framework na pinaka-makakatulong sa inyong sitwasyon, kahit hindi nito masosolusyunan ang lahat.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6.png" Type="http://schemas.openxmlformats.org/officeDocument/2006/relationships/image"/><Relationship Id="rId4"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6.png" Type="http://schemas.openxmlformats.org/officeDocument/2006/relationships/image"/><Relationship Id="rId4" Target="../media/image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6.png" Type="http://schemas.openxmlformats.org/officeDocument/2006/relationships/image"/><Relationship Id="rId4" Target="../media/image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6.png" Type="http://schemas.openxmlformats.org/officeDocument/2006/relationships/image"/><Relationship Id="rId4" Target="../media/image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6.png" Type="http://schemas.openxmlformats.org/officeDocument/2006/relationships/image"/><Relationship Id="rId4" Target="../media/image7.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6.png" Type="http://schemas.openxmlformats.org/officeDocument/2006/relationships/image"/><Relationship Id="rId4" Target="../media/image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6.png" Type="http://schemas.openxmlformats.org/officeDocument/2006/relationships/image"/><Relationship Id="rId4" Target="../media/image7.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6.png" Type="http://schemas.openxmlformats.org/officeDocument/2006/relationships/image"/><Relationship Id="rId4" Target="../media/image7.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6.png" Type="http://schemas.openxmlformats.org/officeDocument/2006/relationships/image"/><Relationship Id="rId4" Target="../media/image7.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6.png" Type="http://schemas.openxmlformats.org/officeDocument/2006/relationships/image"/><Relationship Id="rId4" Target="../media/image7.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6.png" Type="http://schemas.openxmlformats.org/officeDocument/2006/relationships/image"/><Relationship Id="rId4" Target="../media/image7.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6.png" Type="http://schemas.openxmlformats.org/officeDocument/2006/relationships/image"/><Relationship Id="rId4" Target="../media/image7.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6.png" Type="http://schemas.openxmlformats.org/officeDocument/2006/relationships/image"/><Relationship Id="rId4" Target="../media/image7.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6.png" Type="http://schemas.openxmlformats.org/officeDocument/2006/relationships/image"/><Relationship Id="rId4" Target="../media/image7.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6.png" Type="http://schemas.openxmlformats.org/officeDocument/2006/relationships/image"/><Relationship Id="rId4" Target="../media/image7.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10.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11.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464884" y="0"/>
            <a:ext cx="5823116" cy="10287000"/>
            <a:chOff x="0" y="0"/>
            <a:chExt cx="7764155" cy="13716000"/>
          </a:xfrm>
        </p:grpSpPr>
        <p:pic>
          <p:nvPicPr>
            <p:cNvPr name="Picture 3" id="3"/>
            <p:cNvPicPr>
              <a:picLocks noChangeAspect="true"/>
            </p:cNvPicPr>
            <p:nvPr/>
          </p:nvPicPr>
          <p:blipFill>
            <a:blip r:embed="rId2"/>
            <a:srcRect l="25000" t="-27021" r="32730" b="-22322"/>
            <a:stretch>
              <a:fillRect/>
            </a:stretch>
          </p:blipFill>
          <p:spPr>
            <a:xfrm flipH="false" flipV="false">
              <a:off x="0" y="0"/>
              <a:ext cx="7764155" cy="13716000"/>
            </a:xfrm>
            <a:prstGeom prst="rect">
              <a:avLst/>
            </a:prstGeom>
          </p:spPr>
        </p:pic>
      </p:grpSp>
      <p:grpSp>
        <p:nvGrpSpPr>
          <p:cNvPr name="Group 4" id="4"/>
          <p:cNvGrpSpPr/>
          <p:nvPr/>
        </p:nvGrpSpPr>
        <p:grpSpPr>
          <a:xfrm rot="0">
            <a:off x="1028700" y="755245"/>
            <a:ext cx="546910" cy="546910"/>
            <a:chOff x="0" y="0"/>
            <a:chExt cx="6350000" cy="6350000"/>
          </a:xfrm>
        </p:grpSpPr>
        <p:sp>
          <p:nvSpPr>
            <p:cNvPr name="Freeform 5" id="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566A8"/>
            </a:solidFill>
          </p:spPr>
        </p:sp>
      </p:grpSp>
      <p:sp>
        <p:nvSpPr>
          <p:cNvPr name="Freeform 6" id="6"/>
          <p:cNvSpPr/>
          <p:nvPr/>
        </p:nvSpPr>
        <p:spPr>
          <a:xfrm flipH="false" flipV="false" rot="-594184">
            <a:off x="1146280" y="918811"/>
            <a:ext cx="319737" cy="256589"/>
          </a:xfrm>
          <a:custGeom>
            <a:avLst/>
            <a:gdLst/>
            <a:ahLst/>
            <a:cxnLst/>
            <a:rect r="r" b="b" t="t" l="l"/>
            <a:pathLst>
              <a:path h="256589" w="319737">
                <a:moveTo>
                  <a:pt x="0" y="0"/>
                </a:moveTo>
                <a:lnTo>
                  <a:pt x="319737" y="0"/>
                </a:lnTo>
                <a:lnTo>
                  <a:pt x="319737" y="256589"/>
                </a:lnTo>
                <a:lnTo>
                  <a:pt x="0" y="25658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6866452" y="757227"/>
            <a:ext cx="392848" cy="97855"/>
          </a:xfrm>
          <a:custGeom>
            <a:avLst/>
            <a:gdLst/>
            <a:ahLst/>
            <a:cxnLst/>
            <a:rect r="r" b="b" t="t" l="l"/>
            <a:pathLst>
              <a:path h="97855" w="392848">
                <a:moveTo>
                  <a:pt x="0" y="0"/>
                </a:moveTo>
                <a:lnTo>
                  <a:pt x="392848" y="0"/>
                </a:lnTo>
                <a:lnTo>
                  <a:pt x="392848" y="97855"/>
                </a:lnTo>
                <a:lnTo>
                  <a:pt x="0" y="9785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1759558" y="944155"/>
            <a:ext cx="2079468" cy="234475"/>
          </a:xfrm>
          <a:prstGeom prst="rect">
            <a:avLst/>
          </a:prstGeom>
        </p:spPr>
        <p:txBody>
          <a:bodyPr anchor="t" rtlCol="false" tIns="0" lIns="0" bIns="0" rIns="0">
            <a:spAutoFit/>
          </a:bodyPr>
          <a:lstStyle/>
          <a:p>
            <a:pPr algn="l">
              <a:lnSpc>
                <a:spcPts val="1731"/>
              </a:lnSpc>
            </a:pPr>
            <a:r>
              <a:rPr lang="en-US" sz="1731">
                <a:solidFill>
                  <a:srgbClr val="1566A8"/>
                </a:solidFill>
                <a:latin typeface="HK Grotesk"/>
                <a:ea typeface="HK Grotesk"/>
                <a:cs typeface="HK Grotesk"/>
                <a:sym typeface="HK Grotesk"/>
              </a:rPr>
              <a:t>GROUP 2</a:t>
            </a:r>
          </a:p>
        </p:txBody>
      </p:sp>
      <p:sp>
        <p:nvSpPr>
          <p:cNvPr name="TextBox 9" id="9"/>
          <p:cNvSpPr txBox="true"/>
          <p:nvPr/>
        </p:nvSpPr>
        <p:spPr>
          <a:xfrm rot="0">
            <a:off x="1126598" y="2901625"/>
            <a:ext cx="11062061" cy="3800470"/>
          </a:xfrm>
          <a:prstGeom prst="rect">
            <a:avLst/>
          </a:prstGeom>
        </p:spPr>
        <p:txBody>
          <a:bodyPr anchor="t" rtlCol="false" tIns="0" lIns="0" bIns="0" rIns="0">
            <a:spAutoFit/>
          </a:bodyPr>
          <a:lstStyle/>
          <a:p>
            <a:pPr algn="l">
              <a:lnSpc>
                <a:spcPts val="14849"/>
              </a:lnSpc>
            </a:pPr>
            <a:r>
              <a:rPr lang="en-US" sz="13499">
                <a:solidFill>
                  <a:srgbClr val="1566A8"/>
                </a:solidFill>
                <a:latin typeface="Anton"/>
                <a:ea typeface="Anton"/>
                <a:cs typeface="Anton"/>
                <a:sym typeface="Anton"/>
              </a:rPr>
              <a:t>AGILE METHODOLOGIES</a:t>
            </a:r>
          </a:p>
        </p:txBody>
      </p:sp>
      <p:sp>
        <p:nvSpPr>
          <p:cNvPr name="TextBox 10" id="10"/>
          <p:cNvSpPr txBox="true"/>
          <p:nvPr/>
        </p:nvSpPr>
        <p:spPr>
          <a:xfrm rot="0">
            <a:off x="1306149" y="7058286"/>
            <a:ext cx="5338051" cy="1998980"/>
          </a:xfrm>
          <a:prstGeom prst="rect">
            <a:avLst/>
          </a:prstGeom>
        </p:spPr>
        <p:txBody>
          <a:bodyPr anchor="t" rtlCol="false" tIns="0" lIns="0" bIns="0" rIns="0">
            <a:spAutoFit/>
          </a:bodyPr>
          <a:lstStyle/>
          <a:p>
            <a:pPr algn="l">
              <a:lnSpc>
                <a:spcPts val="3219"/>
              </a:lnSpc>
            </a:pPr>
            <a:r>
              <a:rPr lang="en-US" sz="2299" spc="114" b="true">
                <a:solidFill>
                  <a:srgbClr val="3D291F"/>
                </a:solidFill>
                <a:latin typeface="HK Grotesk Medium"/>
                <a:ea typeface="HK Grotesk Medium"/>
                <a:cs typeface="HK Grotesk Medium"/>
                <a:sym typeface="HK Grotesk Medium"/>
              </a:rPr>
              <a:t>BENITEZ</a:t>
            </a:r>
          </a:p>
          <a:p>
            <a:pPr algn="l">
              <a:lnSpc>
                <a:spcPts val="3219"/>
              </a:lnSpc>
            </a:pPr>
            <a:r>
              <a:rPr lang="en-US" sz="2299" spc="114" b="true">
                <a:solidFill>
                  <a:srgbClr val="3D291F"/>
                </a:solidFill>
                <a:latin typeface="HK Grotesk Medium"/>
                <a:ea typeface="HK Grotesk Medium"/>
                <a:cs typeface="HK Grotesk Medium"/>
                <a:sym typeface="HK Grotesk Medium"/>
              </a:rPr>
              <a:t>CO</a:t>
            </a:r>
          </a:p>
          <a:p>
            <a:pPr algn="l">
              <a:lnSpc>
                <a:spcPts val="3219"/>
              </a:lnSpc>
            </a:pPr>
            <a:r>
              <a:rPr lang="en-US" sz="2299" spc="114" b="true">
                <a:solidFill>
                  <a:srgbClr val="3D291F"/>
                </a:solidFill>
                <a:latin typeface="HK Grotesk Medium"/>
                <a:ea typeface="HK Grotesk Medium"/>
                <a:cs typeface="HK Grotesk Medium"/>
                <a:sym typeface="HK Grotesk Medium"/>
              </a:rPr>
              <a:t>DIOSO</a:t>
            </a:r>
          </a:p>
          <a:p>
            <a:pPr algn="l">
              <a:lnSpc>
                <a:spcPts val="3219"/>
              </a:lnSpc>
            </a:pPr>
            <a:r>
              <a:rPr lang="en-US" sz="2299" spc="114" b="true">
                <a:solidFill>
                  <a:srgbClr val="3D291F"/>
                </a:solidFill>
                <a:latin typeface="HK Grotesk Medium"/>
                <a:ea typeface="HK Grotesk Medium"/>
                <a:cs typeface="HK Grotesk Medium"/>
                <a:sym typeface="HK Grotesk Medium"/>
              </a:rPr>
              <a:t>MAIK</a:t>
            </a:r>
          </a:p>
          <a:p>
            <a:pPr algn="l">
              <a:lnSpc>
                <a:spcPts val="3219"/>
              </a:lnSpc>
              <a:spcBef>
                <a:spcPct val="0"/>
              </a:spcBef>
            </a:pPr>
            <a:r>
              <a:rPr lang="en-US" b="true" sz="2299" spc="114">
                <a:solidFill>
                  <a:srgbClr val="3D291F"/>
                </a:solidFill>
                <a:latin typeface="HK Grotesk Medium"/>
                <a:ea typeface="HK Grotesk Medium"/>
                <a:cs typeface="HK Grotesk Medium"/>
                <a:sym typeface="HK Grotesk Medium"/>
              </a:rPr>
              <a:t>REBAMBA</a:t>
            </a:r>
          </a:p>
        </p:txBody>
      </p:sp>
      <p:sp>
        <p:nvSpPr>
          <p:cNvPr name="TextBox 11" id="11"/>
          <p:cNvSpPr txBox="true"/>
          <p:nvPr/>
        </p:nvSpPr>
        <p:spPr>
          <a:xfrm rot="0">
            <a:off x="16764288" y="9286856"/>
            <a:ext cx="495012" cy="234401"/>
          </a:xfrm>
          <a:prstGeom prst="rect">
            <a:avLst/>
          </a:prstGeom>
        </p:spPr>
        <p:txBody>
          <a:bodyPr anchor="t" rtlCol="false" tIns="0" lIns="0" bIns="0" rIns="0">
            <a:spAutoFit/>
          </a:bodyPr>
          <a:lstStyle/>
          <a:p>
            <a:pPr algn="r">
              <a:lnSpc>
                <a:spcPts val="1731"/>
              </a:lnSpc>
            </a:pPr>
            <a:r>
              <a:rPr lang="en-US" sz="1731">
                <a:solidFill>
                  <a:srgbClr val="FFFFFF"/>
                </a:solidFill>
                <a:latin typeface="HK Grotesk"/>
                <a:ea typeface="HK Grotesk"/>
                <a:cs typeface="HK Grotesk"/>
                <a:sym typeface="HK Grotesk"/>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176614" y="806117"/>
            <a:ext cx="392848" cy="97855"/>
          </a:xfrm>
          <a:custGeom>
            <a:avLst/>
            <a:gdLst/>
            <a:ahLst/>
            <a:cxnLst/>
            <a:rect r="r" b="b" t="t" l="l"/>
            <a:pathLst>
              <a:path h="97855" w="392848">
                <a:moveTo>
                  <a:pt x="0" y="0"/>
                </a:moveTo>
                <a:lnTo>
                  <a:pt x="392848" y="0"/>
                </a:lnTo>
                <a:lnTo>
                  <a:pt x="392848" y="97855"/>
                </a:lnTo>
                <a:lnTo>
                  <a:pt x="0" y="978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1759558" y="834692"/>
            <a:ext cx="848550" cy="453402"/>
          </a:xfrm>
          <a:prstGeom prst="rect">
            <a:avLst/>
          </a:prstGeom>
        </p:spPr>
        <p:txBody>
          <a:bodyPr anchor="t" rtlCol="false" tIns="0" lIns="0" bIns="0" rIns="0">
            <a:spAutoFit/>
          </a:bodyPr>
          <a:lstStyle/>
          <a:p>
            <a:pPr algn="l">
              <a:lnSpc>
                <a:spcPts val="1731"/>
              </a:lnSpc>
            </a:pPr>
            <a:r>
              <a:rPr lang="en-US" sz="1731" b="true">
                <a:solidFill>
                  <a:srgbClr val="FFFFFF"/>
                </a:solidFill>
                <a:latin typeface="HK Grotesk Medium"/>
                <a:ea typeface="HK Grotesk Medium"/>
                <a:cs typeface="HK Grotesk Medium"/>
                <a:sym typeface="HK Grotesk Medium"/>
              </a:rPr>
              <a:t>YOUR</a:t>
            </a:r>
          </a:p>
          <a:p>
            <a:pPr algn="l">
              <a:lnSpc>
                <a:spcPts val="1731"/>
              </a:lnSpc>
            </a:pPr>
            <a:r>
              <a:rPr lang="en-US" b="true" sz="1731">
                <a:solidFill>
                  <a:srgbClr val="FFFFFF"/>
                </a:solidFill>
                <a:latin typeface="HK Grotesk Medium"/>
                <a:ea typeface="HK Grotesk Medium"/>
                <a:cs typeface="HK Grotesk Medium"/>
                <a:sym typeface="HK Grotesk Medium"/>
              </a:rPr>
              <a:t>LOGO</a:t>
            </a:r>
          </a:p>
        </p:txBody>
      </p:sp>
      <p:sp>
        <p:nvSpPr>
          <p:cNvPr name="TextBox 4" id="4"/>
          <p:cNvSpPr txBox="true"/>
          <p:nvPr/>
        </p:nvSpPr>
        <p:spPr>
          <a:xfrm rot="0">
            <a:off x="16667065" y="9286803"/>
            <a:ext cx="592235" cy="234508"/>
          </a:xfrm>
          <a:prstGeom prst="rect">
            <a:avLst/>
          </a:prstGeom>
        </p:spPr>
        <p:txBody>
          <a:bodyPr anchor="t" rtlCol="false" tIns="0" lIns="0" bIns="0" rIns="0">
            <a:spAutoFit/>
          </a:bodyPr>
          <a:lstStyle/>
          <a:p>
            <a:pPr algn="r">
              <a:lnSpc>
                <a:spcPts val="1731"/>
              </a:lnSpc>
            </a:pPr>
            <a:r>
              <a:rPr lang="en-US" sz="1731">
                <a:solidFill>
                  <a:srgbClr val="1566A8"/>
                </a:solidFill>
                <a:latin typeface="HK Grotesk"/>
                <a:ea typeface="HK Grotesk"/>
                <a:cs typeface="HK Grotesk"/>
                <a:sym typeface="HK Grotesk"/>
              </a:rPr>
              <a:t>3</a:t>
            </a:r>
          </a:p>
        </p:txBody>
      </p:sp>
      <p:sp>
        <p:nvSpPr>
          <p:cNvPr name="TextBox 5" id="5"/>
          <p:cNvSpPr txBox="true"/>
          <p:nvPr/>
        </p:nvSpPr>
        <p:spPr>
          <a:xfrm rot="0">
            <a:off x="877668" y="816341"/>
            <a:ext cx="16532664" cy="1254756"/>
          </a:xfrm>
          <a:prstGeom prst="rect">
            <a:avLst/>
          </a:prstGeom>
        </p:spPr>
        <p:txBody>
          <a:bodyPr anchor="t" rtlCol="false" tIns="0" lIns="0" bIns="0" rIns="0">
            <a:spAutoFit/>
          </a:bodyPr>
          <a:lstStyle/>
          <a:p>
            <a:pPr algn="ctr">
              <a:lnSpc>
                <a:spcPts val="9679"/>
              </a:lnSpc>
            </a:pPr>
            <a:r>
              <a:rPr lang="en-US" sz="8799">
                <a:solidFill>
                  <a:srgbClr val="1566A8"/>
                </a:solidFill>
                <a:latin typeface="Anton"/>
                <a:ea typeface="Anton"/>
                <a:cs typeface="Anton"/>
                <a:sym typeface="Anton"/>
              </a:rPr>
              <a:t>SOFTWARE DEVELOPMENT TECHNOLOGY</a:t>
            </a:r>
          </a:p>
        </p:txBody>
      </p:sp>
      <p:sp>
        <p:nvSpPr>
          <p:cNvPr name="TextBox 6" id="6"/>
          <p:cNvSpPr txBox="true"/>
          <p:nvPr/>
        </p:nvSpPr>
        <p:spPr>
          <a:xfrm rot="0">
            <a:off x="1183450" y="2366372"/>
            <a:ext cx="15921100" cy="2112428"/>
          </a:xfrm>
          <a:prstGeom prst="rect">
            <a:avLst/>
          </a:prstGeom>
        </p:spPr>
        <p:txBody>
          <a:bodyPr anchor="t" rtlCol="false" tIns="0" lIns="0" bIns="0" rIns="0">
            <a:spAutoFit/>
          </a:bodyPr>
          <a:lstStyle/>
          <a:p>
            <a:pPr algn="just">
              <a:lnSpc>
                <a:spcPts val="3297"/>
              </a:lnSpc>
            </a:pPr>
            <a:r>
              <a:rPr lang="en-US" sz="2997" b="true">
                <a:solidFill>
                  <a:srgbClr val="128AA8"/>
                </a:solidFill>
                <a:latin typeface="HK Grotesk Medium"/>
                <a:ea typeface="HK Grotesk Medium"/>
                <a:cs typeface="HK Grotesk Medium"/>
                <a:sym typeface="HK Grotesk Medium"/>
              </a:rPr>
              <a:t>A Software Development Methodology is a structured framework or process that guides how software is planned, built, tested, and delivered.</a:t>
            </a:r>
          </a:p>
          <a:p>
            <a:pPr algn="just">
              <a:lnSpc>
                <a:spcPts val="3297"/>
              </a:lnSpc>
            </a:pPr>
          </a:p>
          <a:p>
            <a:pPr algn="just">
              <a:lnSpc>
                <a:spcPts val="3297"/>
              </a:lnSpc>
            </a:pPr>
            <a:r>
              <a:rPr lang="en-US" b="true" sz="2997">
                <a:solidFill>
                  <a:srgbClr val="128AA8"/>
                </a:solidFill>
                <a:latin typeface="HK Grotesk Medium"/>
                <a:ea typeface="HK Grotesk Medium"/>
                <a:cs typeface="HK Grotesk Medium"/>
                <a:sym typeface="HK Grotesk Medium"/>
              </a:rPr>
              <a:t>It provides the team with a clear set of rules, steps, and tools to follow throughout the project  from requirements gathering to final release.</a:t>
            </a:r>
          </a:p>
        </p:txBody>
      </p:sp>
      <p:sp>
        <p:nvSpPr>
          <p:cNvPr name="TextBox 7" id="7"/>
          <p:cNvSpPr txBox="true"/>
          <p:nvPr/>
        </p:nvSpPr>
        <p:spPr>
          <a:xfrm rot="0">
            <a:off x="1028700" y="5345575"/>
            <a:ext cx="4719984" cy="720758"/>
          </a:xfrm>
          <a:prstGeom prst="rect">
            <a:avLst/>
          </a:prstGeom>
        </p:spPr>
        <p:txBody>
          <a:bodyPr anchor="t" rtlCol="false" tIns="0" lIns="0" bIns="0" rIns="0">
            <a:spAutoFit/>
          </a:bodyPr>
          <a:lstStyle/>
          <a:p>
            <a:pPr algn="l">
              <a:lnSpc>
                <a:spcPts val="5500"/>
              </a:lnSpc>
            </a:pPr>
            <a:r>
              <a:rPr lang="en-US" sz="5000" b="true">
                <a:solidFill>
                  <a:srgbClr val="1566A8"/>
                </a:solidFill>
                <a:latin typeface="HK Grotesk Semi-Bold"/>
                <a:ea typeface="HK Grotesk Semi-Bold"/>
                <a:cs typeface="HK Grotesk Semi-Bold"/>
                <a:sym typeface="HK Grotesk Semi-Bold"/>
              </a:rPr>
              <a:t>Common Types</a:t>
            </a:r>
          </a:p>
        </p:txBody>
      </p:sp>
      <p:sp>
        <p:nvSpPr>
          <p:cNvPr name="TextBox 8" id="8"/>
          <p:cNvSpPr txBox="true"/>
          <p:nvPr/>
        </p:nvSpPr>
        <p:spPr>
          <a:xfrm rot="0">
            <a:off x="1028700" y="6893549"/>
            <a:ext cx="3165328" cy="443711"/>
          </a:xfrm>
          <a:prstGeom prst="rect">
            <a:avLst/>
          </a:prstGeom>
        </p:spPr>
        <p:txBody>
          <a:bodyPr anchor="t" rtlCol="false" tIns="0" lIns="0" bIns="0" rIns="0">
            <a:spAutoFit/>
          </a:bodyPr>
          <a:lstStyle/>
          <a:p>
            <a:pPr algn="l">
              <a:lnSpc>
                <a:spcPts val="3426"/>
              </a:lnSpc>
            </a:pPr>
            <a:r>
              <a:rPr lang="en-US" sz="3115" b="true">
                <a:solidFill>
                  <a:srgbClr val="3D291F"/>
                </a:solidFill>
                <a:latin typeface="HK Grotesk Medium"/>
                <a:ea typeface="HK Grotesk Medium"/>
                <a:cs typeface="HK Grotesk Medium"/>
                <a:sym typeface="HK Grotesk Medium"/>
              </a:rPr>
              <a:t>Waterfall</a:t>
            </a:r>
          </a:p>
        </p:txBody>
      </p:sp>
      <p:sp>
        <p:nvSpPr>
          <p:cNvPr name="TextBox 9" id="9"/>
          <p:cNvSpPr txBox="true"/>
          <p:nvPr/>
        </p:nvSpPr>
        <p:spPr>
          <a:xfrm rot="0">
            <a:off x="5150438" y="6828261"/>
            <a:ext cx="8871011" cy="378139"/>
          </a:xfrm>
          <a:prstGeom prst="rect">
            <a:avLst/>
          </a:prstGeom>
        </p:spPr>
        <p:txBody>
          <a:bodyPr anchor="t" rtlCol="false" tIns="0" lIns="0" bIns="0" rIns="0">
            <a:spAutoFit/>
          </a:bodyPr>
          <a:lstStyle/>
          <a:p>
            <a:pPr algn="l">
              <a:lnSpc>
                <a:spcPts val="3115"/>
              </a:lnSpc>
            </a:pPr>
            <a:r>
              <a:rPr lang="en-US" sz="2076" b="true">
                <a:solidFill>
                  <a:srgbClr val="545454"/>
                </a:solidFill>
                <a:latin typeface="DM Sans Bold"/>
                <a:ea typeface="DM Sans Bold"/>
                <a:cs typeface="DM Sans Bold"/>
                <a:sym typeface="DM Sans Bold"/>
              </a:rPr>
              <a:t>Linear &amp; sequential. Each phase must finish before the next begins.</a:t>
            </a:r>
          </a:p>
        </p:txBody>
      </p:sp>
      <p:sp>
        <p:nvSpPr>
          <p:cNvPr name="TextBox 10" id="10"/>
          <p:cNvSpPr txBox="true"/>
          <p:nvPr/>
        </p:nvSpPr>
        <p:spPr>
          <a:xfrm rot="0">
            <a:off x="1028700" y="6323508"/>
            <a:ext cx="2682821" cy="407022"/>
          </a:xfrm>
          <a:prstGeom prst="rect">
            <a:avLst/>
          </a:prstGeom>
        </p:spPr>
        <p:txBody>
          <a:bodyPr anchor="t" rtlCol="false" tIns="0" lIns="0" bIns="0" rIns="0">
            <a:spAutoFit/>
          </a:bodyPr>
          <a:lstStyle/>
          <a:p>
            <a:pPr algn="l">
              <a:lnSpc>
                <a:spcPts val="3054"/>
              </a:lnSpc>
            </a:pPr>
            <a:r>
              <a:rPr lang="en-US" b="true" sz="3054">
                <a:solidFill>
                  <a:srgbClr val="1566A8"/>
                </a:solidFill>
                <a:latin typeface="HK Grotesk Medium"/>
                <a:ea typeface="HK Grotesk Medium"/>
                <a:cs typeface="HK Grotesk Medium"/>
                <a:sym typeface="HK Grotesk Medium"/>
              </a:rPr>
              <a:t>TYPE</a:t>
            </a:r>
          </a:p>
        </p:txBody>
      </p:sp>
      <p:sp>
        <p:nvSpPr>
          <p:cNvPr name="TextBox 11" id="11"/>
          <p:cNvSpPr txBox="true"/>
          <p:nvPr/>
        </p:nvSpPr>
        <p:spPr>
          <a:xfrm rot="0">
            <a:off x="5150438" y="6323508"/>
            <a:ext cx="2682821" cy="407022"/>
          </a:xfrm>
          <a:prstGeom prst="rect">
            <a:avLst/>
          </a:prstGeom>
        </p:spPr>
        <p:txBody>
          <a:bodyPr anchor="t" rtlCol="false" tIns="0" lIns="0" bIns="0" rIns="0">
            <a:spAutoFit/>
          </a:bodyPr>
          <a:lstStyle/>
          <a:p>
            <a:pPr algn="l">
              <a:lnSpc>
                <a:spcPts val="3054"/>
              </a:lnSpc>
            </a:pPr>
            <a:r>
              <a:rPr lang="en-US" b="true" sz="3054">
                <a:solidFill>
                  <a:srgbClr val="1566A8"/>
                </a:solidFill>
                <a:latin typeface="HK Grotesk Medium"/>
                <a:ea typeface="HK Grotesk Medium"/>
                <a:cs typeface="HK Grotesk Medium"/>
                <a:sym typeface="HK Grotesk Medium"/>
              </a:rPr>
              <a:t>DESCRIPTION</a:t>
            </a:r>
          </a:p>
        </p:txBody>
      </p:sp>
      <p:sp>
        <p:nvSpPr>
          <p:cNvPr name="TextBox 12" id="12"/>
          <p:cNvSpPr txBox="true"/>
          <p:nvPr/>
        </p:nvSpPr>
        <p:spPr>
          <a:xfrm rot="0">
            <a:off x="1028700" y="7533890"/>
            <a:ext cx="3165328" cy="443711"/>
          </a:xfrm>
          <a:prstGeom prst="rect">
            <a:avLst/>
          </a:prstGeom>
        </p:spPr>
        <p:txBody>
          <a:bodyPr anchor="t" rtlCol="false" tIns="0" lIns="0" bIns="0" rIns="0">
            <a:spAutoFit/>
          </a:bodyPr>
          <a:lstStyle/>
          <a:p>
            <a:pPr algn="l">
              <a:lnSpc>
                <a:spcPts val="3426"/>
              </a:lnSpc>
            </a:pPr>
            <a:r>
              <a:rPr lang="en-US" sz="3115" b="true">
                <a:solidFill>
                  <a:srgbClr val="3D291F"/>
                </a:solidFill>
                <a:latin typeface="HK Grotesk Medium"/>
                <a:ea typeface="HK Grotesk Medium"/>
                <a:cs typeface="HK Grotesk Medium"/>
                <a:sym typeface="HK Grotesk Medium"/>
              </a:rPr>
              <a:t>Agile</a:t>
            </a:r>
          </a:p>
        </p:txBody>
      </p:sp>
      <p:sp>
        <p:nvSpPr>
          <p:cNvPr name="TextBox 13" id="13"/>
          <p:cNvSpPr txBox="true"/>
          <p:nvPr/>
        </p:nvSpPr>
        <p:spPr>
          <a:xfrm rot="0">
            <a:off x="5150438" y="7468602"/>
            <a:ext cx="9548903" cy="378139"/>
          </a:xfrm>
          <a:prstGeom prst="rect">
            <a:avLst/>
          </a:prstGeom>
        </p:spPr>
        <p:txBody>
          <a:bodyPr anchor="t" rtlCol="false" tIns="0" lIns="0" bIns="0" rIns="0">
            <a:spAutoFit/>
          </a:bodyPr>
          <a:lstStyle/>
          <a:p>
            <a:pPr algn="l">
              <a:lnSpc>
                <a:spcPts val="3115"/>
              </a:lnSpc>
            </a:pPr>
            <a:r>
              <a:rPr lang="en-US" sz="2076" b="true">
                <a:solidFill>
                  <a:srgbClr val="545454"/>
                </a:solidFill>
                <a:latin typeface="DM Sans Bold"/>
                <a:ea typeface="DM Sans Bold"/>
                <a:cs typeface="DM Sans Bold"/>
                <a:sym typeface="DM Sans Bold"/>
              </a:rPr>
              <a:t>Iterative &amp; flexible. Work is done in short cycles with constant feedback.</a:t>
            </a:r>
          </a:p>
        </p:txBody>
      </p:sp>
      <p:sp>
        <p:nvSpPr>
          <p:cNvPr name="TextBox 14" id="14"/>
          <p:cNvSpPr txBox="true"/>
          <p:nvPr/>
        </p:nvSpPr>
        <p:spPr>
          <a:xfrm rot="0">
            <a:off x="1028700" y="8174230"/>
            <a:ext cx="3165328" cy="443711"/>
          </a:xfrm>
          <a:prstGeom prst="rect">
            <a:avLst/>
          </a:prstGeom>
        </p:spPr>
        <p:txBody>
          <a:bodyPr anchor="t" rtlCol="false" tIns="0" lIns="0" bIns="0" rIns="0">
            <a:spAutoFit/>
          </a:bodyPr>
          <a:lstStyle/>
          <a:p>
            <a:pPr algn="l">
              <a:lnSpc>
                <a:spcPts val="3426"/>
              </a:lnSpc>
            </a:pPr>
            <a:r>
              <a:rPr lang="en-US" sz="3115" b="true">
                <a:solidFill>
                  <a:srgbClr val="3D291F"/>
                </a:solidFill>
                <a:latin typeface="HK Grotesk Medium"/>
                <a:ea typeface="HK Grotesk Medium"/>
                <a:cs typeface="HK Grotesk Medium"/>
                <a:sym typeface="HK Grotesk Medium"/>
              </a:rPr>
              <a:t>Scrum</a:t>
            </a:r>
          </a:p>
        </p:txBody>
      </p:sp>
      <p:sp>
        <p:nvSpPr>
          <p:cNvPr name="TextBox 15" id="15"/>
          <p:cNvSpPr txBox="true"/>
          <p:nvPr/>
        </p:nvSpPr>
        <p:spPr>
          <a:xfrm rot="0">
            <a:off x="5150438" y="8108942"/>
            <a:ext cx="8871011" cy="378139"/>
          </a:xfrm>
          <a:prstGeom prst="rect">
            <a:avLst/>
          </a:prstGeom>
        </p:spPr>
        <p:txBody>
          <a:bodyPr anchor="t" rtlCol="false" tIns="0" lIns="0" bIns="0" rIns="0">
            <a:spAutoFit/>
          </a:bodyPr>
          <a:lstStyle/>
          <a:p>
            <a:pPr algn="l">
              <a:lnSpc>
                <a:spcPts val="3115"/>
              </a:lnSpc>
            </a:pPr>
            <a:r>
              <a:rPr lang="en-US" sz="2076" b="true">
                <a:solidFill>
                  <a:srgbClr val="545454"/>
                </a:solidFill>
                <a:latin typeface="DM Sans Bold"/>
                <a:ea typeface="DM Sans Bold"/>
                <a:cs typeface="DM Sans Bold"/>
                <a:sym typeface="DM Sans Bold"/>
              </a:rPr>
              <a:t>A type of Agile using fixed sprints and specific team roles.</a:t>
            </a:r>
          </a:p>
        </p:txBody>
      </p:sp>
      <p:sp>
        <p:nvSpPr>
          <p:cNvPr name="TextBox 16" id="16"/>
          <p:cNvSpPr txBox="true"/>
          <p:nvPr/>
        </p:nvSpPr>
        <p:spPr>
          <a:xfrm rot="0">
            <a:off x="1028700" y="8814571"/>
            <a:ext cx="3165328" cy="443711"/>
          </a:xfrm>
          <a:prstGeom prst="rect">
            <a:avLst/>
          </a:prstGeom>
        </p:spPr>
        <p:txBody>
          <a:bodyPr anchor="t" rtlCol="false" tIns="0" lIns="0" bIns="0" rIns="0">
            <a:spAutoFit/>
          </a:bodyPr>
          <a:lstStyle/>
          <a:p>
            <a:pPr algn="l">
              <a:lnSpc>
                <a:spcPts val="3426"/>
              </a:lnSpc>
            </a:pPr>
            <a:r>
              <a:rPr lang="en-US" sz="3115" b="true">
                <a:solidFill>
                  <a:srgbClr val="3D291F"/>
                </a:solidFill>
                <a:latin typeface="HK Grotesk Medium"/>
                <a:ea typeface="HK Grotesk Medium"/>
                <a:cs typeface="HK Grotesk Medium"/>
                <a:sym typeface="HK Grotesk Medium"/>
              </a:rPr>
              <a:t>Spiral</a:t>
            </a:r>
          </a:p>
        </p:txBody>
      </p:sp>
      <p:sp>
        <p:nvSpPr>
          <p:cNvPr name="TextBox 17" id="17"/>
          <p:cNvSpPr txBox="true"/>
          <p:nvPr/>
        </p:nvSpPr>
        <p:spPr>
          <a:xfrm rot="0">
            <a:off x="5150438" y="8749283"/>
            <a:ext cx="8871011" cy="378139"/>
          </a:xfrm>
          <a:prstGeom prst="rect">
            <a:avLst/>
          </a:prstGeom>
        </p:spPr>
        <p:txBody>
          <a:bodyPr anchor="t" rtlCol="false" tIns="0" lIns="0" bIns="0" rIns="0">
            <a:spAutoFit/>
          </a:bodyPr>
          <a:lstStyle/>
          <a:p>
            <a:pPr algn="l">
              <a:lnSpc>
                <a:spcPts val="3115"/>
              </a:lnSpc>
            </a:pPr>
            <a:r>
              <a:rPr lang="en-US" sz="2076" b="true">
                <a:solidFill>
                  <a:srgbClr val="545454"/>
                </a:solidFill>
                <a:latin typeface="DM Sans Bold"/>
                <a:ea typeface="DM Sans Bold"/>
                <a:cs typeface="DM Sans Bold"/>
                <a:sym typeface="DM Sans Bold"/>
              </a:rPr>
              <a:t>Risk-driven model combining design and prototyping in stages.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176614" y="806117"/>
            <a:ext cx="392848" cy="97855"/>
          </a:xfrm>
          <a:custGeom>
            <a:avLst/>
            <a:gdLst/>
            <a:ahLst/>
            <a:cxnLst/>
            <a:rect r="r" b="b" t="t" l="l"/>
            <a:pathLst>
              <a:path h="97855" w="392848">
                <a:moveTo>
                  <a:pt x="0" y="0"/>
                </a:moveTo>
                <a:lnTo>
                  <a:pt x="392848" y="0"/>
                </a:lnTo>
                <a:lnTo>
                  <a:pt x="392848" y="97855"/>
                </a:lnTo>
                <a:lnTo>
                  <a:pt x="0" y="978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1759558" y="834692"/>
            <a:ext cx="848550" cy="453402"/>
          </a:xfrm>
          <a:prstGeom prst="rect">
            <a:avLst/>
          </a:prstGeom>
        </p:spPr>
        <p:txBody>
          <a:bodyPr anchor="t" rtlCol="false" tIns="0" lIns="0" bIns="0" rIns="0">
            <a:spAutoFit/>
          </a:bodyPr>
          <a:lstStyle/>
          <a:p>
            <a:pPr algn="l">
              <a:lnSpc>
                <a:spcPts val="1731"/>
              </a:lnSpc>
            </a:pPr>
            <a:r>
              <a:rPr lang="en-US" sz="1731" b="true">
                <a:solidFill>
                  <a:srgbClr val="FFFFFF"/>
                </a:solidFill>
                <a:latin typeface="HK Grotesk Medium"/>
                <a:ea typeface="HK Grotesk Medium"/>
                <a:cs typeface="HK Grotesk Medium"/>
                <a:sym typeface="HK Grotesk Medium"/>
              </a:rPr>
              <a:t>YOUR</a:t>
            </a:r>
          </a:p>
          <a:p>
            <a:pPr algn="l">
              <a:lnSpc>
                <a:spcPts val="1731"/>
              </a:lnSpc>
            </a:pPr>
            <a:r>
              <a:rPr lang="en-US" b="true" sz="1731">
                <a:solidFill>
                  <a:srgbClr val="FFFFFF"/>
                </a:solidFill>
                <a:latin typeface="HK Grotesk Medium"/>
                <a:ea typeface="HK Grotesk Medium"/>
                <a:cs typeface="HK Grotesk Medium"/>
                <a:sym typeface="HK Grotesk Medium"/>
              </a:rPr>
              <a:t>LOGO</a:t>
            </a:r>
          </a:p>
        </p:txBody>
      </p:sp>
      <p:sp>
        <p:nvSpPr>
          <p:cNvPr name="TextBox 4" id="4"/>
          <p:cNvSpPr txBox="true"/>
          <p:nvPr/>
        </p:nvSpPr>
        <p:spPr>
          <a:xfrm rot="0">
            <a:off x="16667065" y="9286803"/>
            <a:ext cx="592235" cy="234508"/>
          </a:xfrm>
          <a:prstGeom prst="rect">
            <a:avLst/>
          </a:prstGeom>
        </p:spPr>
        <p:txBody>
          <a:bodyPr anchor="t" rtlCol="false" tIns="0" lIns="0" bIns="0" rIns="0">
            <a:spAutoFit/>
          </a:bodyPr>
          <a:lstStyle/>
          <a:p>
            <a:pPr algn="r">
              <a:lnSpc>
                <a:spcPts val="1731"/>
              </a:lnSpc>
            </a:pPr>
            <a:r>
              <a:rPr lang="en-US" sz="1731">
                <a:solidFill>
                  <a:srgbClr val="1566A8"/>
                </a:solidFill>
                <a:latin typeface="HK Grotesk"/>
                <a:ea typeface="HK Grotesk"/>
                <a:cs typeface="HK Grotesk"/>
                <a:sym typeface="HK Grotesk"/>
              </a:rPr>
              <a:t>4</a:t>
            </a:r>
          </a:p>
        </p:txBody>
      </p:sp>
      <p:sp>
        <p:nvSpPr>
          <p:cNvPr name="TextBox 5" id="5"/>
          <p:cNvSpPr txBox="true"/>
          <p:nvPr/>
        </p:nvSpPr>
        <p:spPr>
          <a:xfrm rot="0">
            <a:off x="1028700" y="467410"/>
            <a:ext cx="16230600" cy="930275"/>
          </a:xfrm>
          <a:prstGeom prst="rect">
            <a:avLst/>
          </a:prstGeom>
        </p:spPr>
        <p:txBody>
          <a:bodyPr anchor="t" rtlCol="false" tIns="0" lIns="0" bIns="0" rIns="0">
            <a:spAutoFit/>
          </a:bodyPr>
          <a:lstStyle/>
          <a:p>
            <a:pPr algn="ctr">
              <a:lnSpc>
                <a:spcPts val="7150"/>
              </a:lnSpc>
            </a:pPr>
            <a:r>
              <a:rPr lang="en-US" sz="6500">
                <a:solidFill>
                  <a:srgbClr val="1566A8"/>
                </a:solidFill>
                <a:latin typeface="Anton"/>
                <a:ea typeface="Anton"/>
                <a:cs typeface="Anton"/>
                <a:sym typeface="Anton"/>
              </a:rPr>
              <a:t>Problems with Traditional Development</a:t>
            </a:r>
          </a:p>
        </p:txBody>
      </p:sp>
      <p:sp>
        <p:nvSpPr>
          <p:cNvPr name="TextBox 6" id="6"/>
          <p:cNvSpPr txBox="true"/>
          <p:nvPr/>
        </p:nvSpPr>
        <p:spPr>
          <a:xfrm rot="0">
            <a:off x="1028700" y="3590725"/>
            <a:ext cx="16147914" cy="6033052"/>
          </a:xfrm>
          <a:prstGeom prst="rect">
            <a:avLst/>
          </a:prstGeom>
        </p:spPr>
        <p:txBody>
          <a:bodyPr anchor="t" rtlCol="false" tIns="0" lIns="0" bIns="0" rIns="0">
            <a:spAutoFit/>
          </a:bodyPr>
          <a:lstStyle/>
          <a:p>
            <a:pPr algn="just" marL="647156" indent="-323578" lvl="1">
              <a:lnSpc>
                <a:spcPts val="2817"/>
              </a:lnSpc>
              <a:buFont typeface="Arial"/>
              <a:buChar char="•"/>
            </a:pPr>
            <a:r>
              <a:rPr lang="en-US" b="true" sz="2997">
                <a:solidFill>
                  <a:srgbClr val="128AA8"/>
                </a:solidFill>
                <a:latin typeface="HK Grotesk Medium"/>
                <a:ea typeface="HK Grotesk Medium"/>
                <a:cs typeface="HK Grotesk Medium"/>
                <a:sym typeface="HK Grotesk Medium"/>
              </a:rPr>
              <a:t>Takes Too Long: In Waterfall, you wait until the very end before you see any working software. This can take months or even years.</a:t>
            </a:r>
          </a:p>
          <a:p>
            <a:pPr algn="just">
              <a:lnSpc>
                <a:spcPts val="2817"/>
              </a:lnSpc>
            </a:pPr>
          </a:p>
          <a:p>
            <a:pPr algn="just" marL="647156" indent="-323578" lvl="1">
              <a:lnSpc>
                <a:spcPts val="2817"/>
              </a:lnSpc>
              <a:buFont typeface="Arial"/>
              <a:buChar char="•"/>
            </a:pPr>
            <a:r>
              <a:rPr lang="en-US" b="true" sz="2997">
                <a:solidFill>
                  <a:srgbClr val="128AA8"/>
                </a:solidFill>
                <a:latin typeface="HK Grotesk Medium"/>
                <a:ea typeface="HK Grotesk Medium"/>
                <a:cs typeface="HK Grotesk Medium"/>
                <a:sym typeface="HK Grotesk Medium"/>
              </a:rPr>
              <a:t>Hard to Change: If the customer changes their mind midway, it's very expensive and difficult to adjust the plan.</a:t>
            </a:r>
          </a:p>
          <a:p>
            <a:pPr algn="just">
              <a:lnSpc>
                <a:spcPts val="2817"/>
              </a:lnSpc>
            </a:pPr>
          </a:p>
          <a:p>
            <a:pPr algn="just" marL="647156" indent="-323578" lvl="1">
              <a:lnSpc>
                <a:spcPts val="2817"/>
              </a:lnSpc>
              <a:buFont typeface="Arial"/>
              <a:buChar char="•"/>
            </a:pPr>
            <a:r>
              <a:rPr lang="en-US" b="true" sz="2997">
                <a:solidFill>
                  <a:srgbClr val="128AA8"/>
                </a:solidFill>
                <a:latin typeface="HK Grotesk Medium"/>
                <a:ea typeface="HK Grotesk Medium"/>
                <a:cs typeface="HK Grotesk Medium"/>
                <a:sym typeface="HK Grotesk Medium"/>
              </a:rPr>
              <a:t>Customer Left Out: The customer is only involved at the start and at the end — they have no say during development.</a:t>
            </a:r>
          </a:p>
          <a:p>
            <a:pPr algn="just">
              <a:lnSpc>
                <a:spcPts val="2817"/>
              </a:lnSpc>
            </a:pPr>
          </a:p>
          <a:p>
            <a:pPr algn="just" marL="647156" indent="-323578" lvl="1">
              <a:lnSpc>
                <a:spcPts val="2817"/>
              </a:lnSpc>
              <a:buFont typeface="Arial"/>
              <a:buChar char="•"/>
            </a:pPr>
            <a:r>
              <a:rPr lang="en-US" b="true" sz="2997">
                <a:solidFill>
                  <a:srgbClr val="128AA8"/>
                </a:solidFill>
                <a:latin typeface="HK Grotesk Medium"/>
                <a:ea typeface="HK Grotesk Medium"/>
                <a:cs typeface="HK Grotesk Medium"/>
                <a:sym typeface="HK Grotesk Medium"/>
              </a:rPr>
              <a:t>Bugs Found Too Late: Testing only happens at the end, so bugs are discovered late — making them much harder and more costly to fix.</a:t>
            </a:r>
          </a:p>
          <a:p>
            <a:pPr algn="just">
              <a:lnSpc>
                <a:spcPts val="2817"/>
              </a:lnSpc>
            </a:pPr>
          </a:p>
          <a:p>
            <a:pPr algn="just" marL="647156" indent="-323578" lvl="1">
              <a:lnSpc>
                <a:spcPts val="2817"/>
              </a:lnSpc>
              <a:buFont typeface="Arial"/>
              <a:buChar char="•"/>
            </a:pPr>
            <a:r>
              <a:rPr lang="en-US" b="true" sz="2997">
                <a:solidFill>
                  <a:srgbClr val="128AA8"/>
                </a:solidFill>
                <a:latin typeface="HK Grotesk Medium"/>
                <a:ea typeface="HK Grotesk Medium"/>
                <a:cs typeface="HK Grotesk Medium"/>
                <a:sym typeface="HK Grotesk Medium"/>
              </a:rPr>
              <a:t>High Risk &amp; High Cost: If the final product does not meet expectations, the whole budget has already been spent with little to show.</a:t>
            </a:r>
          </a:p>
          <a:p>
            <a:pPr algn="just">
              <a:lnSpc>
                <a:spcPts val="2817"/>
              </a:lnSpc>
            </a:pPr>
          </a:p>
          <a:p>
            <a:pPr algn="just" marL="647156" indent="-323578" lvl="1">
              <a:lnSpc>
                <a:spcPts val="2817"/>
              </a:lnSpc>
              <a:buFont typeface="Arial"/>
              <a:buChar char="•"/>
            </a:pPr>
            <a:r>
              <a:rPr lang="en-US" b="true" sz="2997">
                <a:solidFill>
                  <a:srgbClr val="128AA8"/>
                </a:solidFill>
                <a:latin typeface="HK Grotesk Medium"/>
                <a:ea typeface="HK Grotesk Medium"/>
                <a:cs typeface="HK Grotesk Medium"/>
                <a:sym typeface="HK Grotesk Medium"/>
              </a:rPr>
              <a:t>Too Much Documentation: Traditional methods require heavy documentation at every step, slowing down the actual development work.</a:t>
            </a:r>
          </a:p>
        </p:txBody>
      </p:sp>
      <p:sp>
        <p:nvSpPr>
          <p:cNvPr name="TextBox 7" id="7"/>
          <p:cNvSpPr txBox="true"/>
          <p:nvPr/>
        </p:nvSpPr>
        <p:spPr>
          <a:xfrm rot="0">
            <a:off x="1028700" y="2736650"/>
            <a:ext cx="4719984" cy="501650"/>
          </a:xfrm>
          <a:prstGeom prst="rect">
            <a:avLst/>
          </a:prstGeom>
        </p:spPr>
        <p:txBody>
          <a:bodyPr anchor="t" rtlCol="false" tIns="0" lIns="0" bIns="0" rIns="0">
            <a:spAutoFit/>
          </a:bodyPr>
          <a:lstStyle/>
          <a:p>
            <a:pPr algn="l">
              <a:lnSpc>
                <a:spcPts val="3850"/>
              </a:lnSpc>
            </a:pPr>
            <a:r>
              <a:rPr lang="en-US" sz="3500" b="true">
                <a:solidFill>
                  <a:srgbClr val="1566A8"/>
                </a:solidFill>
                <a:latin typeface="HK Grotesk Bold"/>
                <a:ea typeface="HK Grotesk Bold"/>
                <a:cs typeface="HK Grotesk Bold"/>
                <a:sym typeface="HK Grotesk Bold"/>
              </a:rPr>
              <a:t>Key Challenges</a:t>
            </a:r>
          </a:p>
        </p:txBody>
      </p:sp>
      <p:sp>
        <p:nvSpPr>
          <p:cNvPr name="TextBox 8" id="8"/>
          <p:cNvSpPr txBox="true"/>
          <p:nvPr/>
        </p:nvSpPr>
        <p:spPr>
          <a:xfrm rot="0">
            <a:off x="4708495" y="1521328"/>
            <a:ext cx="8871011" cy="378073"/>
          </a:xfrm>
          <a:prstGeom prst="rect">
            <a:avLst/>
          </a:prstGeom>
        </p:spPr>
        <p:txBody>
          <a:bodyPr anchor="t" rtlCol="false" tIns="0" lIns="0" bIns="0" rIns="0">
            <a:spAutoFit/>
          </a:bodyPr>
          <a:lstStyle/>
          <a:p>
            <a:pPr algn="ctr">
              <a:lnSpc>
                <a:spcPts val="3115"/>
              </a:lnSpc>
            </a:pPr>
            <a:r>
              <a:rPr lang="en-US" b="true" sz="2076">
                <a:solidFill>
                  <a:srgbClr val="545454"/>
                </a:solidFill>
                <a:latin typeface="DM Sans Bold"/>
                <a:ea typeface="DM Sans Bold"/>
                <a:cs typeface="DM Sans Bold"/>
                <a:sym typeface="DM Sans Bold"/>
              </a:rPr>
              <a:t>Why do we need something better than Waterfall?</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866452" y="757227"/>
            <a:ext cx="392848" cy="97855"/>
          </a:xfrm>
          <a:custGeom>
            <a:avLst/>
            <a:gdLst/>
            <a:ahLst/>
            <a:cxnLst/>
            <a:rect r="r" b="b" t="t" l="l"/>
            <a:pathLst>
              <a:path h="97855" w="392848">
                <a:moveTo>
                  <a:pt x="0" y="0"/>
                </a:moveTo>
                <a:lnTo>
                  <a:pt x="392848" y="0"/>
                </a:lnTo>
                <a:lnTo>
                  <a:pt x="392848" y="97855"/>
                </a:lnTo>
                <a:lnTo>
                  <a:pt x="0" y="978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0">
            <a:off x="0" y="2161138"/>
            <a:ext cx="3708984" cy="3646239"/>
            <a:chOff x="0" y="0"/>
            <a:chExt cx="1269524" cy="1248047"/>
          </a:xfrm>
        </p:grpSpPr>
        <p:sp>
          <p:nvSpPr>
            <p:cNvPr name="Freeform 4" id="4"/>
            <p:cNvSpPr/>
            <p:nvPr/>
          </p:nvSpPr>
          <p:spPr>
            <a:xfrm flipH="false" flipV="false" rot="0">
              <a:off x="0" y="0"/>
              <a:ext cx="1269524" cy="1248047"/>
            </a:xfrm>
            <a:custGeom>
              <a:avLst/>
              <a:gdLst/>
              <a:ahLst/>
              <a:cxnLst/>
              <a:rect r="r" b="b" t="t" l="l"/>
              <a:pathLst>
                <a:path h="1248047" w="1269524">
                  <a:moveTo>
                    <a:pt x="0" y="0"/>
                  </a:moveTo>
                  <a:lnTo>
                    <a:pt x="1269524" y="0"/>
                  </a:lnTo>
                  <a:lnTo>
                    <a:pt x="1269524" y="1248047"/>
                  </a:lnTo>
                  <a:lnTo>
                    <a:pt x="0" y="1248047"/>
                  </a:lnTo>
                  <a:close/>
                </a:path>
              </a:pathLst>
            </a:custGeom>
            <a:solidFill>
              <a:srgbClr val="FFFFFF"/>
            </a:solidFill>
          </p:spPr>
        </p:sp>
      </p:grpSp>
      <p:grpSp>
        <p:nvGrpSpPr>
          <p:cNvPr name="Group 5" id="5"/>
          <p:cNvGrpSpPr/>
          <p:nvPr/>
        </p:nvGrpSpPr>
        <p:grpSpPr>
          <a:xfrm rot="0">
            <a:off x="1474854" y="2757938"/>
            <a:ext cx="759277" cy="759277"/>
            <a:chOff x="0" y="0"/>
            <a:chExt cx="6350000" cy="6350000"/>
          </a:xfrm>
        </p:grpSpPr>
        <p:sp>
          <p:nvSpPr>
            <p:cNvPr name="Freeform 6" id="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3F3FF"/>
            </a:solidFill>
          </p:spPr>
        </p:sp>
      </p:grpSp>
      <p:grpSp>
        <p:nvGrpSpPr>
          <p:cNvPr name="Group 7" id="7"/>
          <p:cNvGrpSpPr/>
          <p:nvPr/>
        </p:nvGrpSpPr>
        <p:grpSpPr>
          <a:xfrm rot="0">
            <a:off x="4859521" y="2161138"/>
            <a:ext cx="3708984" cy="3646239"/>
            <a:chOff x="0" y="0"/>
            <a:chExt cx="1269524" cy="1248047"/>
          </a:xfrm>
        </p:grpSpPr>
        <p:sp>
          <p:nvSpPr>
            <p:cNvPr name="Freeform 8" id="8"/>
            <p:cNvSpPr/>
            <p:nvPr/>
          </p:nvSpPr>
          <p:spPr>
            <a:xfrm flipH="false" flipV="false" rot="0">
              <a:off x="0" y="0"/>
              <a:ext cx="1269524" cy="1248047"/>
            </a:xfrm>
            <a:custGeom>
              <a:avLst/>
              <a:gdLst/>
              <a:ahLst/>
              <a:cxnLst/>
              <a:rect r="r" b="b" t="t" l="l"/>
              <a:pathLst>
                <a:path h="1248047" w="1269524">
                  <a:moveTo>
                    <a:pt x="0" y="0"/>
                  </a:moveTo>
                  <a:lnTo>
                    <a:pt x="1269524" y="0"/>
                  </a:lnTo>
                  <a:lnTo>
                    <a:pt x="1269524" y="1248047"/>
                  </a:lnTo>
                  <a:lnTo>
                    <a:pt x="0" y="1248047"/>
                  </a:lnTo>
                  <a:close/>
                </a:path>
              </a:pathLst>
            </a:custGeom>
            <a:solidFill>
              <a:srgbClr val="FFFFFF"/>
            </a:solidFill>
          </p:spPr>
        </p:sp>
      </p:grpSp>
      <p:grpSp>
        <p:nvGrpSpPr>
          <p:cNvPr name="Group 9" id="9"/>
          <p:cNvGrpSpPr/>
          <p:nvPr/>
        </p:nvGrpSpPr>
        <p:grpSpPr>
          <a:xfrm rot="0">
            <a:off x="6334375" y="2757938"/>
            <a:ext cx="759277" cy="759277"/>
            <a:chOff x="0" y="0"/>
            <a:chExt cx="6350000" cy="6350000"/>
          </a:xfrm>
        </p:grpSpPr>
        <p:sp>
          <p:nvSpPr>
            <p:cNvPr name="Freeform 10" id="1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3F3FF"/>
            </a:solidFill>
          </p:spPr>
        </p:sp>
      </p:grpSp>
      <p:grpSp>
        <p:nvGrpSpPr>
          <p:cNvPr name="Group 11" id="11"/>
          <p:cNvGrpSpPr/>
          <p:nvPr/>
        </p:nvGrpSpPr>
        <p:grpSpPr>
          <a:xfrm rot="0">
            <a:off x="9719043" y="2161138"/>
            <a:ext cx="3708984" cy="3646239"/>
            <a:chOff x="0" y="0"/>
            <a:chExt cx="1269524" cy="1248047"/>
          </a:xfrm>
        </p:grpSpPr>
        <p:sp>
          <p:nvSpPr>
            <p:cNvPr name="Freeform 12" id="12"/>
            <p:cNvSpPr/>
            <p:nvPr/>
          </p:nvSpPr>
          <p:spPr>
            <a:xfrm flipH="false" flipV="false" rot="0">
              <a:off x="0" y="0"/>
              <a:ext cx="1269524" cy="1248047"/>
            </a:xfrm>
            <a:custGeom>
              <a:avLst/>
              <a:gdLst/>
              <a:ahLst/>
              <a:cxnLst/>
              <a:rect r="r" b="b" t="t" l="l"/>
              <a:pathLst>
                <a:path h="1248047" w="1269524">
                  <a:moveTo>
                    <a:pt x="0" y="0"/>
                  </a:moveTo>
                  <a:lnTo>
                    <a:pt x="1269524" y="0"/>
                  </a:lnTo>
                  <a:lnTo>
                    <a:pt x="1269524" y="1248047"/>
                  </a:lnTo>
                  <a:lnTo>
                    <a:pt x="0" y="1248047"/>
                  </a:lnTo>
                  <a:close/>
                </a:path>
              </a:pathLst>
            </a:custGeom>
            <a:solidFill>
              <a:srgbClr val="FFFFFF"/>
            </a:solidFill>
          </p:spPr>
        </p:sp>
      </p:grpSp>
      <p:grpSp>
        <p:nvGrpSpPr>
          <p:cNvPr name="Group 13" id="13"/>
          <p:cNvGrpSpPr/>
          <p:nvPr/>
        </p:nvGrpSpPr>
        <p:grpSpPr>
          <a:xfrm rot="0">
            <a:off x="11193896" y="2757938"/>
            <a:ext cx="759277" cy="759277"/>
            <a:chOff x="0" y="0"/>
            <a:chExt cx="6350000" cy="6350000"/>
          </a:xfrm>
        </p:grpSpPr>
        <p:sp>
          <p:nvSpPr>
            <p:cNvPr name="Freeform 14" id="1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3F3FF"/>
            </a:solidFill>
          </p:spPr>
        </p:sp>
      </p:grpSp>
      <p:sp>
        <p:nvSpPr>
          <p:cNvPr name="TextBox 15" id="15"/>
          <p:cNvSpPr txBox="true"/>
          <p:nvPr/>
        </p:nvSpPr>
        <p:spPr>
          <a:xfrm rot="0">
            <a:off x="16667065" y="9286803"/>
            <a:ext cx="592235" cy="234508"/>
          </a:xfrm>
          <a:prstGeom prst="rect">
            <a:avLst/>
          </a:prstGeom>
        </p:spPr>
        <p:txBody>
          <a:bodyPr anchor="t" rtlCol="false" tIns="0" lIns="0" bIns="0" rIns="0">
            <a:spAutoFit/>
          </a:bodyPr>
          <a:lstStyle/>
          <a:p>
            <a:pPr algn="r">
              <a:lnSpc>
                <a:spcPts val="1731"/>
              </a:lnSpc>
            </a:pPr>
            <a:r>
              <a:rPr lang="en-US" sz="1731">
                <a:solidFill>
                  <a:srgbClr val="1566A8"/>
                </a:solidFill>
                <a:latin typeface="HK Grotesk"/>
                <a:ea typeface="HK Grotesk"/>
                <a:cs typeface="HK Grotesk"/>
                <a:sym typeface="HK Grotesk"/>
              </a:rPr>
              <a:t>5</a:t>
            </a:r>
          </a:p>
        </p:txBody>
      </p:sp>
      <p:sp>
        <p:nvSpPr>
          <p:cNvPr name="TextBox 16" id="16"/>
          <p:cNvSpPr txBox="true"/>
          <p:nvPr/>
        </p:nvSpPr>
        <p:spPr>
          <a:xfrm rot="0">
            <a:off x="215246" y="3892713"/>
            <a:ext cx="3278491" cy="302479"/>
          </a:xfrm>
          <a:prstGeom prst="rect">
            <a:avLst/>
          </a:prstGeom>
        </p:spPr>
        <p:txBody>
          <a:bodyPr anchor="t" rtlCol="false" tIns="0" lIns="0" bIns="0" rIns="0">
            <a:spAutoFit/>
          </a:bodyPr>
          <a:lstStyle/>
          <a:p>
            <a:pPr algn="ctr">
              <a:lnSpc>
                <a:spcPts val="2306"/>
              </a:lnSpc>
            </a:pPr>
            <a:r>
              <a:rPr lang="en-US" b="true" sz="2097">
                <a:solidFill>
                  <a:srgbClr val="1566A8"/>
                </a:solidFill>
                <a:latin typeface="HK Grotesk Medium"/>
                <a:ea typeface="HK Grotesk Medium"/>
                <a:cs typeface="HK Grotesk Medium"/>
                <a:sym typeface="HK Grotesk Medium"/>
              </a:rPr>
              <a:t>1970s</a:t>
            </a:r>
          </a:p>
        </p:txBody>
      </p:sp>
      <p:sp>
        <p:nvSpPr>
          <p:cNvPr name="TextBox 17" id="17"/>
          <p:cNvSpPr txBox="true"/>
          <p:nvPr/>
        </p:nvSpPr>
        <p:spPr>
          <a:xfrm rot="0">
            <a:off x="430365" y="4314455"/>
            <a:ext cx="2848253" cy="629646"/>
          </a:xfrm>
          <a:prstGeom prst="rect">
            <a:avLst/>
          </a:prstGeom>
        </p:spPr>
        <p:txBody>
          <a:bodyPr anchor="t" rtlCol="false" tIns="0" lIns="0" bIns="0" rIns="0">
            <a:spAutoFit/>
          </a:bodyPr>
          <a:lstStyle/>
          <a:p>
            <a:pPr algn="ctr">
              <a:lnSpc>
                <a:spcPts val="2546"/>
              </a:lnSpc>
            </a:pPr>
            <a:r>
              <a:rPr lang="en-US" sz="1697">
                <a:solidFill>
                  <a:srgbClr val="545454"/>
                </a:solidFill>
                <a:latin typeface="DM Sans"/>
                <a:ea typeface="DM Sans"/>
                <a:cs typeface="DM Sans"/>
                <a:sym typeface="DM Sans"/>
              </a:rPr>
              <a:t>Linear, document-heavy process introduced.</a:t>
            </a:r>
          </a:p>
        </p:txBody>
      </p:sp>
      <p:sp>
        <p:nvSpPr>
          <p:cNvPr name="TextBox 18" id="18"/>
          <p:cNvSpPr txBox="true"/>
          <p:nvPr/>
        </p:nvSpPr>
        <p:spPr>
          <a:xfrm rot="0">
            <a:off x="5074768" y="3892713"/>
            <a:ext cx="3278491" cy="302479"/>
          </a:xfrm>
          <a:prstGeom prst="rect">
            <a:avLst/>
          </a:prstGeom>
        </p:spPr>
        <p:txBody>
          <a:bodyPr anchor="t" rtlCol="false" tIns="0" lIns="0" bIns="0" rIns="0">
            <a:spAutoFit/>
          </a:bodyPr>
          <a:lstStyle/>
          <a:p>
            <a:pPr algn="ctr">
              <a:lnSpc>
                <a:spcPts val="2306"/>
              </a:lnSpc>
            </a:pPr>
            <a:r>
              <a:rPr lang="en-US" b="true" sz="2097">
                <a:solidFill>
                  <a:srgbClr val="1566A8"/>
                </a:solidFill>
                <a:latin typeface="HK Grotesk Medium"/>
                <a:ea typeface="HK Grotesk Medium"/>
                <a:cs typeface="HK Grotesk Medium"/>
                <a:sym typeface="HK Grotesk Medium"/>
              </a:rPr>
              <a:t>1990s</a:t>
            </a:r>
          </a:p>
        </p:txBody>
      </p:sp>
      <p:sp>
        <p:nvSpPr>
          <p:cNvPr name="TextBox 19" id="19"/>
          <p:cNvSpPr txBox="true"/>
          <p:nvPr/>
        </p:nvSpPr>
        <p:spPr>
          <a:xfrm rot="0">
            <a:off x="5289887" y="4314455"/>
            <a:ext cx="2848253" cy="629646"/>
          </a:xfrm>
          <a:prstGeom prst="rect">
            <a:avLst/>
          </a:prstGeom>
        </p:spPr>
        <p:txBody>
          <a:bodyPr anchor="t" rtlCol="false" tIns="0" lIns="0" bIns="0" rIns="0">
            <a:spAutoFit/>
          </a:bodyPr>
          <a:lstStyle/>
          <a:p>
            <a:pPr algn="ctr">
              <a:lnSpc>
                <a:spcPts val="2546"/>
              </a:lnSpc>
            </a:pPr>
            <a:r>
              <a:rPr lang="en-US" sz="1697">
                <a:solidFill>
                  <a:srgbClr val="545454"/>
                </a:solidFill>
                <a:latin typeface="DM Sans"/>
                <a:ea typeface="DM Sans"/>
                <a:cs typeface="DM Sans"/>
                <a:sym typeface="DM Sans"/>
              </a:rPr>
              <a:t>Projects failing — too slow, too rigid.</a:t>
            </a:r>
          </a:p>
        </p:txBody>
      </p:sp>
      <p:sp>
        <p:nvSpPr>
          <p:cNvPr name="TextBox 20" id="20"/>
          <p:cNvSpPr txBox="true"/>
          <p:nvPr/>
        </p:nvSpPr>
        <p:spPr>
          <a:xfrm rot="0">
            <a:off x="9934289" y="3892713"/>
            <a:ext cx="3278491" cy="302479"/>
          </a:xfrm>
          <a:prstGeom prst="rect">
            <a:avLst/>
          </a:prstGeom>
        </p:spPr>
        <p:txBody>
          <a:bodyPr anchor="t" rtlCol="false" tIns="0" lIns="0" bIns="0" rIns="0">
            <a:spAutoFit/>
          </a:bodyPr>
          <a:lstStyle/>
          <a:p>
            <a:pPr algn="ctr">
              <a:lnSpc>
                <a:spcPts val="2306"/>
              </a:lnSpc>
            </a:pPr>
            <a:r>
              <a:rPr lang="en-US" b="true" sz="2097">
                <a:solidFill>
                  <a:srgbClr val="1566A8"/>
                </a:solidFill>
                <a:latin typeface="HK Grotesk Medium"/>
                <a:ea typeface="HK Grotesk Medium"/>
                <a:cs typeface="HK Grotesk Medium"/>
                <a:sym typeface="HK Grotesk Medium"/>
              </a:rPr>
              <a:t>2001</a:t>
            </a:r>
          </a:p>
        </p:txBody>
      </p:sp>
      <p:sp>
        <p:nvSpPr>
          <p:cNvPr name="TextBox 21" id="21"/>
          <p:cNvSpPr txBox="true"/>
          <p:nvPr/>
        </p:nvSpPr>
        <p:spPr>
          <a:xfrm rot="0">
            <a:off x="10149408" y="4314455"/>
            <a:ext cx="2848253" cy="629646"/>
          </a:xfrm>
          <a:prstGeom prst="rect">
            <a:avLst/>
          </a:prstGeom>
        </p:spPr>
        <p:txBody>
          <a:bodyPr anchor="t" rtlCol="false" tIns="0" lIns="0" bIns="0" rIns="0">
            <a:spAutoFit/>
          </a:bodyPr>
          <a:lstStyle/>
          <a:p>
            <a:pPr algn="ctr">
              <a:lnSpc>
                <a:spcPts val="2546"/>
              </a:lnSpc>
            </a:pPr>
            <a:r>
              <a:rPr lang="en-US" sz="1697">
                <a:solidFill>
                  <a:srgbClr val="545454"/>
                </a:solidFill>
                <a:latin typeface="DM Sans"/>
                <a:ea typeface="DM Sans"/>
                <a:cs typeface="DM Sans"/>
                <a:sym typeface="DM Sans"/>
              </a:rPr>
              <a:t>17 developers write the Agile Manifesto.</a:t>
            </a:r>
          </a:p>
        </p:txBody>
      </p:sp>
      <p:sp>
        <p:nvSpPr>
          <p:cNvPr name="Freeform 22" id="22"/>
          <p:cNvSpPr/>
          <p:nvPr/>
        </p:nvSpPr>
        <p:spPr>
          <a:xfrm flipH="false" flipV="false" rot="0">
            <a:off x="1706527" y="2989611"/>
            <a:ext cx="295930" cy="295930"/>
          </a:xfrm>
          <a:custGeom>
            <a:avLst/>
            <a:gdLst/>
            <a:ahLst/>
            <a:cxnLst/>
            <a:rect r="r" b="b" t="t" l="l"/>
            <a:pathLst>
              <a:path h="295930" w="295930">
                <a:moveTo>
                  <a:pt x="0" y="0"/>
                </a:moveTo>
                <a:lnTo>
                  <a:pt x="295930" y="0"/>
                </a:lnTo>
                <a:lnTo>
                  <a:pt x="295930" y="295931"/>
                </a:lnTo>
                <a:lnTo>
                  <a:pt x="0" y="29593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23" id="23"/>
          <p:cNvGrpSpPr/>
          <p:nvPr/>
        </p:nvGrpSpPr>
        <p:grpSpPr>
          <a:xfrm rot="0">
            <a:off x="14726981" y="2161138"/>
            <a:ext cx="3708984" cy="3646239"/>
            <a:chOff x="0" y="0"/>
            <a:chExt cx="1269524" cy="1248047"/>
          </a:xfrm>
        </p:grpSpPr>
        <p:sp>
          <p:nvSpPr>
            <p:cNvPr name="Freeform 24" id="24"/>
            <p:cNvSpPr/>
            <p:nvPr/>
          </p:nvSpPr>
          <p:spPr>
            <a:xfrm flipH="false" flipV="false" rot="0">
              <a:off x="0" y="0"/>
              <a:ext cx="1269524" cy="1248047"/>
            </a:xfrm>
            <a:custGeom>
              <a:avLst/>
              <a:gdLst/>
              <a:ahLst/>
              <a:cxnLst/>
              <a:rect r="r" b="b" t="t" l="l"/>
              <a:pathLst>
                <a:path h="1248047" w="1269524">
                  <a:moveTo>
                    <a:pt x="0" y="0"/>
                  </a:moveTo>
                  <a:lnTo>
                    <a:pt x="1269524" y="0"/>
                  </a:lnTo>
                  <a:lnTo>
                    <a:pt x="1269524" y="1248047"/>
                  </a:lnTo>
                  <a:lnTo>
                    <a:pt x="0" y="1248047"/>
                  </a:lnTo>
                  <a:close/>
                </a:path>
              </a:pathLst>
            </a:custGeom>
            <a:solidFill>
              <a:srgbClr val="FFFFFF"/>
            </a:solidFill>
          </p:spPr>
        </p:sp>
      </p:grpSp>
      <p:grpSp>
        <p:nvGrpSpPr>
          <p:cNvPr name="Group 25" id="25"/>
          <p:cNvGrpSpPr/>
          <p:nvPr/>
        </p:nvGrpSpPr>
        <p:grpSpPr>
          <a:xfrm rot="0">
            <a:off x="16053870" y="2757938"/>
            <a:ext cx="759277" cy="759277"/>
            <a:chOff x="0" y="0"/>
            <a:chExt cx="6350000" cy="6350000"/>
          </a:xfrm>
        </p:grpSpPr>
        <p:sp>
          <p:nvSpPr>
            <p:cNvPr name="Freeform 26" id="2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3F3FF"/>
            </a:solidFill>
          </p:spPr>
        </p:sp>
      </p:grpSp>
      <p:sp>
        <p:nvSpPr>
          <p:cNvPr name="TextBox 27" id="27"/>
          <p:cNvSpPr txBox="true"/>
          <p:nvPr/>
        </p:nvSpPr>
        <p:spPr>
          <a:xfrm rot="0">
            <a:off x="14794262" y="3892713"/>
            <a:ext cx="3278491" cy="302479"/>
          </a:xfrm>
          <a:prstGeom prst="rect">
            <a:avLst/>
          </a:prstGeom>
        </p:spPr>
        <p:txBody>
          <a:bodyPr anchor="t" rtlCol="false" tIns="0" lIns="0" bIns="0" rIns="0">
            <a:spAutoFit/>
          </a:bodyPr>
          <a:lstStyle/>
          <a:p>
            <a:pPr algn="ctr">
              <a:lnSpc>
                <a:spcPts val="2306"/>
              </a:lnSpc>
            </a:pPr>
            <a:r>
              <a:rPr lang="en-US" b="true" sz="2097">
                <a:solidFill>
                  <a:srgbClr val="1566A8"/>
                </a:solidFill>
                <a:latin typeface="HK Grotesk Medium"/>
                <a:ea typeface="HK Grotesk Medium"/>
                <a:cs typeface="HK Grotesk Medium"/>
                <a:sym typeface="HK Grotesk Medium"/>
              </a:rPr>
              <a:t>Today</a:t>
            </a:r>
          </a:p>
        </p:txBody>
      </p:sp>
      <p:sp>
        <p:nvSpPr>
          <p:cNvPr name="TextBox 28" id="28"/>
          <p:cNvSpPr txBox="true"/>
          <p:nvPr/>
        </p:nvSpPr>
        <p:spPr>
          <a:xfrm rot="0">
            <a:off x="15009381" y="4314455"/>
            <a:ext cx="2848253" cy="629646"/>
          </a:xfrm>
          <a:prstGeom prst="rect">
            <a:avLst/>
          </a:prstGeom>
        </p:spPr>
        <p:txBody>
          <a:bodyPr anchor="t" rtlCol="false" tIns="0" lIns="0" bIns="0" rIns="0">
            <a:spAutoFit/>
          </a:bodyPr>
          <a:lstStyle/>
          <a:p>
            <a:pPr algn="ctr">
              <a:lnSpc>
                <a:spcPts val="2546"/>
              </a:lnSpc>
            </a:pPr>
            <a:r>
              <a:rPr lang="en-US" sz="1697">
                <a:solidFill>
                  <a:srgbClr val="545454"/>
                </a:solidFill>
                <a:latin typeface="DM Sans"/>
                <a:ea typeface="DM Sans"/>
                <a:cs typeface="DM Sans"/>
                <a:sym typeface="DM Sans"/>
              </a:rPr>
              <a:t>Used by teams worldwide across industries.</a:t>
            </a:r>
          </a:p>
        </p:txBody>
      </p:sp>
      <p:sp>
        <p:nvSpPr>
          <p:cNvPr name="Freeform 29" id="29"/>
          <p:cNvSpPr/>
          <p:nvPr/>
        </p:nvSpPr>
        <p:spPr>
          <a:xfrm flipH="false" flipV="false" rot="0">
            <a:off x="6566048" y="2993417"/>
            <a:ext cx="295930" cy="295930"/>
          </a:xfrm>
          <a:custGeom>
            <a:avLst/>
            <a:gdLst/>
            <a:ahLst/>
            <a:cxnLst/>
            <a:rect r="r" b="b" t="t" l="l"/>
            <a:pathLst>
              <a:path h="295930" w="295930">
                <a:moveTo>
                  <a:pt x="0" y="0"/>
                </a:moveTo>
                <a:lnTo>
                  <a:pt x="295930" y="0"/>
                </a:lnTo>
                <a:lnTo>
                  <a:pt x="295930" y="295930"/>
                </a:lnTo>
                <a:lnTo>
                  <a:pt x="0" y="2959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30" id="30"/>
          <p:cNvSpPr/>
          <p:nvPr/>
        </p:nvSpPr>
        <p:spPr>
          <a:xfrm flipH="false" flipV="false" rot="0">
            <a:off x="16285543" y="3004853"/>
            <a:ext cx="295930" cy="295930"/>
          </a:xfrm>
          <a:custGeom>
            <a:avLst/>
            <a:gdLst/>
            <a:ahLst/>
            <a:cxnLst/>
            <a:rect r="r" b="b" t="t" l="l"/>
            <a:pathLst>
              <a:path h="295930" w="295930">
                <a:moveTo>
                  <a:pt x="0" y="0"/>
                </a:moveTo>
                <a:lnTo>
                  <a:pt x="295930" y="0"/>
                </a:lnTo>
                <a:lnTo>
                  <a:pt x="295930" y="295930"/>
                </a:lnTo>
                <a:lnTo>
                  <a:pt x="0" y="2959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31" id="31"/>
          <p:cNvSpPr/>
          <p:nvPr/>
        </p:nvSpPr>
        <p:spPr>
          <a:xfrm flipH="false" flipV="false" rot="0">
            <a:off x="11427760" y="3004853"/>
            <a:ext cx="295930" cy="295930"/>
          </a:xfrm>
          <a:custGeom>
            <a:avLst/>
            <a:gdLst/>
            <a:ahLst/>
            <a:cxnLst/>
            <a:rect r="r" b="b" t="t" l="l"/>
            <a:pathLst>
              <a:path h="295930" w="295930">
                <a:moveTo>
                  <a:pt x="0" y="0"/>
                </a:moveTo>
                <a:lnTo>
                  <a:pt x="295930" y="0"/>
                </a:lnTo>
                <a:lnTo>
                  <a:pt x="295930" y="295930"/>
                </a:lnTo>
                <a:lnTo>
                  <a:pt x="0" y="2959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32" id="32"/>
          <p:cNvSpPr txBox="true"/>
          <p:nvPr/>
        </p:nvSpPr>
        <p:spPr>
          <a:xfrm rot="0">
            <a:off x="0" y="5759753"/>
            <a:ext cx="3708984" cy="292773"/>
          </a:xfrm>
          <a:prstGeom prst="rect">
            <a:avLst/>
          </a:prstGeom>
        </p:spPr>
        <p:txBody>
          <a:bodyPr anchor="t" rtlCol="false" tIns="0" lIns="0" bIns="0" rIns="0">
            <a:spAutoFit/>
          </a:bodyPr>
          <a:lstStyle/>
          <a:p>
            <a:pPr algn="ctr">
              <a:lnSpc>
                <a:spcPts val="2510"/>
              </a:lnSpc>
              <a:spcBef>
                <a:spcPct val="0"/>
              </a:spcBef>
            </a:pPr>
            <a:r>
              <a:rPr lang="en-US" sz="1673">
                <a:solidFill>
                  <a:srgbClr val="000000"/>
                </a:solidFill>
                <a:latin typeface="DM Sans"/>
                <a:ea typeface="DM Sans"/>
                <a:cs typeface="DM Sans"/>
                <a:sym typeface="DM Sans"/>
              </a:rPr>
              <a:t>Waterfall</a:t>
            </a:r>
          </a:p>
        </p:txBody>
      </p:sp>
      <p:sp>
        <p:nvSpPr>
          <p:cNvPr name="TextBox 33" id="33"/>
          <p:cNvSpPr txBox="true"/>
          <p:nvPr/>
        </p:nvSpPr>
        <p:spPr>
          <a:xfrm rot="0">
            <a:off x="4859521" y="5759753"/>
            <a:ext cx="3708984" cy="292773"/>
          </a:xfrm>
          <a:prstGeom prst="rect">
            <a:avLst/>
          </a:prstGeom>
        </p:spPr>
        <p:txBody>
          <a:bodyPr anchor="t" rtlCol="false" tIns="0" lIns="0" bIns="0" rIns="0">
            <a:spAutoFit/>
          </a:bodyPr>
          <a:lstStyle/>
          <a:p>
            <a:pPr algn="ctr">
              <a:lnSpc>
                <a:spcPts val="2510"/>
              </a:lnSpc>
              <a:spcBef>
                <a:spcPct val="0"/>
              </a:spcBef>
            </a:pPr>
            <a:r>
              <a:rPr lang="en-US" sz="1673">
                <a:solidFill>
                  <a:srgbClr val="000000"/>
                </a:solidFill>
                <a:latin typeface="DM Sans"/>
                <a:ea typeface="DM Sans"/>
                <a:cs typeface="DM Sans"/>
                <a:sym typeface="DM Sans"/>
              </a:rPr>
              <a:t>Problems Arise</a:t>
            </a:r>
          </a:p>
        </p:txBody>
      </p:sp>
      <p:sp>
        <p:nvSpPr>
          <p:cNvPr name="TextBox 34" id="34"/>
          <p:cNvSpPr txBox="true"/>
          <p:nvPr/>
        </p:nvSpPr>
        <p:spPr>
          <a:xfrm rot="0">
            <a:off x="9719043" y="5759753"/>
            <a:ext cx="3708984" cy="292773"/>
          </a:xfrm>
          <a:prstGeom prst="rect">
            <a:avLst/>
          </a:prstGeom>
        </p:spPr>
        <p:txBody>
          <a:bodyPr anchor="t" rtlCol="false" tIns="0" lIns="0" bIns="0" rIns="0">
            <a:spAutoFit/>
          </a:bodyPr>
          <a:lstStyle/>
          <a:p>
            <a:pPr algn="ctr">
              <a:lnSpc>
                <a:spcPts val="2510"/>
              </a:lnSpc>
              <a:spcBef>
                <a:spcPct val="0"/>
              </a:spcBef>
            </a:pPr>
            <a:r>
              <a:rPr lang="en-US" sz="1673">
                <a:solidFill>
                  <a:srgbClr val="000000"/>
                </a:solidFill>
                <a:latin typeface="DM Sans"/>
                <a:ea typeface="DM Sans"/>
                <a:cs typeface="DM Sans"/>
                <a:sym typeface="DM Sans"/>
              </a:rPr>
              <a:t>Agile Born</a:t>
            </a:r>
          </a:p>
        </p:txBody>
      </p:sp>
      <p:sp>
        <p:nvSpPr>
          <p:cNvPr name="TextBox 35" id="35"/>
          <p:cNvSpPr txBox="true"/>
          <p:nvPr/>
        </p:nvSpPr>
        <p:spPr>
          <a:xfrm rot="0">
            <a:off x="14579016" y="5759753"/>
            <a:ext cx="3708984" cy="292773"/>
          </a:xfrm>
          <a:prstGeom prst="rect">
            <a:avLst/>
          </a:prstGeom>
        </p:spPr>
        <p:txBody>
          <a:bodyPr anchor="t" rtlCol="false" tIns="0" lIns="0" bIns="0" rIns="0">
            <a:spAutoFit/>
          </a:bodyPr>
          <a:lstStyle/>
          <a:p>
            <a:pPr algn="ctr">
              <a:lnSpc>
                <a:spcPts val="2510"/>
              </a:lnSpc>
              <a:spcBef>
                <a:spcPct val="0"/>
              </a:spcBef>
            </a:pPr>
            <a:r>
              <a:rPr lang="en-US" sz="1673">
                <a:solidFill>
                  <a:srgbClr val="000000"/>
                </a:solidFill>
                <a:latin typeface="DM Sans"/>
                <a:ea typeface="DM Sans"/>
                <a:cs typeface="DM Sans"/>
                <a:sym typeface="DM Sans"/>
              </a:rPr>
              <a:t>Agile Everywhere</a:t>
            </a:r>
          </a:p>
        </p:txBody>
      </p:sp>
      <p:sp>
        <p:nvSpPr>
          <p:cNvPr name="TextBox 36" id="36"/>
          <p:cNvSpPr txBox="true"/>
          <p:nvPr/>
        </p:nvSpPr>
        <p:spPr>
          <a:xfrm rot="0">
            <a:off x="877668" y="6919450"/>
            <a:ext cx="16381632" cy="2996902"/>
          </a:xfrm>
          <a:prstGeom prst="rect">
            <a:avLst/>
          </a:prstGeom>
        </p:spPr>
        <p:txBody>
          <a:bodyPr anchor="t" rtlCol="false" tIns="0" lIns="0" bIns="0" rIns="0">
            <a:spAutoFit/>
          </a:bodyPr>
          <a:lstStyle/>
          <a:p>
            <a:pPr algn="just">
              <a:lnSpc>
                <a:spcPts val="3299"/>
              </a:lnSpc>
            </a:pPr>
            <a:r>
              <a:rPr lang="en-US" sz="2999" b="true">
                <a:solidFill>
                  <a:srgbClr val="128AA8"/>
                </a:solidFill>
                <a:latin typeface="HK Grotesk Bold"/>
                <a:ea typeface="HK Grotesk Bold"/>
                <a:cs typeface="HK Grotesk Bold"/>
                <a:sym typeface="HK Grotesk Bold"/>
              </a:rPr>
              <a:t>What Does 'Agile' Actually Mean?</a:t>
            </a:r>
          </a:p>
          <a:p>
            <a:pPr algn="just">
              <a:lnSpc>
                <a:spcPts val="2969"/>
              </a:lnSpc>
            </a:pPr>
          </a:p>
          <a:p>
            <a:pPr algn="just">
              <a:lnSpc>
                <a:spcPts val="2969"/>
              </a:lnSpc>
            </a:pPr>
            <a:r>
              <a:rPr lang="en-US" sz="2699" b="true">
                <a:solidFill>
                  <a:srgbClr val="128AA8"/>
                </a:solidFill>
                <a:latin typeface="HK Grotesk Medium"/>
                <a:ea typeface="HK Grotesk Medium"/>
                <a:cs typeface="HK Grotesk Medium"/>
                <a:sym typeface="HK Grotesk Medium"/>
              </a:rPr>
              <a:t>Agile means being able to move quickly and easily. In software, it means your team can adapt fast when things change — like new customer requests or market shifts.</a:t>
            </a:r>
          </a:p>
          <a:p>
            <a:pPr algn="just">
              <a:lnSpc>
                <a:spcPts val="2969"/>
              </a:lnSpc>
            </a:pPr>
          </a:p>
          <a:p>
            <a:pPr algn="just">
              <a:lnSpc>
                <a:spcPts val="2969"/>
              </a:lnSpc>
            </a:pPr>
            <a:r>
              <a:rPr lang="en-US" b="true" sz="2699">
                <a:solidFill>
                  <a:srgbClr val="128AA8"/>
                </a:solidFill>
                <a:latin typeface="HK Grotesk Medium"/>
                <a:ea typeface="HK Grotesk Medium"/>
                <a:cs typeface="HK Grotesk Medium"/>
                <a:sym typeface="HK Grotesk Medium"/>
              </a:rPr>
              <a:t>Instead of planning everything upfront and building for months, Agile teams deliver small, working pieces of software regularly, then improve based on feedback.</a:t>
            </a:r>
          </a:p>
          <a:p>
            <a:pPr algn="just">
              <a:lnSpc>
                <a:spcPts val="2749"/>
              </a:lnSpc>
            </a:pPr>
          </a:p>
        </p:txBody>
      </p:sp>
      <p:sp>
        <p:nvSpPr>
          <p:cNvPr name="AutoShape 37" id="37"/>
          <p:cNvSpPr/>
          <p:nvPr/>
        </p:nvSpPr>
        <p:spPr>
          <a:xfrm>
            <a:off x="2234130" y="3118526"/>
            <a:ext cx="4050042" cy="0"/>
          </a:xfrm>
          <a:prstGeom prst="line">
            <a:avLst/>
          </a:prstGeom>
          <a:ln cap="flat" w="38100">
            <a:solidFill>
              <a:srgbClr val="000000"/>
            </a:solidFill>
            <a:prstDash val="solid"/>
            <a:headEnd type="none" len="sm" w="sm"/>
            <a:tailEnd type="none" len="sm" w="sm"/>
          </a:ln>
        </p:spPr>
      </p:sp>
      <p:sp>
        <p:nvSpPr>
          <p:cNvPr name="AutoShape 38" id="38"/>
          <p:cNvSpPr/>
          <p:nvPr/>
        </p:nvSpPr>
        <p:spPr>
          <a:xfrm>
            <a:off x="7093652" y="3152818"/>
            <a:ext cx="4127582" cy="0"/>
          </a:xfrm>
          <a:prstGeom prst="line">
            <a:avLst/>
          </a:prstGeom>
          <a:ln cap="flat" w="38100">
            <a:solidFill>
              <a:srgbClr val="000000"/>
            </a:solidFill>
            <a:prstDash val="solid"/>
            <a:headEnd type="none" len="sm" w="sm"/>
            <a:tailEnd type="none" len="sm" w="sm"/>
          </a:ln>
        </p:spPr>
      </p:sp>
      <p:sp>
        <p:nvSpPr>
          <p:cNvPr name="AutoShape 39" id="39"/>
          <p:cNvSpPr/>
          <p:nvPr/>
        </p:nvSpPr>
        <p:spPr>
          <a:xfrm>
            <a:off x="11952290" y="3141382"/>
            <a:ext cx="4050042" cy="0"/>
          </a:xfrm>
          <a:prstGeom prst="line">
            <a:avLst/>
          </a:prstGeom>
          <a:ln cap="flat" w="38100">
            <a:solidFill>
              <a:srgbClr val="000000"/>
            </a:solidFill>
            <a:prstDash val="solid"/>
            <a:headEnd type="none" len="sm" w="sm"/>
            <a:tailEnd type="none" len="sm" w="sm"/>
          </a:ln>
        </p:spPr>
      </p:sp>
      <p:sp>
        <p:nvSpPr>
          <p:cNvPr name="TextBox 40" id="40"/>
          <p:cNvSpPr txBox="true"/>
          <p:nvPr/>
        </p:nvSpPr>
        <p:spPr>
          <a:xfrm rot="0">
            <a:off x="877668" y="816341"/>
            <a:ext cx="16532664" cy="1254756"/>
          </a:xfrm>
          <a:prstGeom prst="rect">
            <a:avLst/>
          </a:prstGeom>
        </p:spPr>
        <p:txBody>
          <a:bodyPr anchor="t" rtlCol="false" tIns="0" lIns="0" bIns="0" rIns="0">
            <a:spAutoFit/>
          </a:bodyPr>
          <a:lstStyle/>
          <a:p>
            <a:pPr algn="ctr">
              <a:lnSpc>
                <a:spcPts val="9679"/>
              </a:lnSpc>
            </a:pPr>
            <a:r>
              <a:rPr lang="en-US" sz="8799">
                <a:solidFill>
                  <a:srgbClr val="1566A8"/>
                </a:solidFill>
                <a:latin typeface="Anton"/>
                <a:ea typeface="Anton"/>
                <a:cs typeface="Anton"/>
                <a:sym typeface="Anton"/>
              </a:rPr>
              <a:t>Introduction to Agile Concept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176614" y="806117"/>
            <a:ext cx="392848" cy="97855"/>
          </a:xfrm>
          <a:custGeom>
            <a:avLst/>
            <a:gdLst/>
            <a:ahLst/>
            <a:cxnLst/>
            <a:rect r="r" b="b" t="t" l="l"/>
            <a:pathLst>
              <a:path h="97855" w="392848">
                <a:moveTo>
                  <a:pt x="0" y="0"/>
                </a:moveTo>
                <a:lnTo>
                  <a:pt x="392848" y="0"/>
                </a:lnTo>
                <a:lnTo>
                  <a:pt x="392848" y="97855"/>
                </a:lnTo>
                <a:lnTo>
                  <a:pt x="0" y="978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1759558" y="834692"/>
            <a:ext cx="848550" cy="453402"/>
          </a:xfrm>
          <a:prstGeom prst="rect">
            <a:avLst/>
          </a:prstGeom>
        </p:spPr>
        <p:txBody>
          <a:bodyPr anchor="t" rtlCol="false" tIns="0" lIns="0" bIns="0" rIns="0">
            <a:spAutoFit/>
          </a:bodyPr>
          <a:lstStyle/>
          <a:p>
            <a:pPr algn="l">
              <a:lnSpc>
                <a:spcPts val="1731"/>
              </a:lnSpc>
            </a:pPr>
            <a:r>
              <a:rPr lang="en-US" sz="1731" b="true">
                <a:solidFill>
                  <a:srgbClr val="FFFFFF"/>
                </a:solidFill>
                <a:latin typeface="HK Grotesk Medium"/>
                <a:ea typeface="HK Grotesk Medium"/>
                <a:cs typeface="HK Grotesk Medium"/>
                <a:sym typeface="HK Grotesk Medium"/>
              </a:rPr>
              <a:t>YOUR</a:t>
            </a:r>
          </a:p>
          <a:p>
            <a:pPr algn="l">
              <a:lnSpc>
                <a:spcPts val="1731"/>
              </a:lnSpc>
            </a:pPr>
            <a:r>
              <a:rPr lang="en-US" b="true" sz="1731">
                <a:solidFill>
                  <a:srgbClr val="FFFFFF"/>
                </a:solidFill>
                <a:latin typeface="HK Grotesk Medium"/>
                <a:ea typeface="HK Grotesk Medium"/>
                <a:cs typeface="HK Grotesk Medium"/>
                <a:sym typeface="HK Grotesk Medium"/>
              </a:rPr>
              <a:t>LOGO</a:t>
            </a:r>
          </a:p>
        </p:txBody>
      </p:sp>
      <p:sp>
        <p:nvSpPr>
          <p:cNvPr name="TextBox 4" id="4"/>
          <p:cNvSpPr txBox="true"/>
          <p:nvPr/>
        </p:nvSpPr>
        <p:spPr>
          <a:xfrm rot="0">
            <a:off x="16667065" y="9286803"/>
            <a:ext cx="592235" cy="234508"/>
          </a:xfrm>
          <a:prstGeom prst="rect">
            <a:avLst/>
          </a:prstGeom>
        </p:spPr>
        <p:txBody>
          <a:bodyPr anchor="t" rtlCol="false" tIns="0" lIns="0" bIns="0" rIns="0">
            <a:spAutoFit/>
          </a:bodyPr>
          <a:lstStyle/>
          <a:p>
            <a:pPr algn="r">
              <a:lnSpc>
                <a:spcPts val="1731"/>
              </a:lnSpc>
            </a:pPr>
            <a:r>
              <a:rPr lang="en-US" sz="1731">
                <a:solidFill>
                  <a:srgbClr val="1566A8"/>
                </a:solidFill>
                <a:latin typeface="HK Grotesk"/>
                <a:ea typeface="HK Grotesk"/>
                <a:cs typeface="HK Grotesk"/>
                <a:sym typeface="HK Grotesk"/>
              </a:rPr>
              <a:t>6</a:t>
            </a:r>
          </a:p>
        </p:txBody>
      </p:sp>
      <p:sp>
        <p:nvSpPr>
          <p:cNvPr name="TextBox 5" id="5"/>
          <p:cNvSpPr txBox="true"/>
          <p:nvPr/>
        </p:nvSpPr>
        <p:spPr>
          <a:xfrm rot="0">
            <a:off x="1222551" y="2362572"/>
            <a:ext cx="15740631" cy="1473399"/>
          </a:xfrm>
          <a:prstGeom prst="rect">
            <a:avLst/>
          </a:prstGeom>
        </p:spPr>
        <p:txBody>
          <a:bodyPr anchor="t" rtlCol="false" tIns="0" lIns="0" bIns="0" rIns="0">
            <a:spAutoFit/>
          </a:bodyPr>
          <a:lstStyle/>
          <a:p>
            <a:pPr algn="just">
              <a:lnSpc>
                <a:spcPts val="3850"/>
              </a:lnSpc>
            </a:pPr>
            <a:r>
              <a:rPr lang="en-US" b="true" sz="3500">
                <a:solidFill>
                  <a:srgbClr val="128AA8"/>
                </a:solidFill>
                <a:latin typeface="HK Grotesk Semi-Bold"/>
                <a:ea typeface="HK Grotesk Semi-Bold"/>
                <a:cs typeface="HK Grotesk Semi-Bold"/>
                <a:sym typeface="HK Grotesk Semi-Bold"/>
              </a:rPr>
              <a:t>Agile Methods are a group of software development approaches that follow the Agile Manifesto ocused on delivering working software in short cycles, with constant team collaboration and customer involvement.</a:t>
            </a:r>
          </a:p>
        </p:txBody>
      </p:sp>
      <p:sp>
        <p:nvSpPr>
          <p:cNvPr name="TextBox 6" id="6"/>
          <p:cNvSpPr txBox="true"/>
          <p:nvPr/>
        </p:nvSpPr>
        <p:spPr>
          <a:xfrm rot="0">
            <a:off x="1070043" y="4894294"/>
            <a:ext cx="16106571" cy="4934315"/>
          </a:xfrm>
          <a:prstGeom prst="rect">
            <a:avLst/>
          </a:prstGeom>
        </p:spPr>
        <p:txBody>
          <a:bodyPr anchor="t" rtlCol="false" tIns="0" lIns="0" bIns="0" rIns="0">
            <a:spAutoFit/>
          </a:bodyPr>
          <a:lstStyle/>
          <a:p>
            <a:pPr algn="just">
              <a:lnSpc>
                <a:spcPts val="3297"/>
              </a:lnSpc>
            </a:pPr>
            <a:r>
              <a:rPr lang="en-US" sz="2997" b="true">
                <a:solidFill>
                  <a:srgbClr val="128AA8"/>
                </a:solidFill>
                <a:latin typeface="HK Grotesk Medium"/>
                <a:ea typeface="HK Grotesk Medium"/>
                <a:cs typeface="HK Grotesk Medium"/>
                <a:sym typeface="HK Grotesk Medium"/>
              </a:rPr>
              <a:t>Iterative</a:t>
            </a:r>
          </a:p>
          <a:p>
            <a:pPr algn="l" marL="647156" indent="-323578" lvl="1">
              <a:lnSpc>
                <a:spcPts val="3297"/>
              </a:lnSpc>
              <a:buFont typeface="Arial"/>
              <a:buChar char="•"/>
            </a:pPr>
            <a:r>
              <a:rPr lang="en-US" b="true" sz="2997">
                <a:solidFill>
                  <a:srgbClr val="128AA8"/>
                </a:solidFill>
                <a:latin typeface="HK Grotesk Medium"/>
                <a:ea typeface="HK Grotesk Medium"/>
                <a:cs typeface="HK Grotesk Medium"/>
                <a:sym typeface="HK Grotesk Medium"/>
              </a:rPr>
              <a:t>Work is broken into short cycles (sprints). Each cycle produces a working piece of software that can be improved next cycle.</a:t>
            </a:r>
          </a:p>
          <a:p>
            <a:pPr algn="just">
              <a:lnSpc>
                <a:spcPts val="3297"/>
              </a:lnSpc>
            </a:pPr>
          </a:p>
          <a:p>
            <a:pPr algn="just">
              <a:lnSpc>
                <a:spcPts val="3297"/>
              </a:lnSpc>
            </a:pPr>
            <a:r>
              <a:rPr lang="en-US" sz="2997" b="true">
                <a:solidFill>
                  <a:srgbClr val="128AA8"/>
                </a:solidFill>
                <a:latin typeface="HK Grotesk Medium"/>
                <a:ea typeface="HK Grotesk Medium"/>
                <a:cs typeface="HK Grotesk Medium"/>
                <a:sym typeface="HK Grotesk Medium"/>
              </a:rPr>
              <a:t>Inc</a:t>
            </a:r>
            <a:r>
              <a:rPr lang="en-US" sz="2997" b="true">
                <a:solidFill>
                  <a:srgbClr val="128AA8"/>
                </a:solidFill>
                <a:latin typeface="HK Grotesk Medium"/>
                <a:ea typeface="HK Grotesk Medium"/>
                <a:cs typeface="HK Grotesk Medium"/>
                <a:sym typeface="HK Grotesk Medium"/>
              </a:rPr>
              <a:t>remental</a:t>
            </a:r>
          </a:p>
          <a:p>
            <a:pPr algn="l" marL="647156" indent="-323578" lvl="1">
              <a:lnSpc>
                <a:spcPts val="3297"/>
              </a:lnSpc>
              <a:buFont typeface="Arial"/>
              <a:buChar char="•"/>
            </a:pPr>
            <a:r>
              <a:rPr lang="en-US" b="true" sz="2997">
                <a:solidFill>
                  <a:srgbClr val="128AA8"/>
                </a:solidFill>
                <a:latin typeface="HK Grotesk Medium"/>
                <a:ea typeface="HK Grotesk Medium"/>
                <a:cs typeface="HK Grotesk Medium"/>
                <a:sym typeface="HK Grotesk Medium"/>
              </a:rPr>
              <a:t>Features are added one at a time. The product grows bit by bit instead of being built all at once.</a:t>
            </a:r>
          </a:p>
          <a:p>
            <a:pPr algn="just">
              <a:lnSpc>
                <a:spcPts val="3297"/>
              </a:lnSpc>
            </a:pPr>
          </a:p>
          <a:p>
            <a:pPr algn="just">
              <a:lnSpc>
                <a:spcPts val="3297"/>
              </a:lnSpc>
            </a:pPr>
            <a:r>
              <a:rPr lang="en-US" sz="2997" b="true">
                <a:solidFill>
                  <a:srgbClr val="128AA8"/>
                </a:solidFill>
                <a:latin typeface="HK Grotesk Medium"/>
                <a:ea typeface="HK Grotesk Medium"/>
                <a:cs typeface="HK Grotesk Medium"/>
                <a:sym typeface="HK Grotesk Medium"/>
              </a:rPr>
              <a:t>C</a:t>
            </a:r>
            <a:r>
              <a:rPr lang="en-US" sz="2997" b="true">
                <a:solidFill>
                  <a:srgbClr val="128AA8"/>
                </a:solidFill>
                <a:latin typeface="HK Grotesk Medium"/>
                <a:ea typeface="HK Grotesk Medium"/>
                <a:cs typeface="HK Grotesk Medium"/>
                <a:sym typeface="HK Grotesk Medium"/>
              </a:rPr>
              <a:t>ollaborative</a:t>
            </a:r>
          </a:p>
          <a:p>
            <a:pPr algn="l" marL="647156" indent="-323578" lvl="1">
              <a:lnSpc>
                <a:spcPts val="3297"/>
              </a:lnSpc>
              <a:buFont typeface="Arial"/>
              <a:buChar char="•"/>
            </a:pPr>
            <a:r>
              <a:rPr lang="en-US" b="true" sz="2997">
                <a:solidFill>
                  <a:srgbClr val="128AA8"/>
                </a:solidFill>
                <a:latin typeface="HK Grotesk Medium"/>
                <a:ea typeface="HK Grotesk Medium"/>
                <a:cs typeface="HK Grotesk Medium"/>
                <a:sym typeface="HK Grotesk Medium"/>
              </a:rPr>
              <a:t>The whole team — developers, testers, designers, and customers — work closely together throughout the project.</a:t>
            </a:r>
          </a:p>
          <a:p>
            <a:pPr algn="just">
              <a:lnSpc>
                <a:spcPts val="3297"/>
              </a:lnSpc>
            </a:pPr>
          </a:p>
        </p:txBody>
      </p:sp>
      <p:sp>
        <p:nvSpPr>
          <p:cNvPr name="TextBox 7" id="7"/>
          <p:cNvSpPr txBox="true"/>
          <p:nvPr/>
        </p:nvSpPr>
        <p:spPr>
          <a:xfrm rot="0">
            <a:off x="1070043" y="4350321"/>
            <a:ext cx="4719984" cy="501716"/>
          </a:xfrm>
          <a:prstGeom prst="rect">
            <a:avLst/>
          </a:prstGeom>
        </p:spPr>
        <p:txBody>
          <a:bodyPr anchor="t" rtlCol="false" tIns="0" lIns="0" bIns="0" rIns="0">
            <a:spAutoFit/>
          </a:bodyPr>
          <a:lstStyle/>
          <a:p>
            <a:pPr algn="l">
              <a:lnSpc>
                <a:spcPts val="3850"/>
              </a:lnSpc>
            </a:pPr>
            <a:r>
              <a:rPr lang="en-US" b="true" sz="3500">
                <a:solidFill>
                  <a:srgbClr val="128AA8"/>
                </a:solidFill>
                <a:latin typeface="HK Grotesk Semi-Bold"/>
                <a:ea typeface="HK Grotesk Semi-Bold"/>
                <a:cs typeface="HK Grotesk Semi-Bold"/>
                <a:sym typeface="HK Grotesk Semi-Bold"/>
              </a:rPr>
              <a:t>Core Characteristics</a:t>
            </a:r>
          </a:p>
        </p:txBody>
      </p:sp>
      <p:sp>
        <p:nvSpPr>
          <p:cNvPr name="TextBox 8" id="8"/>
          <p:cNvSpPr txBox="true"/>
          <p:nvPr/>
        </p:nvSpPr>
        <p:spPr>
          <a:xfrm rot="0">
            <a:off x="877668" y="816341"/>
            <a:ext cx="16532664" cy="1254756"/>
          </a:xfrm>
          <a:prstGeom prst="rect">
            <a:avLst/>
          </a:prstGeom>
        </p:spPr>
        <p:txBody>
          <a:bodyPr anchor="t" rtlCol="false" tIns="0" lIns="0" bIns="0" rIns="0">
            <a:spAutoFit/>
          </a:bodyPr>
          <a:lstStyle/>
          <a:p>
            <a:pPr algn="ctr">
              <a:lnSpc>
                <a:spcPts val="9679"/>
              </a:lnSpc>
            </a:pPr>
            <a:r>
              <a:rPr lang="en-US" sz="8799">
                <a:solidFill>
                  <a:srgbClr val="1566A8"/>
                </a:solidFill>
                <a:latin typeface="Anton"/>
                <a:ea typeface="Anton"/>
                <a:cs typeface="Anton"/>
                <a:sym typeface="Anton"/>
              </a:rPr>
              <a:t>Definition of Agile Methods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176614" y="806117"/>
            <a:ext cx="392848" cy="97855"/>
          </a:xfrm>
          <a:custGeom>
            <a:avLst/>
            <a:gdLst/>
            <a:ahLst/>
            <a:cxnLst/>
            <a:rect r="r" b="b" t="t" l="l"/>
            <a:pathLst>
              <a:path h="97855" w="392848">
                <a:moveTo>
                  <a:pt x="0" y="0"/>
                </a:moveTo>
                <a:lnTo>
                  <a:pt x="392848" y="0"/>
                </a:lnTo>
                <a:lnTo>
                  <a:pt x="392848" y="97855"/>
                </a:lnTo>
                <a:lnTo>
                  <a:pt x="0" y="978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1759558" y="834692"/>
            <a:ext cx="848550" cy="453402"/>
          </a:xfrm>
          <a:prstGeom prst="rect">
            <a:avLst/>
          </a:prstGeom>
        </p:spPr>
        <p:txBody>
          <a:bodyPr anchor="t" rtlCol="false" tIns="0" lIns="0" bIns="0" rIns="0">
            <a:spAutoFit/>
          </a:bodyPr>
          <a:lstStyle/>
          <a:p>
            <a:pPr algn="l">
              <a:lnSpc>
                <a:spcPts val="1731"/>
              </a:lnSpc>
            </a:pPr>
            <a:r>
              <a:rPr lang="en-US" sz="1731" b="true">
                <a:solidFill>
                  <a:srgbClr val="FFFFFF"/>
                </a:solidFill>
                <a:latin typeface="HK Grotesk Medium"/>
                <a:ea typeface="HK Grotesk Medium"/>
                <a:cs typeface="HK Grotesk Medium"/>
                <a:sym typeface="HK Grotesk Medium"/>
              </a:rPr>
              <a:t>YOUR</a:t>
            </a:r>
          </a:p>
          <a:p>
            <a:pPr algn="l">
              <a:lnSpc>
                <a:spcPts val="1731"/>
              </a:lnSpc>
            </a:pPr>
            <a:r>
              <a:rPr lang="en-US" b="true" sz="1731">
                <a:solidFill>
                  <a:srgbClr val="FFFFFF"/>
                </a:solidFill>
                <a:latin typeface="HK Grotesk Medium"/>
                <a:ea typeface="HK Grotesk Medium"/>
                <a:cs typeface="HK Grotesk Medium"/>
                <a:sym typeface="HK Grotesk Medium"/>
              </a:rPr>
              <a:t>LOGO</a:t>
            </a:r>
          </a:p>
        </p:txBody>
      </p:sp>
      <p:sp>
        <p:nvSpPr>
          <p:cNvPr name="TextBox 4" id="4"/>
          <p:cNvSpPr txBox="true"/>
          <p:nvPr/>
        </p:nvSpPr>
        <p:spPr>
          <a:xfrm rot="0">
            <a:off x="16667065" y="9286803"/>
            <a:ext cx="592235" cy="234508"/>
          </a:xfrm>
          <a:prstGeom prst="rect">
            <a:avLst/>
          </a:prstGeom>
        </p:spPr>
        <p:txBody>
          <a:bodyPr anchor="t" rtlCol="false" tIns="0" lIns="0" bIns="0" rIns="0">
            <a:spAutoFit/>
          </a:bodyPr>
          <a:lstStyle/>
          <a:p>
            <a:pPr algn="r">
              <a:lnSpc>
                <a:spcPts val="1731"/>
              </a:lnSpc>
            </a:pPr>
            <a:r>
              <a:rPr lang="en-US" sz="1731">
                <a:solidFill>
                  <a:srgbClr val="1566A8"/>
                </a:solidFill>
                <a:latin typeface="HK Grotesk"/>
                <a:ea typeface="HK Grotesk"/>
                <a:cs typeface="HK Grotesk"/>
                <a:sym typeface="HK Grotesk"/>
              </a:rPr>
              <a:t>7</a:t>
            </a:r>
          </a:p>
        </p:txBody>
      </p:sp>
      <p:sp>
        <p:nvSpPr>
          <p:cNvPr name="TextBox 5" id="5"/>
          <p:cNvSpPr txBox="true"/>
          <p:nvPr/>
        </p:nvSpPr>
        <p:spPr>
          <a:xfrm rot="0">
            <a:off x="1028700" y="3753762"/>
            <a:ext cx="14998358" cy="4933918"/>
          </a:xfrm>
          <a:prstGeom prst="rect">
            <a:avLst/>
          </a:prstGeom>
        </p:spPr>
        <p:txBody>
          <a:bodyPr anchor="t" rtlCol="false" tIns="0" lIns="0" bIns="0" rIns="0">
            <a:spAutoFit/>
          </a:bodyPr>
          <a:lstStyle/>
          <a:p>
            <a:pPr algn="l" marL="647156" indent="-323578" lvl="1">
              <a:lnSpc>
                <a:spcPts val="3297"/>
              </a:lnSpc>
              <a:buAutoNum type="arabicPeriod" startAt="1"/>
            </a:pPr>
            <a:r>
              <a:rPr lang="en-US" b="true" sz="2997">
                <a:solidFill>
                  <a:srgbClr val="128AA8"/>
                </a:solidFill>
                <a:latin typeface="HK Grotesk Bold"/>
                <a:ea typeface="HK Grotesk Bold"/>
                <a:cs typeface="HK Grotesk Bold"/>
                <a:sym typeface="HK Grotesk Bold"/>
              </a:rPr>
              <a:t>Individuals &amp; Interactions over Processes &amp; Tools. </a:t>
            </a:r>
            <a:r>
              <a:rPr lang="en-US" b="true" sz="2997">
                <a:solidFill>
                  <a:srgbClr val="128AA8"/>
                </a:solidFill>
                <a:latin typeface="HK Grotesk Medium"/>
                <a:ea typeface="HK Grotesk Medium"/>
                <a:cs typeface="HK Grotesk Medium"/>
                <a:sym typeface="HK Grotesk Medium"/>
              </a:rPr>
              <a:t>People and communication matter more than blindly following rules and using tools.</a:t>
            </a:r>
          </a:p>
          <a:p>
            <a:pPr algn="just">
              <a:lnSpc>
                <a:spcPts val="3297"/>
              </a:lnSpc>
            </a:pPr>
          </a:p>
          <a:p>
            <a:pPr algn="l" marL="647156" indent="-323578" lvl="1">
              <a:lnSpc>
                <a:spcPts val="3297"/>
              </a:lnSpc>
              <a:buAutoNum type="arabicPeriod" startAt="1"/>
            </a:pPr>
            <a:r>
              <a:rPr lang="en-US" b="true" sz="2997">
                <a:solidFill>
                  <a:srgbClr val="128AA8"/>
                </a:solidFill>
                <a:latin typeface="HK Grotesk Bold"/>
                <a:ea typeface="HK Grotesk Bold"/>
                <a:cs typeface="HK Grotesk Bold"/>
                <a:sym typeface="HK Grotesk Bold"/>
              </a:rPr>
              <a:t>Working Software over Comprehensive Documentation. </a:t>
            </a:r>
            <a:r>
              <a:rPr lang="en-US" b="true" sz="2997">
                <a:solidFill>
                  <a:srgbClr val="128AA8"/>
                </a:solidFill>
                <a:latin typeface="HK Grotesk Medium"/>
                <a:ea typeface="HK Grotesk Medium"/>
                <a:cs typeface="HK Grotesk Medium"/>
                <a:sym typeface="HK Grotesk Medium"/>
              </a:rPr>
              <a:t>A running program is more valuable than a thick manual or report.</a:t>
            </a:r>
          </a:p>
          <a:p>
            <a:pPr algn="just">
              <a:lnSpc>
                <a:spcPts val="3297"/>
              </a:lnSpc>
            </a:pPr>
          </a:p>
          <a:p>
            <a:pPr algn="l" marL="647156" indent="-323578" lvl="1">
              <a:lnSpc>
                <a:spcPts val="3297"/>
              </a:lnSpc>
              <a:buAutoNum type="arabicPeriod" startAt="1"/>
            </a:pPr>
            <a:r>
              <a:rPr lang="en-US" b="true" sz="2997">
                <a:solidFill>
                  <a:srgbClr val="128AA8"/>
                </a:solidFill>
                <a:latin typeface="HK Grotesk Bold"/>
                <a:ea typeface="HK Grotesk Bold"/>
                <a:cs typeface="HK Grotesk Bold"/>
                <a:sym typeface="HK Grotesk Bold"/>
              </a:rPr>
              <a:t>Customer C</a:t>
            </a:r>
            <a:r>
              <a:rPr lang="en-US" b="true" sz="2997">
                <a:solidFill>
                  <a:srgbClr val="128AA8"/>
                </a:solidFill>
                <a:latin typeface="HK Grotesk Bold"/>
                <a:ea typeface="HK Grotesk Bold"/>
                <a:cs typeface="HK Grotesk Bold"/>
                <a:sym typeface="HK Grotesk Bold"/>
              </a:rPr>
              <a:t>ollaboration over Contract Negotiation. </a:t>
            </a:r>
            <a:r>
              <a:rPr lang="en-US" b="true" sz="2997">
                <a:solidFill>
                  <a:srgbClr val="128AA8"/>
                </a:solidFill>
                <a:latin typeface="HK Grotesk Medium"/>
                <a:ea typeface="HK Grotesk Medium"/>
                <a:cs typeface="HK Grotesk Medium"/>
                <a:sym typeface="HK Grotesk Medium"/>
              </a:rPr>
              <a:t>Talking to your customer regularly beats just signing a contract and disappearing.</a:t>
            </a:r>
          </a:p>
          <a:p>
            <a:pPr algn="just">
              <a:lnSpc>
                <a:spcPts val="3297"/>
              </a:lnSpc>
            </a:pPr>
          </a:p>
          <a:p>
            <a:pPr algn="l" marL="647156" indent="-323578" lvl="1">
              <a:lnSpc>
                <a:spcPts val="3297"/>
              </a:lnSpc>
              <a:buAutoNum type="arabicPeriod" startAt="1"/>
            </a:pPr>
            <a:r>
              <a:rPr lang="en-US" b="true" sz="2997">
                <a:solidFill>
                  <a:srgbClr val="128AA8"/>
                </a:solidFill>
                <a:latin typeface="HK Grotesk Bold"/>
                <a:ea typeface="HK Grotesk Bold"/>
                <a:cs typeface="HK Grotesk Bold"/>
                <a:sym typeface="HK Grotesk Bold"/>
              </a:rPr>
              <a:t>Responding to Change over Following a Plan. </a:t>
            </a:r>
            <a:r>
              <a:rPr lang="en-US" b="true" sz="2997">
                <a:solidFill>
                  <a:srgbClr val="128AA8"/>
                </a:solidFill>
                <a:latin typeface="HK Grotesk Medium"/>
                <a:ea typeface="HK Grotesk Medium"/>
                <a:cs typeface="HK Grotesk Medium"/>
                <a:sym typeface="HK Grotesk Medium"/>
              </a:rPr>
              <a:t>Being flexible and adapting to change is better than sticking to a rigid plan.</a:t>
            </a:r>
          </a:p>
          <a:p>
            <a:pPr algn="just">
              <a:lnSpc>
                <a:spcPts val="3297"/>
              </a:lnSpc>
            </a:pPr>
          </a:p>
        </p:txBody>
      </p:sp>
      <p:sp>
        <p:nvSpPr>
          <p:cNvPr name="TextBox 6" id="6"/>
          <p:cNvSpPr txBox="true"/>
          <p:nvPr/>
        </p:nvSpPr>
        <p:spPr>
          <a:xfrm rot="0">
            <a:off x="1028700" y="2899461"/>
            <a:ext cx="4719984" cy="501650"/>
          </a:xfrm>
          <a:prstGeom prst="rect">
            <a:avLst/>
          </a:prstGeom>
        </p:spPr>
        <p:txBody>
          <a:bodyPr anchor="t" rtlCol="false" tIns="0" lIns="0" bIns="0" rIns="0">
            <a:spAutoFit/>
          </a:bodyPr>
          <a:lstStyle/>
          <a:p>
            <a:pPr algn="l">
              <a:lnSpc>
                <a:spcPts val="3850"/>
              </a:lnSpc>
            </a:pPr>
            <a:r>
              <a:rPr lang="en-US" b="true" sz="3500">
                <a:solidFill>
                  <a:srgbClr val="128AA8"/>
                </a:solidFill>
                <a:latin typeface="HK Grotesk Bold"/>
                <a:ea typeface="HK Grotesk Bold"/>
                <a:cs typeface="HK Grotesk Bold"/>
                <a:sym typeface="HK Grotesk Bold"/>
              </a:rPr>
              <a:t>The 4 Core Values</a:t>
            </a:r>
          </a:p>
        </p:txBody>
      </p:sp>
      <p:sp>
        <p:nvSpPr>
          <p:cNvPr name="TextBox 7" id="7"/>
          <p:cNvSpPr txBox="true"/>
          <p:nvPr/>
        </p:nvSpPr>
        <p:spPr>
          <a:xfrm rot="0">
            <a:off x="877668" y="816341"/>
            <a:ext cx="16532664" cy="1254756"/>
          </a:xfrm>
          <a:prstGeom prst="rect">
            <a:avLst/>
          </a:prstGeom>
        </p:spPr>
        <p:txBody>
          <a:bodyPr anchor="t" rtlCol="false" tIns="0" lIns="0" bIns="0" rIns="0">
            <a:spAutoFit/>
          </a:bodyPr>
          <a:lstStyle/>
          <a:p>
            <a:pPr algn="ctr">
              <a:lnSpc>
                <a:spcPts val="9679"/>
              </a:lnSpc>
            </a:pPr>
            <a:r>
              <a:rPr lang="en-US" sz="8799">
                <a:solidFill>
                  <a:srgbClr val="1566A8"/>
                </a:solidFill>
                <a:latin typeface="Anton"/>
                <a:ea typeface="Anton"/>
                <a:cs typeface="Anton"/>
                <a:sym typeface="Anton"/>
              </a:rPr>
              <a:t>Agile Manifesto (4 Core Values)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176614" y="806117"/>
            <a:ext cx="392848" cy="97855"/>
          </a:xfrm>
          <a:custGeom>
            <a:avLst/>
            <a:gdLst/>
            <a:ahLst/>
            <a:cxnLst/>
            <a:rect r="r" b="b" t="t" l="l"/>
            <a:pathLst>
              <a:path h="97855" w="392848">
                <a:moveTo>
                  <a:pt x="0" y="0"/>
                </a:moveTo>
                <a:lnTo>
                  <a:pt x="392848" y="0"/>
                </a:lnTo>
                <a:lnTo>
                  <a:pt x="392848" y="97855"/>
                </a:lnTo>
                <a:lnTo>
                  <a:pt x="0" y="978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1759558" y="834692"/>
            <a:ext cx="848550" cy="453402"/>
          </a:xfrm>
          <a:prstGeom prst="rect">
            <a:avLst/>
          </a:prstGeom>
        </p:spPr>
        <p:txBody>
          <a:bodyPr anchor="t" rtlCol="false" tIns="0" lIns="0" bIns="0" rIns="0">
            <a:spAutoFit/>
          </a:bodyPr>
          <a:lstStyle/>
          <a:p>
            <a:pPr algn="l">
              <a:lnSpc>
                <a:spcPts val="1731"/>
              </a:lnSpc>
            </a:pPr>
            <a:r>
              <a:rPr lang="en-US" sz="1731" b="true">
                <a:solidFill>
                  <a:srgbClr val="FFFFFF"/>
                </a:solidFill>
                <a:latin typeface="HK Grotesk Medium"/>
                <a:ea typeface="HK Grotesk Medium"/>
                <a:cs typeface="HK Grotesk Medium"/>
                <a:sym typeface="HK Grotesk Medium"/>
              </a:rPr>
              <a:t>YOUR</a:t>
            </a:r>
          </a:p>
          <a:p>
            <a:pPr algn="l">
              <a:lnSpc>
                <a:spcPts val="1731"/>
              </a:lnSpc>
            </a:pPr>
            <a:r>
              <a:rPr lang="en-US" b="true" sz="1731">
                <a:solidFill>
                  <a:srgbClr val="FFFFFF"/>
                </a:solidFill>
                <a:latin typeface="HK Grotesk Medium"/>
                <a:ea typeface="HK Grotesk Medium"/>
                <a:cs typeface="HK Grotesk Medium"/>
                <a:sym typeface="HK Grotesk Medium"/>
              </a:rPr>
              <a:t>LOGO</a:t>
            </a:r>
          </a:p>
        </p:txBody>
      </p:sp>
      <p:sp>
        <p:nvSpPr>
          <p:cNvPr name="TextBox 4" id="4"/>
          <p:cNvSpPr txBox="true"/>
          <p:nvPr/>
        </p:nvSpPr>
        <p:spPr>
          <a:xfrm rot="0">
            <a:off x="16977227" y="9609888"/>
            <a:ext cx="592235" cy="234508"/>
          </a:xfrm>
          <a:prstGeom prst="rect">
            <a:avLst/>
          </a:prstGeom>
        </p:spPr>
        <p:txBody>
          <a:bodyPr anchor="t" rtlCol="false" tIns="0" lIns="0" bIns="0" rIns="0">
            <a:spAutoFit/>
          </a:bodyPr>
          <a:lstStyle/>
          <a:p>
            <a:pPr algn="r">
              <a:lnSpc>
                <a:spcPts val="1731"/>
              </a:lnSpc>
            </a:pPr>
            <a:r>
              <a:rPr lang="en-US" sz="1731">
                <a:solidFill>
                  <a:srgbClr val="1566A8"/>
                </a:solidFill>
                <a:latin typeface="HK Grotesk"/>
                <a:ea typeface="HK Grotesk"/>
                <a:cs typeface="HK Grotesk"/>
                <a:sym typeface="HK Grotesk"/>
              </a:rPr>
              <a:t>8</a:t>
            </a:r>
          </a:p>
        </p:txBody>
      </p:sp>
      <p:sp>
        <p:nvSpPr>
          <p:cNvPr name="TextBox 5" id="5"/>
          <p:cNvSpPr txBox="true"/>
          <p:nvPr/>
        </p:nvSpPr>
        <p:spPr>
          <a:xfrm rot="0">
            <a:off x="1028700" y="2229506"/>
            <a:ext cx="16230600" cy="7069573"/>
          </a:xfrm>
          <a:prstGeom prst="rect">
            <a:avLst/>
          </a:prstGeom>
        </p:spPr>
        <p:txBody>
          <a:bodyPr anchor="t" rtlCol="false" tIns="0" lIns="0" bIns="0" rIns="0">
            <a:spAutoFit/>
          </a:bodyPr>
          <a:lstStyle/>
          <a:p>
            <a:pPr algn="just" marL="647156" indent="-323578" lvl="1">
              <a:lnSpc>
                <a:spcPts val="4706"/>
              </a:lnSpc>
              <a:buFont typeface="Arial"/>
              <a:buChar char="•"/>
            </a:pPr>
            <a:r>
              <a:rPr lang="en-US" b="true" sz="2997">
                <a:solidFill>
                  <a:srgbClr val="128AA8"/>
                </a:solidFill>
                <a:latin typeface="HK Grotesk Medium"/>
                <a:ea typeface="HK Grotesk Medium"/>
                <a:cs typeface="HK Grotesk Medium"/>
                <a:sym typeface="HK Grotesk Medium"/>
              </a:rPr>
              <a:t>Satisfy the customer through early &amp; continuous delivery of working software.</a:t>
            </a:r>
          </a:p>
          <a:p>
            <a:pPr algn="just" marL="647156" indent="-323578" lvl="1">
              <a:lnSpc>
                <a:spcPts val="4706"/>
              </a:lnSpc>
              <a:buFont typeface="Arial"/>
              <a:buChar char="•"/>
            </a:pPr>
            <a:r>
              <a:rPr lang="en-US" b="true" sz="2997">
                <a:solidFill>
                  <a:srgbClr val="128AA8"/>
                </a:solidFill>
                <a:latin typeface="HK Grotesk Medium"/>
                <a:ea typeface="HK Grotesk Medium"/>
                <a:cs typeface="HK Grotesk Medium"/>
                <a:sym typeface="HK Grotesk Medium"/>
              </a:rPr>
              <a:t>Welcome changing requirements, even late in development.</a:t>
            </a:r>
          </a:p>
          <a:p>
            <a:pPr algn="just" marL="647156" indent="-323578" lvl="1">
              <a:lnSpc>
                <a:spcPts val="4706"/>
              </a:lnSpc>
              <a:buFont typeface="Arial"/>
              <a:buChar char="•"/>
            </a:pPr>
            <a:r>
              <a:rPr lang="en-US" b="true" sz="2997">
                <a:solidFill>
                  <a:srgbClr val="128AA8"/>
                </a:solidFill>
                <a:latin typeface="HK Grotesk Medium"/>
                <a:ea typeface="HK Grotesk Medium"/>
                <a:cs typeface="HK Grotesk Medium"/>
                <a:sym typeface="HK Grotesk Medium"/>
              </a:rPr>
              <a:t>Deliver working software frequently — weeks rather than months.</a:t>
            </a:r>
          </a:p>
          <a:p>
            <a:pPr algn="just" marL="647156" indent="-323578" lvl="1">
              <a:lnSpc>
                <a:spcPts val="4706"/>
              </a:lnSpc>
              <a:buFont typeface="Arial"/>
              <a:buChar char="•"/>
            </a:pPr>
            <a:r>
              <a:rPr lang="en-US" b="true" sz="2997">
                <a:solidFill>
                  <a:srgbClr val="128AA8"/>
                </a:solidFill>
                <a:latin typeface="HK Grotesk Medium"/>
                <a:ea typeface="HK Grotesk Medium"/>
                <a:cs typeface="HK Grotesk Medium"/>
                <a:sym typeface="HK Grotesk Medium"/>
              </a:rPr>
              <a:t>B</a:t>
            </a:r>
            <a:r>
              <a:rPr lang="en-US" b="true" sz="2997">
                <a:solidFill>
                  <a:srgbClr val="128AA8"/>
                </a:solidFill>
                <a:latin typeface="HK Grotesk Medium"/>
                <a:ea typeface="HK Grotesk Medium"/>
                <a:cs typeface="HK Grotesk Medium"/>
                <a:sym typeface="HK Grotesk Medium"/>
              </a:rPr>
              <a:t>usiness people and developers must work together daily.</a:t>
            </a:r>
          </a:p>
          <a:p>
            <a:pPr algn="just" marL="647156" indent="-323578" lvl="1">
              <a:lnSpc>
                <a:spcPts val="4706"/>
              </a:lnSpc>
              <a:buFont typeface="Arial"/>
              <a:buChar char="•"/>
            </a:pPr>
            <a:r>
              <a:rPr lang="en-US" b="true" sz="2997">
                <a:solidFill>
                  <a:srgbClr val="128AA8"/>
                </a:solidFill>
                <a:latin typeface="HK Grotesk Medium"/>
                <a:ea typeface="HK Grotesk Medium"/>
                <a:cs typeface="HK Grotesk Medium"/>
                <a:sym typeface="HK Grotesk Medium"/>
              </a:rPr>
              <a:t>Build projects around motivated individuals — trust and support them.</a:t>
            </a:r>
          </a:p>
          <a:p>
            <a:pPr algn="just" marL="647156" indent="-323578" lvl="1">
              <a:lnSpc>
                <a:spcPts val="4706"/>
              </a:lnSpc>
              <a:buFont typeface="Arial"/>
              <a:buChar char="•"/>
            </a:pPr>
            <a:r>
              <a:rPr lang="en-US" b="true" sz="2997">
                <a:solidFill>
                  <a:srgbClr val="128AA8"/>
                </a:solidFill>
                <a:latin typeface="HK Grotesk Medium"/>
                <a:ea typeface="HK Grotesk Medium"/>
                <a:cs typeface="HK Grotesk Medium"/>
                <a:sym typeface="HK Grotesk Medium"/>
              </a:rPr>
              <a:t>Face-</a:t>
            </a:r>
            <a:r>
              <a:rPr lang="en-US" b="true" sz="2997">
                <a:solidFill>
                  <a:srgbClr val="128AA8"/>
                </a:solidFill>
                <a:latin typeface="HK Grotesk Medium"/>
                <a:ea typeface="HK Grotesk Medium"/>
                <a:cs typeface="HK Grotesk Medium"/>
                <a:sym typeface="HK Grotesk Medium"/>
              </a:rPr>
              <a:t>to-face c</a:t>
            </a:r>
            <a:r>
              <a:rPr lang="en-US" b="true" sz="2997">
                <a:solidFill>
                  <a:srgbClr val="128AA8"/>
                </a:solidFill>
                <a:latin typeface="HK Grotesk Medium"/>
                <a:ea typeface="HK Grotesk Medium"/>
                <a:cs typeface="HK Grotesk Medium"/>
                <a:sym typeface="HK Grotesk Medium"/>
              </a:rPr>
              <a:t>ommunication is the most effective method.</a:t>
            </a:r>
          </a:p>
          <a:p>
            <a:pPr algn="just" marL="647156" indent="-323578" lvl="1">
              <a:lnSpc>
                <a:spcPts val="4706"/>
              </a:lnSpc>
              <a:buFont typeface="Arial"/>
              <a:buChar char="•"/>
            </a:pPr>
            <a:r>
              <a:rPr lang="en-US" b="true" sz="2997">
                <a:solidFill>
                  <a:srgbClr val="128AA8"/>
                </a:solidFill>
                <a:latin typeface="HK Grotesk Medium"/>
                <a:ea typeface="HK Grotesk Medium"/>
                <a:cs typeface="HK Grotesk Medium"/>
                <a:sym typeface="HK Grotesk Medium"/>
              </a:rPr>
              <a:t>Wor</a:t>
            </a:r>
            <a:r>
              <a:rPr lang="en-US" b="true" sz="2997">
                <a:solidFill>
                  <a:srgbClr val="128AA8"/>
                </a:solidFill>
                <a:latin typeface="HK Grotesk Medium"/>
                <a:ea typeface="HK Grotesk Medium"/>
                <a:cs typeface="HK Grotesk Medium"/>
                <a:sym typeface="HK Grotesk Medium"/>
              </a:rPr>
              <a:t>king software is the primary measure of progress.</a:t>
            </a:r>
          </a:p>
          <a:p>
            <a:pPr algn="just" marL="647156" indent="-323578" lvl="1">
              <a:lnSpc>
                <a:spcPts val="4706"/>
              </a:lnSpc>
              <a:buFont typeface="Arial"/>
              <a:buChar char="•"/>
            </a:pPr>
            <a:r>
              <a:rPr lang="en-US" b="true" sz="2997">
                <a:solidFill>
                  <a:srgbClr val="128AA8"/>
                </a:solidFill>
                <a:latin typeface="HK Grotesk Medium"/>
                <a:ea typeface="HK Grotesk Medium"/>
                <a:cs typeface="HK Grotesk Medium"/>
                <a:sym typeface="HK Grotesk Medium"/>
              </a:rPr>
              <a:t>Agile promotes sustainable, consistent development pace.</a:t>
            </a:r>
          </a:p>
          <a:p>
            <a:pPr algn="just" marL="647156" indent="-323578" lvl="1">
              <a:lnSpc>
                <a:spcPts val="4706"/>
              </a:lnSpc>
              <a:buFont typeface="Arial"/>
              <a:buChar char="•"/>
            </a:pPr>
            <a:r>
              <a:rPr lang="en-US" b="true" sz="2997">
                <a:solidFill>
                  <a:srgbClr val="128AA8"/>
                </a:solidFill>
                <a:latin typeface="HK Grotesk Medium"/>
                <a:ea typeface="HK Grotesk Medium"/>
                <a:cs typeface="HK Grotesk Medium"/>
                <a:sym typeface="HK Grotesk Medium"/>
              </a:rPr>
              <a:t>Continuous attention to technical excellence and good design.</a:t>
            </a:r>
          </a:p>
          <a:p>
            <a:pPr algn="just" marL="647156" indent="-323578" lvl="1">
              <a:lnSpc>
                <a:spcPts val="4706"/>
              </a:lnSpc>
              <a:buFont typeface="Arial"/>
              <a:buChar char="•"/>
            </a:pPr>
            <a:r>
              <a:rPr lang="en-US" b="true" sz="2997">
                <a:solidFill>
                  <a:srgbClr val="128AA8"/>
                </a:solidFill>
                <a:latin typeface="HK Grotesk Medium"/>
                <a:ea typeface="HK Grotesk Medium"/>
                <a:cs typeface="HK Grotesk Medium"/>
                <a:sym typeface="HK Grotesk Medium"/>
              </a:rPr>
              <a:t>Simplicity — maximize the work NOT done — is essential.</a:t>
            </a:r>
          </a:p>
          <a:p>
            <a:pPr algn="just" marL="647156" indent="-323578" lvl="1">
              <a:lnSpc>
                <a:spcPts val="4706"/>
              </a:lnSpc>
              <a:buFont typeface="Arial"/>
              <a:buChar char="•"/>
            </a:pPr>
            <a:r>
              <a:rPr lang="en-US" b="true" sz="2997">
                <a:solidFill>
                  <a:srgbClr val="128AA8"/>
                </a:solidFill>
                <a:latin typeface="HK Grotesk Medium"/>
                <a:ea typeface="HK Grotesk Medium"/>
                <a:cs typeface="HK Grotesk Medium"/>
                <a:sym typeface="HK Grotesk Medium"/>
              </a:rPr>
              <a:t>Best architectures and designs emerge from self-organizing teams.</a:t>
            </a:r>
          </a:p>
          <a:p>
            <a:pPr algn="just" marL="647156" indent="-323578" lvl="1">
              <a:lnSpc>
                <a:spcPts val="4706"/>
              </a:lnSpc>
              <a:buFont typeface="Arial"/>
              <a:buChar char="•"/>
            </a:pPr>
            <a:r>
              <a:rPr lang="en-US" b="true" sz="2997">
                <a:solidFill>
                  <a:srgbClr val="128AA8"/>
                </a:solidFill>
                <a:latin typeface="HK Grotesk Medium"/>
                <a:ea typeface="HK Grotesk Medium"/>
                <a:cs typeface="HK Grotesk Medium"/>
                <a:sym typeface="HK Grotesk Medium"/>
              </a:rPr>
              <a:t>Teams regularly reflect on how to become more effective and adjust.</a:t>
            </a:r>
          </a:p>
        </p:txBody>
      </p:sp>
      <p:sp>
        <p:nvSpPr>
          <p:cNvPr name="TextBox 6" id="6"/>
          <p:cNvSpPr txBox="true"/>
          <p:nvPr/>
        </p:nvSpPr>
        <p:spPr>
          <a:xfrm rot="0">
            <a:off x="877668" y="816341"/>
            <a:ext cx="16532664" cy="1254756"/>
          </a:xfrm>
          <a:prstGeom prst="rect">
            <a:avLst/>
          </a:prstGeom>
        </p:spPr>
        <p:txBody>
          <a:bodyPr anchor="t" rtlCol="false" tIns="0" lIns="0" bIns="0" rIns="0">
            <a:spAutoFit/>
          </a:bodyPr>
          <a:lstStyle/>
          <a:p>
            <a:pPr algn="ctr">
              <a:lnSpc>
                <a:spcPts val="9679"/>
              </a:lnSpc>
            </a:pPr>
            <a:r>
              <a:rPr lang="en-US" sz="8799">
                <a:solidFill>
                  <a:srgbClr val="1566A8"/>
                </a:solidFill>
                <a:latin typeface="Anton"/>
                <a:ea typeface="Anton"/>
                <a:cs typeface="Anton"/>
                <a:sym typeface="Anton"/>
              </a:rPr>
              <a:t>12 Principles of Agile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176614" y="806117"/>
            <a:ext cx="392848" cy="97855"/>
          </a:xfrm>
          <a:custGeom>
            <a:avLst/>
            <a:gdLst/>
            <a:ahLst/>
            <a:cxnLst/>
            <a:rect r="r" b="b" t="t" l="l"/>
            <a:pathLst>
              <a:path h="97855" w="392848">
                <a:moveTo>
                  <a:pt x="0" y="0"/>
                </a:moveTo>
                <a:lnTo>
                  <a:pt x="392848" y="0"/>
                </a:lnTo>
                <a:lnTo>
                  <a:pt x="392848" y="97855"/>
                </a:lnTo>
                <a:lnTo>
                  <a:pt x="0" y="978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1759558" y="834692"/>
            <a:ext cx="848550" cy="453402"/>
          </a:xfrm>
          <a:prstGeom prst="rect">
            <a:avLst/>
          </a:prstGeom>
        </p:spPr>
        <p:txBody>
          <a:bodyPr anchor="t" rtlCol="false" tIns="0" lIns="0" bIns="0" rIns="0">
            <a:spAutoFit/>
          </a:bodyPr>
          <a:lstStyle/>
          <a:p>
            <a:pPr algn="l">
              <a:lnSpc>
                <a:spcPts val="1731"/>
              </a:lnSpc>
            </a:pPr>
            <a:r>
              <a:rPr lang="en-US" sz="1731" b="true">
                <a:solidFill>
                  <a:srgbClr val="FFFFFF"/>
                </a:solidFill>
                <a:latin typeface="HK Grotesk Medium"/>
                <a:ea typeface="HK Grotesk Medium"/>
                <a:cs typeface="HK Grotesk Medium"/>
                <a:sym typeface="HK Grotesk Medium"/>
              </a:rPr>
              <a:t>YOUR</a:t>
            </a:r>
          </a:p>
          <a:p>
            <a:pPr algn="l">
              <a:lnSpc>
                <a:spcPts val="1731"/>
              </a:lnSpc>
            </a:pPr>
            <a:r>
              <a:rPr lang="en-US" b="true" sz="1731">
                <a:solidFill>
                  <a:srgbClr val="FFFFFF"/>
                </a:solidFill>
                <a:latin typeface="HK Grotesk Medium"/>
                <a:ea typeface="HK Grotesk Medium"/>
                <a:cs typeface="HK Grotesk Medium"/>
                <a:sym typeface="HK Grotesk Medium"/>
              </a:rPr>
              <a:t>LOGO</a:t>
            </a:r>
          </a:p>
        </p:txBody>
      </p:sp>
      <p:sp>
        <p:nvSpPr>
          <p:cNvPr name="TextBox 4" id="4"/>
          <p:cNvSpPr txBox="true"/>
          <p:nvPr/>
        </p:nvSpPr>
        <p:spPr>
          <a:xfrm rot="0">
            <a:off x="16977227" y="9609888"/>
            <a:ext cx="592235" cy="234508"/>
          </a:xfrm>
          <a:prstGeom prst="rect">
            <a:avLst/>
          </a:prstGeom>
        </p:spPr>
        <p:txBody>
          <a:bodyPr anchor="t" rtlCol="false" tIns="0" lIns="0" bIns="0" rIns="0">
            <a:spAutoFit/>
          </a:bodyPr>
          <a:lstStyle/>
          <a:p>
            <a:pPr algn="r">
              <a:lnSpc>
                <a:spcPts val="1731"/>
              </a:lnSpc>
            </a:pPr>
            <a:r>
              <a:rPr lang="en-US" sz="1731">
                <a:solidFill>
                  <a:srgbClr val="1566A8"/>
                </a:solidFill>
                <a:latin typeface="HK Grotesk"/>
                <a:ea typeface="HK Grotesk"/>
                <a:cs typeface="HK Grotesk"/>
                <a:sym typeface="HK Grotesk"/>
              </a:rPr>
              <a:t>9</a:t>
            </a:r>
          </a:p>
        </p:txBody>
      </p:sp>
      <p:sp>
        <p:nvSpPr>
          <p:cNvPr name="TextBox 5" id="5"/>
          <p:cNvSpPr txBox="true"/>
          <p:nvPr/>
        </p:nvSpPr>
        <p:spPr>
          <a:xfrm rot="0">
            <a:off x="1028700" y="3830947"/>
            <a:ext cx="7482328" cy="5499100"/>
          </a:xfrm>
          <a:prstGeom prst="rect">
            <a:avLst/>
          </a:prstGeom>
        </p:spPr>
        <p:txBody>
          <a:bodyPr anchor="t" rtlCol="false" tIns="0" lIns="0" bIns="0" rIns="0">
            <a:spAutoFit/>
          </a:bodyPr>
          <a:lstStyle/>
          <a:p>
            <a:pPr algn="just">
              <a:lnSpc>
                <a:spcPts val="2749"/>
              </a:lnSpc>
            </a:pPr>
            <a:r>
              <a:rPr lang="en-US" sz="2499" b="true">
                <a:solidFill>
                  <a:srgbClr val="128AA8"/>
                </a:solidFill>
                <a:latin typeface="HK Grotesk Bold"/>
                <a:ea typeface="HK Grotesk Bold"/>
                <a:cs typeface="HK Grotesk Bold"/>
                <a:sym typeface="HK Grotesk Bold"/>
              </a:rPr>
              <a:t>Iterative</a:t>
            </a:r>
          </a:p>
          <a:p>
            <a:pPr algn="just" marL="539749" indent="-269875" lvl="1">
              <a:lnSpc>
                <a:spcPts val="2749"/>
              </a:lnSpc>
              <a:buFont typeface="Arial"/>
              <a:buChar char="•"/>
            </a:pPr>
            <a:r>
              <a:rPr lang="en-US" b="true" sz="2499">
                <a:solidFill>
                  <a:srgbClr val="128AA8"/>
                </a:solidFill>
                <a:latin typeface="HK Grotesk Medium"/>
                <a:ea typeface="HK Grotesk Medium"/>
                <a:cs typeface="HK Grotesk Medium"/>
                <a:sym typeface="HK Grotesk Medium"/>
              </a:rPr>
              <a:t>W</a:t>
            </a:r>
            <a:r>
              <a:rPr lang="en-US" b="true" sz="2499">
                <a:solidFill>
                  <a:srgbClr val="128AA8"/>
                </a:solidFill>
                <a:latin typeface="HK Grotesk Medium"/>
                <a:ea typeface="HK Grotesk Medium"/>
                <a:cs typeface="HK Grotesk Medium"/>
                <a:sym typeface="HK Grotesk Medium"/>
              </a:rPr>
              <a:t>ork is repeated in short cycles. Each cycle improves the product based on what was learned before.</a:t>
            </a:r>
          </a:p>
          <a:p>
            <a:pPr algn="just">
              <a:lnSpc>
                <a:spcPts val="2749"/>
              </a:lnSpc>
            </a:pPr>
          </a:p>
          <a:p>
            <a:pPr algn="just">
              <a:lnSpc>
                <a:spcPts val="2749"/>
              </a:lnSpc>
            </a:pPr>
            <a:r>
              <a:rPr lang="en-US" sz="2499" b="true">
                <a:solidFill>
                  <a:srgbClr val="128AA8"/>
                </a:solidFill>
                <a:latin typeface="HK Grotesk Bold"/>
                <a:ea typeface="HK Grotesk Bold"/>
                <a:cs typeface="HK Grotesk Bold"/>
                <a:sym typeface="HK Grotesk Bold"/>
              </a:rPr>
              <a:t>Incremental</a:t>
            </a:r>
          </a:p>
          <a:p>
            <a:pPr algn="just" marL="539749" indent="-269875" lvl="1">
              <a:lnSpc>
                <a:spcPts val="2749"/>
              </a:lnSpc>
              <a:buFont typeface="Arial"/>
              <a:buChar char="•"/>
            </a:pPr>
            <a:r>
              <a:rPr lang="en-US" b="true" sz="2499">
                <a:solidFill>
                  <a:srgbClr val="128AA8"/>
                </a:solidFill>
                <a:latin typeface="HK Grotesk Medium"/>
                <a:ea typeface="HK Grotesk Medium"/>
                <a:cs typeface="HK Grotesk Medium"/>
                <a:sym typeface="HK Grotesk Medium"/>
              </a:rPr>
              <a:t>The product is built piece by piece. Each piece is tested and added on top of the previous one.</a:t>
            </a:r>
          </a:p>
          <a:p>
            <a:pPr algn="just">
              <a:lnSpc>
                <a:spcPts val="2749"/>
              </a:lnSpc>
            </a:pPr>
          </a:p>
          <a:p>
            <a:pPr algn="just">
              <a:lnSpc>
                <a:spcPts val="2749"/>
              </a:lnSpc>
            </a:pPr>
            <a:r>
              <a:rPr lang="en-US" sz="2499" b="true">
                <a:solidFill>
                  <a:srgbClr val="128AA8"/>
                </a:solidFill>
                <a:latin typeface="HK Grotesk Bold"/>
                <a:ea typeface="HK Grotesk Bold"/>
                <a:cs typeface="HK Grotesk Bold"/>
                <a:sym typeface="HK Grotesk Bold"/>
              </a:rPr>
              <a:t>Flexible</a:t>
            </a:r>
          </a:p>
          <a:p>
            <a:pPr algn="just" marL="539749" indent="-269875" lvl="1">
              <a:lnSpc>
                <a:spcPts val="2749"/>
              </a:lnSpc>
              <a:buFont typeface="Arial"/>
              <a:buChar char="•"/>
            </a:pPr>
            <a:r>
              <a:rPr lang="en-US" b="true" sz="2499">
                <a:solidFill>
                  <a:srgbClr val="128AA8"/>
                </a:solidFill>
                <a:latin typeface="HK Grotesk Medium"/>
                <a:ea typeface="HK Grotesk Medium"/>
                <a:cs typeface="HK Grotesk Medium"/>
                <a:sym typeface="HK Grotesk Medium"/>
              </a:rPr>
              <a:t>Plans can change anytime. If the customer wants something new, the team can adjust quickly without starting over.</a:t>
            </a:r>
          </a:p>
          <a:p>
            <a:pPr algn="just">
              <a:lnSpc>
                <a:spcPts val="2749"/>
              </a:lnSpc>
            </a:pPr>
          </a:p>
          <a:p>
            <a:pPr algn="just">
              <a:lnSpc>
                <a:spcPts val="2749"/>
              </a:lnSpc>
            </a:pPr>
          </a:p>
          <a:p>
            <a:pPr algn="just">
              <a:lnSpc>
                <a:spcPts val="2749"/>
              </a:lnSpc>
            </a:pPr>
          </a:p>
        </p:txBody>
      </p:sp>
      <p:sp>
        <p:nvSpPr>
          <p:cNvPr name="TextBox 6" id="6"/>
          <p:cNvSpPr txBox="true"/>
          <p:nvPr/>
        </p:nvSpPr>
        <p:spPr>
          <a:xfrm rot="0">
            <a:off x="1028700" y="2972834"/>
            <a:ext cx="4719984" cy="501650"/>
          </a:xfrm>
          <a:prstGeom prst="rect">
            <a:avLst/>
          </a:prstGeom>
        </p:spPr>
        <p:txBody>
          <a:bodyPr anchor="t" rtlCol="false" tIns="0" lIns="0" bIns="0" rIns="0">
            <a:spAutoFit/>
          </a:bodyPr>
          <a:lstStyle/>
          <a:p>
            <a:pPr algn="l">
              <a:lnSpc>
                <a:spcPts val="3850"/>
              </a:lnSpc>
            </a:pPr>
            <a:r>
              <a:rPr lang="en-US" b="true" sz="3500">
                <a:solidFill>
                  <a:srgbClr val="128AA8"/>
                </a:solidFill>
                <a:latin typeface="HK Grotesk Bold"/>
                <a:ea typeface="HK Grotesk Bold"/>
                <a:cs typeface="HK Grotesk Bold"/>
                <a:sym typeface="HK Grotesk Bold"/>
              </a:rPr>
              <a:t>Core Characteristics</a:t>
            </a:r>
          </a:p>
        </p:txBody>
      </p:sp>
      <p:sp>
        <p:nvSpPr>
          <p:cNvPr name="TextBox 7" id="7"/>
          <p:cNvSpPr txBox="true"/>
          <p:nvPr/>
        </p:nvSpPr>
        <p:spPr>
          <a:xfrm rot="0">
            <a:off x="877668" y="816341"/>
            <a:ext cx="16532664" cy="1254756"/>
          </a:xfrm>
          <a:prstGeom prst="rect">
            <a:avLst/>
          </a:prstGeom>
        </p:spPr>
        <p:txBody>
          <a:bodyPr anchor="t" rtlCol="false" tIns="0" lIns="0" bIns="0" rIns="0">
            <a:spAutoFit/>
          </a:bodyPr>
          <a:lstStyle/>
          <a:p>
            <a:pPr algn="ctr">
              <a:lnSpc>
                <a:spcPts val="9679"/>
              </a:lnSpc>
            </a:pPr>
            <a:r>
              <a:rPr lang="en-US" sz="8799">
                <a:solidFill>
                  <a:srgbClr val="1566A8"/>
                </a:solidFill>
                <a:latin typeface="Anton"/>
                <a:ea typeface="Anton"/>
                <a:cs typeface="Anton"/>
                <a:sym typeface="Anton"/>
              </a:rPr>
              <a:t>Key Characteristics of Agile</a:t>
            </a:r>
          </a:p>
        </p:txBody>
      </p:sp>
      <p:sp>
        <p:nvSpPr>
          <p:cNvPr name="TextBox 8" id="8"/>
          <p:cNvSpPr txBox="true"/>
          <p:nvPr/>
        </p:nvSpPr>
        <p:spPr>
          <a:xfrm rot="0">
            <a:off x="9694286" y="3830947"/>
            <a:ext cx="7482328" cy="5156200"/>
          </a:xfrm>
          <a:prstGeom prst="rect">
            <a:avLst/>
          </a:prstGeom>
        </p:spPr>
        <p:txBody>
          <a:bodyPr anchor="t" rtlCol="false" tIns="0" lIns="0" bIns="0" rIns="0">
            <a:spAutoFit/>
          </a:bodyPr>
          <a:lstStyle/>
          <a:p>
            <a:pPr algn="just">
              <a:lnSpc>
                <a:spcPts val="2749"/>
              </a:lnSpc>
            </a:pPr>
            <a:r>
              <a:rPr lang="en-US" sz="2499" b="true">
                <a:solidFill>
                  <a:srgbClr val="128AA8"/>
                </a:solidFill>
                <a:latin typeface="HK Grotesk Bold"/>
                <a:ea typeface="HK Grotesk Bold"/>
                <a:cs typeface="HK Grotesk Bold"/>
                <a:sym typeface="HK Grotesk Bold"/>
              </a:rPr>
              <a:t>Team-Oriented</a:t>
            </a:r>
          </a:p>
          <a:p>
            <a:pPr algn="just" marL="539749" indent="-269875" lvl="1">
              <a:lnSpc>
                <a:spcPts val="2749"/>
              </a:lnSpc>
              <a:buFont typeface="Arial"/>
              <a:buChar char="•"/>
            </a:pPr>
            <a:r>
              <a:rPr lang="en-US" b="true" sz="2499">
                <a:solidFill>
                  <a:srgbClr val="128AA8"/>
                </a:solidFill>
                <a:latin typeface="HK Grotesk Medium"/>
                <a:ea typeface="HK Grotesk Medium"/>
                <a:cs typeface="HK Grotesk Medium"/>
                <a:sym typeface="HK Grotesk Medium"/>
              </a:rPr>
              <a:t>Everyone works together. Developers, testers, and customers collaborate daily rather than working in silos.</a:t>
            </a:r>
          </a:p>
          <a:p>
            <a:pPr algn="just">
              <a:lnSpc>
                <a:spcPts val="2749"/>
              </a:lnSpc>
            </a:pPr>
          </a:p>
          <a:p>
            <a:pPr algn="just">
              <a:lnSpc>
                <a:spcPts val="2749"/>
              </a:lnSpc>
            </a:pPr>
            <a:r>
              <a:rPr lang="en-US" sz="2499" b="true">
                <a:solidFill>
                  <a:srgbClr val="128AA8"/>
                </a:solidFill>
                <a:latin typeface="HK Grotesk Bold"/>
                <a:ea typeface="HK Grotesk Bold"/>
                <a:cs typeface="HK Grotesk Bold"/>
                <a:sym typeface="HK Grotesk Bold"/>
              </a:rPr>
              <a:t>Feedback-Driven</a:t>
            </a:r>
          </a:p>
          <a:p>
            <a:pPr algn="just" marL="539749" indent="-269875" lvl="1">
              <a:lnSpc>
                <a:spcPts val="2749"/>
              </a:lnSpc>
              <a:buFont typeface="Arial"/>
              <a:buChar char="•"/>
            </a:pPr>
            <a:r>
              <a:rPr lang="en-US" b="true" sz="2499">
                <a:solidFill>
                  <a:srgbClr val="128AA8"/>
                </a:solidFill>
                <a:latin typeface="HK Grotesk Medium"/>
                <a:ea typeface="HK Grotesk Medium"/>
                <a:cs typeface="HK Grotesk Medium"/>
                <a:sym typeface="HK Grotesk Medium"/>
              </a:rPr>
              <a:t>Regular demos and reviews make sure the team is always building what the customer actually needs.</a:t>
            </a:r>
          </a:p>
          <a:p>
            <a:pPr algn="just">
              <a:lnSpc>
                <a:spcPts val="2749"/>
              </a:lnSpc>
            </a:pPr>
          </a:p>
          <a:p>
            <a:pPr algn="just">
              <a:lnSpc>
                <a:spcPts val="2749"/>
              </a:lnSpc>
            </a:pPr>
            <a:r>
              <a:rPr lang="en-US" sz="2499" b="true">
                <a:solidFill>
                  <a:srgbClr val="128AA8"/>
                </a:solidFill>
                <a:latin typeface="HK Grotesk Bold"/>
                <a:ea typeface="HK Grotesk Bold"/>
                <a:cs typeface="HK Grotesk Bold"/>
                <a:sym typeface="HK Grotesk Bold"/>
              </a:rPr>
              <a:t>Continuous Delivery</a:t>
            </a:r>
          </a:p>
          <a:p>
            <a:pPr algn="just" marL="539749" indent="-269875" lvl="1">
              <a:lnSpc>
                <a:spcPts val="2749"/>
              </a:lnSpc>
              <a:buFont typeface="Arial"/>
              <a:buChar char="•"/>
            </a:pPr>
            <a:r>
              <a:rPr lang="en-US" b="true" sz="2499">
                <a:solidFill>
                  <a:srgbClr val="128AA8"/>
                </a:solidFill>
                <a:latin typeface="HK Grotesk Medium"/>
                <a:ea typeface="HK Grotesk Medium"/>
                <a:cs typeface="HK Grotesk Medium"/>
                <a:sym typeface="HK Grotesk Medium"/>
              </a:rPr>
              <a:t>Working software is released regularly — sometimes every two weeks — instead of waiting for a big final launch.</a:t>
            </a:r>
          </a:p>
          <a:p>
            <a:pPr algn="just">
              <a:lnSpc>
                <a:spcPts val="2749"/>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176614" y="806117"/>
            <a:ext cx="392848" cy="97855"/>
          </a:xfrm>
          <a:custGeom>
            <a:avLst/>
            <a:gdLst/>
            <a:ahLst/>
            <a:cxnLst/>
            <a:rect r="r" b="b" t="t" l="l"/>
            <a:pathLst>
              <a:path h="97855" w="392848">
                <a:moveTo>
                  <a:pt x="0" y="0"/>
                </a:moveTo>
                <a:lnTo>
                  <a:pt x="392848" y="0"/>
                </a:lnTo>
                <a:lnTo>
                  <a:pt x="392848" y="97855"/>
                </a:lnTo>
                <a:lnTo>
                  <a:pt x="0" y="978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1759558" y="834692"/>
            <a:ext cx="848550" cy="453402"/>
          </a:xfrm>
          <a:prstGeom prst="rect">
            <a:avLst/>
          </a:prstGeom>
        </p:spPr>
        <p:txBody>
          <a:bodyPr anchor="t" rtlCol="false" tIns="0" lIns="0" bIns="0" rIns="0">
            <a:spAutoFit/>
          </a:bodyPr>
          <a:lstStyle/>
          <a:p>
            <a:pPr algn="l">
              <a:lnSpc>
                <a:spcPts val="1731"/>
              </a:lnSpc>
            </a:pPr>
            <a:r>
              <a:rPr lang="en-US" sz="1731" b="true">
                <a:solidFill>
                  <a:srgbClr val="FFFFFF"/>
                </a:solidFill>
                <a:latin typeface="HK Grotesk Medium"/>
                <a:ea typeface="HK Grotesk Medium"/>
                <a:cs typeface="HK Grotesk Medium"/>
                <a:sym typeface="HK Grotesk Medium"/>
              </a:rPr>
              <a:t>YOUR</a:t>
            </a:r>
          </a:p>
          <a:p>
            <a:pPr algn="l">
              <a:lnSpc>
                <a:spcPts val="1731"/>
              </a:lnSpc>
            </a:pPr>
            <a:r>
              <a:rPr lang="en-US" b="true" sz="1731">
                <a:solidFill>
                  <a:srgbClr val="FFFFFF"/>
                </a:solidFill>
                <a:latin typeface="HK Grotesk Medium"/>
                <a:ea typeface="HK Grotesk Medium"/>
                <a:cs typeface="HK Grotesk Medium"/>
                <a:sym typeface="HK Grotesk Medium"/>
              </a:rPr>
              <a:t>LOGO</a:t>
            </a:r>
          </a:p>
        </p:txBody>
      </p:sp>
      <p:sp>
        <p:nvSpPr>
          <p:cNvPr name="TextBox 4" id="4"/>
          <p:cNvSpPr txBox="true"/>
          <p:nvPr/>
        </p:nvSpPr>
        <p:spPr>
          <a:xfrm rot="0">
            <a:off x="16977227" y="9609888"/>
            <a:ext cx="592235" cy="234508"/>
          </a:xfrm>
          <a:prstGeom prst="rect">
            <a:avLst/>
          </a:prstGeom>
        </p:spPr>
        <p:txBody>
          <a:bodyPr anchor="t" rtlCol="false" tIns="0" lIns="0" bIns="0" rIns="0">
            <a:spAutoFit/>
          </a:bodyPr>
          <a:lstStyle/>
          <a:p>
            <a:pPr algn="r">
              <a:lnSpc>
                <a:spcPts val="1731"/>
              </a:lnSpc>
            </a:pPr>
            <a:r>
              <a:rPr lang="en-US" sz="1731">
                <a:solidFill>
                  <a:srgbClr val="1566A8"/>
                </a:solidFill>
                <a:latin typeface="HK Grotesk"/>
                <a:ea typeface="HK Grotesk"/>
                <a:cs typeface="HK Grotesk"/>
                <a:sym typeface="HK Grotesk"/>
              </a:rPr>
              <a:t>10</a:t>
            </a:r>
          </a:p>
        </p:txBody>
      </p:sp>
      <p:sp>
        <p:nvSpPr>
          <p:cNvPr name="TextBox 5" id="5"/>
          <p:cNvSpPr txBox="true"/>
          <p:nvPr/>
        </p:nvSpPr>
        <p:spPr>
          <a:xfrm rot="0">
            <a:off x="1028700" y="3655872"/>
            <a:ext cx="7501576" cy="5156200"/>
          </a:xfrm>
          <a:prstGeom prst="rect">
            <a:avLst/>
          </a:prstGeom>
        </p:spPr>
        <p:txBody>
          <a:bodyPr anchor="t" rtlCol="false" tIns="0" lIns="0" bIns="0" rIns="0">
            <a:spAutoFit/>
          </a:bodyPr>
          <a:lstStyle/>
          <a:p>
            <a:pPr algn="l" marL="539749" indent="-269875" lvl="1">
              <a:lnSpc>
                <a:spcPts val="2749"/>
              </a:lnSpc>
              <a:buFont typeface="Arial"/>
              <a:buChar char="•"/>
            </a:pPr>
            <a:r>
              <a:rPr lang="en-US" b="true" sz="2499">
                <a:solidFill>
                  <a:srgbClr val="128AA8"/>
                </a:solidFill>
                <a:latin typeface="HK Grotesk Medium"/>
                <a:ea typeface="HK Grotesk Medium"/>
                <a:cs typeface="HK Grotesk Medium"/>
                <a:sym typeface="HK Grotesk Medium"/>
              </a:rPr>
              <a:t>Faster Delivery: </a:t>
            </a:r>
          </a:p>
          <a:p>
            <a:pPr algn="l">
              <a:lnSpc>
                <a:spcPts val="2749"/>
              </a:lnSpc>
            </a:pPr>
            <a:r>
              <a:rPr lang="en-US" sz="2499" b="true">
                <a:solidFill>
                  <a:srgbClr val="128AA8"/>
                </a:solidFill>
                <a:latin typeface="HK Grotesk Medium"/>
                <a:ea typeface="HK Grotesk Medium"/>
                <a:cs typeface="HK Grotesk Medium"/>
                <a:sym typeface="HK Grotesk Medium"/>
              </a:rPr>
              <a:t>W</a:t>
            </a:r>
            <a:r>
              <a:rPr lang="en-US" sz="2499" b="true">
                <a:solidFill>
                  <a:srgbClr val="128AA8"/>
                </a:solidFill>
                <a:latin typeface="HK Grotesk Medium"/>
                <a:ea typeface="HK Grotesk Medium"/>
                <a:cs typeface="HK Grotesk Medium"/>
                <a:sym typeface="HK Grotesk Medium"/>
              </a:rPr>
              <a:t>orking software is delivered every few weeks, not months.</a:t>
            </a:r>
          </a:p>
          <a:p>
            <a:pPr algn="l" marL="539749" indent="-269875" lvl="1">
              <a:lnSpc>
                <a:spcPts val="2749"/>
              </a:lnSpc>
              <a:buFont typeface="Arial"/>
              <a:buChar char="•"/>
            </a:pPr>
            <a:r>
              <a:rPr lang="en-US" b="true" sz="2499">
                <a:solidFill>
                  <a:srgbClr val="128AA8"/>
                </a:solidFill>
                <a:latin typeface="HK Grotesk Medium"/>
                <a:ea typeface="HK Grotesk Medium"/>
                <a:cs typeface="HK Grotesk Medium"/>
                <a:sym typeface="HK Grotesk Medium"/>
              </a:rPr>
              <a:t>Higher Customer Satisfaction: </a:t>
            </a:r>
          </a:p>
          <a:p>
            <a:pPr algn="l">
              <a:lnSpc>
                <a:spcPts val="2749"/>
              </a:lnSpc>
            </a:pPr>
            <a:r>
              <a:rPr lang="en-US" sz="2499" b="true">
                <a:solidFill>
                  <a:srgbClr val="128AA8"/>
                </a:solidFill>
                <a:latin typeface="HK Grotesk Medium"/>
                <a:ea typeface="HK Grotesk Medium"/>
                <a:cs typeface="HK Grotesk Medium"/>
                <a:sym typeface="HK Grotesk Medium"/>
              </a:rPr>
              <a:t>Customers are involved throughout so the final product matches their real needs.</a:t>
            </a:r>
          </a:p>
          <a:p>
            <a:pPr algn="l" marL="539749" indent="-269875" lvl="1">
              <a:lnSpc>
                <a:spcPts val="2749"/>
              </a:lnSpc>
              <a:buFont typeface="Arial"/>
              <a:buChar char="•"/>
            </a:pPr>
            <a:r>
              <a:rPr lang="en-US" b="true" sz="2499">
                <a:solidFill>
                  <a:srgbClr val="128AA8"/>
                </a:solidFill>
                <a:latin typeface="HK Grotesk Medium"/>
                <a:ea typeface="HK Grotesk Medium"/>
                <a:cs typeface="HK Grotesk Medium"/>
                <a:sym typeface="HK Grotesk Medium"/>
              </a:rPr>
              <a:t>Easy to Adapt: </a:t>
            </a:r>
          </a:p>
          <a:p>
            <a:pPr algn="l">
              <a:lnSpc>
                <a:spcPts val="2749"/>
              </a:lnSpc>
            </a:pPr>
            <a:r>
              <a:rPr lang="en-US" sz="2499" b="true">
                <a:solidFill>
                  <a:srgbClr val="128AA8"/>
                </a:solidFill>
                <a:latin typeface="HK Grotesk Medium"/>
                <a:ea typeface="HK Grotesk Medium"/>
                <a:cs typeface="HK Grotesk Medium"/>
                <a:sym typeface="HK Grotesk Medium"/>
              </a:rPr>
              <a:t>Requirements can change anytime without ruining the whole plan.</a:t>
            </a:r>
          </a:p>
          <a:p>
            <a:pPr algn="l" marL="539749" indent="-269875" lvl="1">
              <a:lnSpc>
                <a:spcPts val="2749"/>
              </a:lnSpc>
              <a:buFont typeface="Arial"/>
              <a:buChar char="•"/>
            </a:pPr>
            <a:r>
              <a:rPr lang="en-US" b="true" sz="2499">
                <a:solidFill>
                  <a:srgbClr val="128AA8"/>
                </a:solidFill>
                <a:latin typeface="HK Grotesk Medium"/>
                <a:ea typeface="HK Grotesk Medium"/>
                <a:cs typeface="HK Grotesk Medium"/>
                <a:sym typeface="HK Grotesk Medium"/>
              </a:rPr>
              <a:t>Early Bug Detection: </a:t>
            </a:r>
          </a:p>
          <a:p>
            <a:pPr algn="l">
              <a:lnSpc>
                <a:spcPts val="2749"/>
              </a:lnSpc>
            </a:pPr>
            <a:r>
              <a:rPr lang="en-US" sz="2499" b="true">
                <a:solidFill>
                  <a:srgbClr val="128AA8"/>
                </a:solidFill>
                <a:latin typeface="HK Grotesk Medium"/>
                <a:ea typeface="HK Grotesk Medium"/>
                <a:cs typeface="HK Grotesk Medium"/>
                <a:sym typeface="HK Grotesk Medium"/>
              </a:rPr>
              <a:t>Testing in every sprint means problems are caught and fixed early.</a:t>
            </a:r>
          </a:p>
          <a:p>
            <a:pPr algn="l" marL="539749" indent="-269875" lvl="1">
              <a:lnSpc>
                <a:spcPts val="2749"/>
              </a:lnSpc>
              <a:buFont typeface="Arial"/>
              <a:buChar char="•"/>
            </a:pPr>
            <a:r>
              <a:rPr lang="en-US" b="true" sz="2499">
                <a:solidFill>
                  <a:srgbClr val="128AA8"/>
                </a:solidFill>
                <a:latin typeface="HK Grotesk Medium"/>
                <a:ea typeface="HK Grotesk Medium"/>
                <a:cs typeface="HK Grotesk Medium"/>
                <a:sym typeface="HK Grotesk Medium"/>
              </a:rPr>
              <a:t>Better Team Morale: </a:t>
            </a:r>
          </a:p>
          <a:p>
            <a:pPr algn="l">
              <a:lnSpc>
                <a:spcPts val="2749"/>
              </a:lnSpc>
            </a:pPr>
            <a:r>
              <a:rPr lang="en-US" sz="2499" b="true">
                <a:solidFill>
                  <a:srgbClr val="128AA8"/>
                </a:solidFill>
                <a:latin typeface="HK Grotesk Medium"/>
                <a:ea typeface="HK Grotesk Medium"/>
                <a:cs typeface="HK Grotesk Medium"/>
                <a:sym typeface="HK Grotesk Medium"/>
              </a:rPr>
              <a:t>Self-organizing teams feel trusted and empowered in their work.</a:t>
            </a:r>
          </a:p>
        </p:txBody>
      </p:sp>
      <p:sp>
        <p:nvSpPr>
          <p:cNvPr name="TextBox 6" id="6"/>
          <p:cNvSpPr txBox="true"/>
          <p:nvPr/>
        </p:nvSpPr>
        <p:spPr>
          <a:xfrm rot="0">
            <a:off x="865794" y="2658889"/>
            <a:ext cx="8096250" cy="501650"/>
          </a:xfrm>
          <a:prstGeom prst="rect">
            <a:avLst/>
          </a:prstGeom>
        </p:spPr>
        <p:txBody>
          <a:bodyPr anchor="t" rtlCol="false" tIns="0" lIns="0" bIns="0" rIns="0">
            <a:spAutoFit/>
          </a:bodyPr>
          <a:lstStyle/>
          <a:p>
            <a:pPr algn="ctr">
              <a:lnSpc>
                <a:spcPts val="3850"/>
              </a:lnSpc>
            </a:pPr>
            <a:r>
              <a:rPr lang="en-US" b="true" sz="3500">
                <a:solidFill>
                  <a:srgbClr val="1566A8"/>
                </a:solidFill>
                <a:latin typeface="HK Grotesk Semi-Bold"/>
                <a:ea typeface="HK Grotesk Semi-Bold"/>
                <a:cs typeface="HK Grotesk Semi-Bold"/>
                <a:sym typeface="HK Grotesk Semi-Bold"/>
              </a:rPr>
              <a:t>BENEFITS</a:t>
            </a:r>
          </a:p>
        </p:txBody>
      </p:sp>
      <p:sp>
        <p:nvSpPr>
          <p:cNvPr name="TextBox 7" id="7"/>
          <p:cNvSpPr txBox="true"/>
          <p:nvPr/>
        </p:nvSpPr>
        <p:spPr>
          <a:xfrm rot="0">
            <a:off x="9255573" y="3655872"/>
            <a:ext cx="7580766" cy="5156200"/>
          </a:xfrm>
          <a:prstGeom prst="rect">
            <a:avLst/>
          </a:prstGeom>
        </p:spPr>
        <p:txBody>
          <a:bodyPr anchor="t" rtlCol="false" tIns="0" lIns="0" bIns="0" rIns="0">
            <a:spAutoFit/>
          </a:bodyPr>
          <a:lstStyle/>
          <a:p>
            <a:pPr algn="l" marL="539749" indent="-269875" lvl="1">
              <a:lnSpc>
                <a:spcPts val="2749"/>
              </a:lnSpc>
              <a:buFont typeface="Arial"/>
              <a:buChar char="•"/>
            </a:pPr>
            <a:r>
              <a:rPr lang="en-US" b="true" sz="2499">
                <a:solidFill>
                  <a:srgbClr val="128AA8"/>
                </a:solidFill>
                <a:latin typeface="HK Grotesk Medium"/>
                <a:ea typeface="HK Grotesk Medium"/>
                <a:cs typeface="HK Grotesk Medium"/>
                <a:sym typeface="HK Grotesk Medium"/>
              </a:rPr>
              <a:t>Needs Experienced Team: </a:t>
            </a:r>
          </a:p>
          <a:p>
            <a:pPr algn="l">
              <a:lnSpc>
                <a:spcPts val="2749"/>
              </a:lnSpc>
            </a:pPr>
            <a:r>
              <a:rPr lang="en-US" sz="2499" b="true">
                <a:solidFill>
                  <a:srgbClr val="128AA8"/>
                </a:solidFill>
                <a:latin typeface="HK Grotesk Medium"/>
                <a:ea typeface="HK Grotesk Medium"/>
                <a:cs typeface="HK Grotesk Medium"/>
                <a:sym typeface="HK Grotesk Medium"/>
              </a:rPr>
              <a:t>Agile works best when team members are skilled and self-motivated.</a:t>
            </a:r>
          </a:p>
          <a:p>
            <a:pPr algn="l" marL="539749" indent="-269875" lvl="1">
              <a:lnSpc>
                <a:spcPts val="2749"/>
              </a:lnSpc>
              <a:buFont typeface="Arial"/>
              <a:buChar char="•"/>
            </a:pPr>
            <a:r>
              <a:rPr lang="en-US" b="true" sz="2499">
                <a:solidFill>
                  <a:srgbClr val="128AA8"/>
                </a:solidFill>
                <a:latin typeface="HK Grotesk Medium"/>
                <a:ea typeface="HK Grotesk Medium"/>
                <a:cs typeface="HK Grotesk Medium"/>
                <a:sym typeface="HK Grotesk Medium"/>
              </a:rPr>
              <a:t>Hard to Predict Budget: </a:t>
            </a:r>
          </a:p>
          <a:p>
            <a:pPr algn="l">
              <a:lnSpc>
                <a:spcPts val="2749"/>
              </a:lnSpc>
            </a:pPr>
            <a:r>
              <a:rPr lang="en-US" sz="2499" b="true">
                <a:solidFill>
                  <a:srgbClr val="128AA8"/>
                </a:solidFill>
                <a:latin typeface="HK Grotesk Medium"/>
                <a:ea typeface="HK Grotesk Medium"/>
                <a:cs typeface="HK Grotesk Medium"/>
                <a:sym typeface="HK Grotesk Medium"/>
              </a:rPr>
              <a:t>Changing requirements make it difficult to estimate final cost and timeline.</a:t>
            </a:r>
          </a:p>
          <a:p>
            <a:pPr algn="l" marL="539749" indent="-269875" lvl="1">
              <a:lnSpc>
                <a:spcPts val="2749"/>
              </a:lnSpc>
              <a:buFont typeface="Arial"/>
              <a:buChar char="•"/>
            </a:pPr>
            <a:r>
              <a:rPr lang="en-US" b="true" sz="2499">
                <a:solidFill>
                  <a:srgbClr val="128AA8"/>
                </a:solidFill>
                <a:latin typeface="HK Grotesk Medium"/>
                <a:ea typeface="HK Grotesk Medium"/>
                <a:cs typeface="HK Grotesk Medium"/>
                <a:sym typeface="HK Grotesk Medium"/>
              </a:rPr>
              <a:t>Requ</a:t>
            </a:r>
            <a:r>
              <a:rPr lang="en-US" b="true" sz="2499">
                <a:solidFill>
                  <a:srgbClr val="128AA8"/>
                </a:solidFill>
                <a:latin typeface="HK Grotesk Medium"/>
                <a:ea typeface="HK Grotesk Medium"/>
                <a:cs typeface="HK Grotesk Medium"/>
                <a:sym typeface="HK Grotesk Medium"/>
              </a:rPr>
              <a:t>ires Active Customer: </a:t>
            </a:r>
          </a:p>
          <a:p>
            <a:pPr algn="l">
              <a:lnSpc>
                <a:spcPts val="2749"/>
              </a:lnSpc>
            </a:pPr>
            <a:r>
              <a:rPr lang="en-US" sz="2499" b="true">
                <a:solidFill>
                  <a:srgbClr val="128AA8"/>
                </a:solidFill>
                <a:latin typeface="HK Grotesk Medium"/>
                <a:ea typeface="HK Grotesk Medium"/>
                <a:cs typeface="HK Grotesk Medium"/>
                <a:sym typeface="HK Grotesk Medium"/>
              </a:rPr>
              <a:t>If the customer is not available for regular feedback, the process breaks down.</a:t>
            </a:r>
          </a:p>
          <a:p>
            <a:pPr algn="l" marL="539749" indent="-269875" lvl="1">
              <a:lnSpc>
                <a:spcPts val="2749"/>
              </a:lnSpc>
              <a:buFont typeface="Arial"/>
              <a:buChar char="•"/>
            </a:pPr>
            <a:r>
              <a:rPr lang="en-US" b="true" sz="2499">
                <a:solidFill>
                  <a:srgbClr val="128AA8"/>
                </a:solidFill>
                <a:latin typeface="HK Grotesk Medium"/>
                <a:ea typeface="HK Grotesk Medium"/>
                <a:cs typeface="HK Grotesk Medium"/>
                <a:sym typeface="HK Grotesk Medium"/>
              </a:rPr>
              <a:t>Ri</a:t>
            </a:r>
            <a:r>
              <a:rPr lang="en-US" b="true" sz="2499">
                <a:solidFill>
                  <a:srgbClr val="128AA8"/>
                </a:solidFill>
                <a:latin typeface="HK Grotesk Medium"/>
                <a:ea typeface="HK Grotesk Medium"/>
                <a:cs typeface="HK Grotesk Medium"/>
                <a:sym typeface="HK Grotesk Medium"/>
              </a:rPr>
              <a:t>sk of Scope Creep: </a:t>
            </a:r>
          </a:p>
          <a:p>
            <a:pPr algn="l">
              <a:lnSpc>
                <a:spcPts val="2749"/>
              </a:lnSpc>
            </a:pPr>
            <a:r>
              <a:rPr lang="en-US" sz="2499" b="true">
                <a:solidFill>
                  <a:srgbClr val="128AA8"/>
                </a:solidFill>
                <a:latin typeface="HK Grotesk Medium"/>
                <a:ea typeface="HK Grotesk Medium"/>
                <a:cs typeface="HK Grotesk Medium"/>
                <a:sym typeface="HK Grotesk Medium"/>
              </a:rPr>
              <a:t>Without discipline, new features keep getting added, delaying the project.</a:t>
            </a:r>
          </a:p>
          <a:p>
            <a:pPr algn="l" marL="539749" indent="-269875" lvl="1">
              <a:lnSpc>
                <a:spcPts val="2749"/>
              </a:lnSpc>
              <a:buFont typeface="Arial"/>
              <a:buChar char="•"/>
            </a:pPr>
            <a:r>
              <a:rPr lang="en-US" b="true" sz="2499">
                <a:solidFill>
                  <a:srgbClr val="128AA8"/>
                </a:solidFill>
                <a:latin typeface="HK Grotesk Medium"/>
                <a:ea typeface="HK Grotesk Medium"/>
                <a:cs typeface="HK Grotesk Medium"/>
                <a:sym typeface="HK Grotesk Medium"/>
              </a:rPr>
              <a:t>Less</a:t>
            </a:r>
            <a:r>
              <a:rPr lang="en-US" b="true" sz="2499">
                <a:solidFill>
                  <a:srgbClr val="128AA8"/>
                </a:solidFill>
                <a:latin typeface="HK Grotesk Medium"/>
                <a:ea typeface="HK Grotesk Medium"/>
                <a:cs typeface="HK Grotesk Medium"/>
                <a:sym typeface="HK Grotesk Medium"/>
              </a:rPr>
              <a:t> Documentation: </a:t>
            </a:r>
          </a:p>
          <a:p>
            <a:pPr algn="l">
              <a:lnSpc>
                <a:spcPts val="2749"/>
              </a:lnSpc>
            </a:pPr>
            <a:r>
              <a:rPr lang="en-US" sz="2499" b="true">
                <a:solidFill>
                  <a:srgbClr val="128AA8"/>
                </a:solidFill>
                <a:latin typeface="HK Grotesk Medium"/>
                <a:ea typeface="HK Grotesk Medium"/>
                <a:cs typeface="HK Grotesk Medium"/>
                <a:sym typeface="HK Grotesk Medium"/>
              </a:rPr>
              <a:t>Light docs can be a problem for future teams or for regulatory compliance.</a:t>
            </a:r>
          </a:p>
        </p:txBody>
      </p:sp>
      <p:sp>
        <p:nvSpPr>
          <p:cNvPr name="TextBox 8" id="8"/>
          <p:cNvSpPr txBox="true"/>
          <p:nvPr/>
        </p:nvSpPr>
        <p:spPr>
          <a:xfrm rot="0">
            <a:off x="8962044" y="2658889"/>
            <a:ext cx="8410995" cy="501650"/>
          </a:xfrm>
          <a:prstGeom prst="rect">
            <a:avLst/>
          </a:prstGeom>
        </p:spPr>
        <p:txBody>
          <a:bodyPr anchor="t" rtlCol="false" tIns="0" lIns="0" bIns="0" rIns="0">
            <a:spAutoFit/>
          </a:bodyPr>
          <a:lstStyle/>
          <a:p>
            <a:pPr algn="ctr">
              <a:lnSpc>
                <a:spcPts val="3850"/>
              </a:lnSpc>
            </a:pPr>
            <a:r>
              <a:rPr lang="en-US" b="true" sz="3500">
                <a:solidFill>
                  <a:srgbClr val="1566A8"/>
                </a:solidFill>
                <a:latin typeface="HK Grotesk Semi-Bold"/>
                <a:ea typeface="HK Grotesk Semi-Bold"/>
                <a:cs typeface="HK Grotesk Semi-Bold"/>
                <a:sym typeface="HK Grotesk Semi-Bold"/>
              </a:rPr>
              <a:t>CHALLENGES</a:t>
            </a:r>
          </a:p>
        </p:txBody>
      </p:sp>
      <p:sp>
        <p:nvSpPr>
          <p:cNvPr name="AutoShape 9" id="9"/>
          <p:cNvSpPr/>
          <p:nvPr/>
        </p:nvSpPr>
        <p:spPr>
          <a:xfrm flipH="true" flipV="true">
            <a:off x="8962044" y="2569998"/>
            <a:ext cx="19050" cy="6531409"/>
          </a:xfrm>
          <a:prstGeom prst="line">
            <a:avLst/>
          </a:prstGeom>
          <a:ln cap="flat" w="38100">
            <a:solidFill>
              <a:srgbClr val="000000"/>
            </a:solidFill>
            <a:prstDash val="solid"/>
            <a:headEnd type="none" len="sm" w="sm"/>
            <a:tailEnd type="none" len="sm" w="sm"/>
          </a:ln>
        </p:spPr>
      </p:sp>
      <p:sp>
        <p:nvSpPr>
          <p:cNvPr name="AutoShape 10" id="10"/>
          <p:cNvSpPr/>
          <p:nvPr/>
        </p:nvSpPr>
        <p:spPr>
          <a:xfrm>
            <a:off x="697788" y="2569998"/>
            <a:ext cx="16863849" cy="0"/>
          </a:xfrm>
          <a:prstGeom prst="line">
            <a:avLst/>
          </a:prstGeom>
          <a:ln cap="flat" w="38100">
            <a:solidFill>
              <a:srgbClr val="000000"/>
            </a:solidFill>
            <a:prstDash val="solid"/>
            <a:headEnd type="none" len="sm" w="sm"/>
            <a:tailEnd type="none" len="sm" w="sm"/>
          </a:ln>
        </p:spPr>
      </p:sp>
      <p:sp>
        <p:nvSpPr>
          <p:cNvPr name="AutoShape 11" id="11"/>
          <p:cNvSpPr/>
          <p:nvPr/>
        </p:nvSpPr>
        <p:spPr>
          <a:xfrm flipH="true" flipV="true">
            <a:off x="688263" y="2570054"/>
            <a:ext cx="19050" cy="6531353"/>
          </a:xfrm>
          <a:prstGeom prst="line">
            <a:avLst/>
          </a:prstGeom>
          <a:ln cap="flat" w="38100">
            <a:solidFill>
              <a:srgbClr val="000000"/>
            </a:solidFill>
            <a:prstDash val="solid"/>
            <a:headEnd type="none" len="sm" w="sm"/>
            <a:tailEnd type="none" len="sm" w="sm"/>
          </a:ln>
        </p:spPr>
      </p:sp>
      <p:sp>
        <p:nvSpPr>
          <p:cNvPr name="AutoShape 12" id="12"/>
          <p:cNvSpPr/>
          <p:nvPr/>
        </p:nvSpPr>
        <p:spPr>
          <a:xfrm flipH="true" flipV="true">
            <a:off x="17580687" y="2569998"/>
            <a:ext cx="19050" cy="6531353"/>
          </a:xfrm>
          <a:prstGeom prst="line">
            <a:avLst/>
          </a:prstGeom>
          <a:ln cap="flat" w="38100">
            <a:solidFill>
              <a:srgbClr val="000000"/>
            </a:solidFill>
            <a:prstDash val="solid"/>
            <a:headEnd type="none" len="sm" w="sm"/>
            <a:tailEnd type="none" len="sm" w="sm"/>
          </a:ln>
        </p:spPr>
      </p:sp>
      <p:sp>
        <p:nvSpPr>
          <p:cNvPr name="AutoShape 13" id="13"/>
          <p:cNvSpPr/>
          <p:nvPr/>
        </p:nvSpPr>
        <p:spPr>
          <a:xfrm>
            <a:off x="716838" y="9082301"/>
            <a:ext cx="16863849" cy="0"/>
          </a:xfrm>
          <a:prstGeom prst="line">
            <a:avLst/>
          </a:prstGeom>
          <a:ln cap="flat" w="38100">
            <a:solidFill>
              <a:srgbClr val="000000"/>
            </a:solidFill>
            <a:prstDash val="solid"/>
            <a:headEnd type="none" len="sm" w="sm"/>
            <a:tailEnd type="none" len="sm" w="sm"/>
          </a:ln>
        </p:spPr>
      </p:sp>
      <p:sp>
        <p:nvSpPr>
          <p:cNvPr name="TextBox 14" id="14"/>
          <p:cNvSpPr txBox="true"/>
          <p:nvPr/>
        </p:nvSpPr>
        <p:spPr>
          <a:xfrm rot="0">
            <a:off x="877668" y="816341"/>
            <a:ext cx="16532664" cy="1254756"/>
          </a:xfrm>
          <a:prstGeom prst="rect">
            <a:avLst/>
          </a:prstGeom>
        </p:spPr>
        <p:txBody>
          <a:bodyPr anchor="t" rtlCol="false" tIns="0" lIns="0" bIns="0" rIns="0">
            <a:spAutoFit/>
          </a:bodyPr>
          <a:lstStyle/>
          <a:p>
            <a:pPr algn="ctr">
              <a:lnSpc>
                <a:spcPts val="9679"/>
              </a:lnSpc>
            </a:pPr>
            <a:r>
              <a:rPr lang="en-US" sz="8799">
                <a:solidFill>
                  <a:srgbClr val="1566A8"/>
                </a:solidFill>
                <a:latin typeface="Anton"/>
                <a:ea typeface="Anton"/>
                <a:cs typeface="Anton"/>
                <a:sym typeface="Anton"/>
              </a:rPr>
              <a:t>Benefits and Challenges of Agile</a:t>
            </a:r>
          </a:p>
        </p:txBody>
      </p:sp>
      <p:sp>
        <p:nvSpPr>
          <p:cNvPr name="AutoShape 15" id="15"/>
          <p:cNvSpPr/>
          <p:nvPr/>
        </p:nvSpPr>
        <p:spPr>
          <a:xfrm>
            <a:off x="688263" y="3370122"/>
            <a:ext cx="16863849" cy="0"/>
          </a:xfrm>
          <a:prstGeom prst="line">
            <a:avLst/>
          </a:prstGeom>
          <a:ln cap="flat" w="38100">
            <a:solidFill>
              <a:srgbClr val="000000"/>
            </a:solidFill>
            <a:prstDash val="solid"/>
            <a:headEnd type="none" len="sm" w="sm"/>
            <a:tailEnd type="none" len="sm" w="sm"/>
          </a:ln>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176614" y="806117"/>
            <a:ext cx="392848" cy="97855"/>
          </a:xfrm>
          <a:custGeom>
            <a:avLst/>
            <a:gdLst/>
            <a:ahLst/>
            <a:cxnLst/>
            <a:rect r="r" b="b" t="t" l="l"/>
            <a:pathLst>
              <a:path h="97855" w="392848">
                <a:moveTo>
                  <a:pt x="0" y="0"/>
                </a:moveTo>
                <a:lnTo>
                  <a:pt x="392848" y="0"/>
                </a:lnTo>
                <a:lnTo>
                  <a:pt x="392848" y="97855"/>
                </a:lnTo>
                <a:lnTo>
                  <a:pt x="0" y="978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1759558" y="834692"/>
            <a:ext cx="848550" cy="453402"/>
          </a:xfrm>
          <a:prstGeom prst="rect">
            <a:avLst/>
          </a:prstGeom>
        </p:spPr>
        <p:txBody>
          <a:bodyPr anchor="t" rtlCol="false" tIns="0" lIns="0" bIns="0" rIns="0">
            <a:spAutoFit/>
          </a:bodyPr>
          <a:lstStyle/>
          <a:p>
            <a:pPr algn="l">
              <a:lnSpc>
                <a:spcPts val="1731"/>
              </a:lnSpc>
            </a:pPr>
            <a:r>
              <a:rPr lang="en-US" sz="1731" b="true">
                <a:solidFill>
                  <a:srgbClr val="FFFFFF"/>
                </a:solidFill>
                <a:latin typeface="HK Grotesk Medium"/>
                <a:ea typeface="HK Grotesk Medium"/>
                <a:cs typeface="HK Grotesk Medium"/>
                <a:sym typeface="HK Grotesk Medium"/>
              </a:rPr>
              <a:t>YOUR</a:t>
            </a:r>
          </a:p>
          <a:p>
            <a:pPr algn="l">
              <a:lnSpc>
                <a:spcPts val="1731"/>
              </a:lnSpc>
            </a:pPr>
            <a:r>
              <a:rPr lang="en-US" b="true" sz="1731">
                <a:solidFill>
                  <a:srgbClr val="FFFFFF"/>
                </a:solidFill>
                <a:latin typeface="HK Grotesk Medium"/>
                <a:ea typeface="HK Grotesk Medium"/>
                <a:cs typeface="HK Grotesk Medium"/>
                <a:sym typeface="HK Grotesk Medium"/>
              </a:rPr>
              <a:t>LOGO</a:t>
            </a:r>
          </a:p>
        </p:txBody>
      </p:sp>
      <p:sp>
        <p:nvSpPr>
          <p:cNvPr name="TextBox 4" id="4"/>
          <p:cNvSpPr txBox="true"/>
          <p:nvPr/>
        </p:nvSpPr>
        <p:spPr>
          <a:xfrm rot="0">
            <a:off x="16667065" y="9286803"/>
            <a:ext cx="592235" cy="234508"/>
          </a:xfrm>
          <a:prstGeom prst="rect">
            <a:avLst/>
          </a:prstGeom>
        </p:spPr>
        <p:txBody>
          <a:bodyPr anchor="t" rtlCol="false" tIns="0" lIns="0" bIns="0" rIns="0">
            <a:spAutoFit/>
          </a:bodyPr>
          <a:lstStyle/>
          <a:p>
            <a:pPr algn="r">
              <a:lnSpc>
                <a:spcPts val="1731"/>
              </a:lnSpc>
            </a:pPr>
            <a:r>
              <a:rPr lang="en-US" sz="1731">
                <a:solidFill>
                  <a:srgbClr val="1566A8"/>
                </a:solidFill>
                <a:latin typeface="HK Grotesk"/>
                <a:ea typeface="HK Grotesk"/>
                <a:cs typeface="HK Grotesk"/>
                <a:sym typeface="HK Grotesk"/>
              </a:rPr>
              <a:t>3</a:t>
            </a:r>
          </a:p>
        </p:txBody>
      </p:sp>
      <p:sp>
        <p:nvSpPr>
          <p:cNvPr name="TextBox 5" id="5"/>
          <p:cNvSpPr txBox="true"/>
          <p:nvPr/>
        </p:nvSpPr>
        <p:spPr>
          <a:xfrm rot="0">
            <a:off x="877668" y="816341"/>
            <a:ext cx="16532664" cy="1254756"/>
          </a:xfrm>
          <a:prstGeom prst="rect">
            <a:avLst/>
          </a:prstGeom>
        </p:spPr>
        <p:txBody>
          <a:bodyPr anchor="t" rtlCol="false" tIns="0" lIns="0" bIns="0" rIns="0">
            <a:spAutoFit/>
          </a:bodyPr>
          <a:lstStyle/>
          <a:p>
            <a:pPr algn="ctr">
              <a:lnSpc>
                <a:spcPts val="9679"/>
              </a:lnSpc>
            </a:pPr>
            <a:r>
              <a:rPr lang="en-US" sz="8799">
                <a:solidFill>
                  <a:srgbClr val="1566A8"/>
                </a:solidFill>
                <a:latin typeface="Anton"/>
                <a:ea typeface="Anton"/>
                <a:cs typeface="Anton"/>
                <a:sym typeface="Anton"/>
              </a:rPr>
              <a:t>What is Plan-Driven Development?</a:t>
            </a:r>
          </a:p>
        </p:txBody>
      </p:sp>
      <p:sp>
        <p:nvSpPr>
          <p:cNvPr name="TextBox 6" id="6"/>
          <p:cNvSpPr txBox="true"/>
          <p:nvPr/>
        </p:nvSpPr>
        <p:spPr>
          <a:xfrm rot="0">
            <a:off x="1183450" y="2366207"/>
            <a:ext cx="15921100" cy="2112758"/>
          </a:xfrm>
          <a:prstGeom prst="rect">
            <a:avLst/>
          </a:prstGeom>
        </p:spPr>
        <p:txBody>
          <a:bodyPr anchor="t" rtlCol="false" tIns="0" lIns="0" bIns="0" rIns="0">
            <a:spAutoFit/>
          </a:bodyPr>
          <a:lstStyle/>
          <a:p>
            <a:pPr algn="just">
              <a:lnSpc>
                <a:spcPts val="3297"/>
              </a:lnSpc>
            </a:pPr>
            <a:r>
              <a:rPr lang="en-US" b="true" sz="2997">
                <a:solidFill>
                  <a:srgbClr val="000000"/>
                </a:solidFill>
                <a:latin typeface="HK Grotesk Medium"/>
                <a:ea typeface="HK Grotesk Medium"/>
                <a:cs typeface="HK Grotesk Medium"/>
                <a:sym typeface="HK Grotesk Medium"/>
              </a:rPr>
              <a:t>Plan-Driven Development is a software development approach where the entire project is carefully planned in advance before coding begins.</a:t>
            </a:r>
          </a:p>
          <a:p>
            <a:pPr algn="just">
              <a:lnSpc>
                <a:spcPts val="3297"/>
              </a:lnSpc>
            </a:pPr>
          </a:p>
          <a:p>
            <a:pPr algn="just">
              <a:lnSpc>
                <a:spcPts val="3297"/>
              </a:lnSpc>
            </a:pPr>
            <a:r>
              <a:rPr lang="en-US" b="true" sz="2997">
                <a:solidFill>
                  <a:srgbClr val="000000"/>
                </a:solidFill>
                <a:latin typeface="HK Grotesk Medium"/>
                <a:ea typeface="HK Grotesk Medium"/>
                <a:cs typeface="HK Grotesk Medium"/>
                <a:sym typeface="HK Grotesk Medium"/>
              </a:rPr>
              <a:t>Each phase such as requirements gathering, design, implementation, testing, and deployment is completed in a fixed sequence.</a:t>
            </a:r>
          </a:p>
        </p:txBody>
      </p:sp>
      <p:sp>
        <p:nvSpPr>
          <p:cNvPr name="TextBox 7" id="7"/>
          <p:cNvSpPr txBox="true"/>
          <p:nvPr/>
        </p:nvSpPr>
        <p:spPr>
          <a:xfrm rot="0">
            <a:off x="877668" y="5200136"/>
            <a:ext cx="14532760" cy="4321175"/>
          </a:xfrm>
          <a:prstGeom prst="rect">
            <a:avLst/>
          </a:prstGeom>
        </p:spPr>
        <p:txBody>
          <a:bodyPr anchor="t" rtlCol="false" tIns="0" lIns="0" bIns="0" rIns="0">
            <a:spAutoFit/>
          </a:bodyPr>
          <a:lstStyle/>
          <a:p>
            <a:pPr algn="l">
              <a:lnSpc>
                <a:spcPts val="5500"/>
              </a:lnSpc>
            </a:pPr>
            <a:r>
              <a:rPr lang="en-US" sz="5000" b="true">
                <a:solidFill>
                  <a:srgbClr val="1566A8"/>
                </a:solidFill>
                <a:latin typeface="HK Grotesk Semi-Bold"/>
                <a:ea typeface="HK Grotesk Semi-Bold"/>
                <a:cs typeface="HK Grotesk Semi-Bold"/>
                <a:sym typeface="HK Grotesk Semi-Bold"/>
              </a:rPr>
              <a:t>THIS APPROACH FOCUSES ON:</a:t>
            </a:r>
          </a:p>
          <a:p>
            <a:pPr algn="l">
              <a:lnSpc>
                <a:spcPts val="5500"/>
              </a:lnSpc>
            </a:pPr>
          </a:p>
          <a:p>
            <a:pPr algn="l" marL="863606" indent="-431803" lvl="1">
              <a:lnSpc>
                <a:spcPts val="4400"/>
              </a:lnSpc>
              <a:buFont typeface="Arial"/>
              <a:buChar char="•"/>
            </a:pPr>
            <a:r>
              <a:rPr lang="en-US" b="true" sz="4000">
                <a:solidFill>
                  <a:srgbClr val="000000"/>
                </a:solidFill>
                <a:latin typeface="HK Grotesk Semi-Bold"/>
                <a:ea typeface="HK Grotesk Semi-Bold"/>
                <a:cs typeface="HK Grotesk Semi-Bold"/>
                <a:sym typeface="HK Grotesk Semi-Bold"/>
              </a:rPr>
              <a:t>Detailed documentation</a:t>
            </a:r>
          </a:p>
          <a:p>
            <a:pPr algn="l" marL="863606" indent="-431803" lvl="1">
              <a:lnSpc>
                <a:spcPts val="4400"/>
              </a:lnSpc>
              <a:buFont typeface="Arial"/>
              <a:buChar char="•"/>
            </a:pPr>
            <a:r>
              <a:rPr lang="en-US" b="true" sz="4000">
                <a:solidFill>
                  <a:srgbClr val="000000"/>
                </a:solidFill>
                <a:latin typeface="HK Grotesk Semi-Bold"/>
                <a:ea typeface="HK Grotesk Semi-Bold"/>
                <a:cs typeface="HK Grotesk Semi-Bold"/>
                <a:sym typeface="HK Grotesk Semi-Bold"/>
              </a:rPr>
              <a:t>Strict planning</a:t>
            </a:r>
          </a:p>
          <a:p>
            <a:pPr algn="l" marL="863606" indent="-431803" lvl="1">
              <a:lnSpc>
                <a:spcPts val="4400"/>
              </a:lnSpc>
              <a:buFont typeface="Arial"/>
              <a:buChar char="•"/>
            </a:pPr>
            <a:r>
              <a:rPr lang="en-US" b="true" sz="4000">
                <a:solidFill>
                  <a:srgbClr val="000000"/>
                </a:solidFill>
                <a:latin typeface="HK Grotesk Semi-Bold"/>
                <a:ea typeface="HK Grotesk Semi-Bold"/>
                <a:cs typeface="HK Grotesk Semi-Bold"/>
                <a:sym typeface="HK Grotesk Semi-Bold"/>
              </a:rPr>
              <a:t>Defined processes</a:t>
            </a:r>
          </a:p>
          <a:p>
            <a:pPr algn="l" marL="863606" indent="-431803" lvl="1">
              <a:lnSpc>
                <a:spcPts val="4400"/>
              </a:lnSpc>
              <a:buFont typeface="Arial"/>
              <a:buChar char="•"/>
            </a:pPr>
            <a:r>
              <a:rPr lang="en-US" b="true" sz="4000">
                <a:solidFill>
                  <a:srgbClr val="000000"/>
                </a:solidFill>
                <a:latin typeface="HK Grotesk Semi-Bold"/>
                <a:ea typeface="HK Grotesk Semi-Bold"/>
                <a:cs typeface="HK Grotesk Semi-Bold"/>
                <a:sym typeface="HK Grotesk Semi-Bold"/>
              </a:rPr>
              <a:t>Predictable schedules</a:t>
            </a:r>
          </a:p>
          <a:p>
            <a:pPr algn="l">
              <a:lnSpc>
                <a:spcPts val="5500"/>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176614" y="806117"/>
            <a:ext cx="392848" cy="97855"/>
          </a:xfrm>
          <a:custGeom>
            <a:avLst/>
            <a:gdLst/>
            <a:ahLst/>
            <a:cxnLst/>
            <a:rect r="r" b="b" t="t" l="l"/>
            <a:pathLst>
              <a:path h="97855" w="392848">
                <a:moveTo>
                  <a:pt x="0" y="0"/>
                </a:moveTo>
                <a:lnTo>
                  <a:pt x="392848" y="0"/>
                </a:lnTo>
                <a:lnTo>
                  <a:pt x="392848" y="97855"/>
                </a:lnTo>
                <a:lnTo>
                  <a:pt x="0" y="978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1759558" y="834692"/>
            <a:ext cx="848550" cy="453402"/>
          </a:xfrm>
          <a:prstGeom prst="rect">
            <a:avLst/>
          </a:prstGeom>
        </p:spPr>
        <p:txBody>
          <a:bodyPr anchor="t" rtlCol="false" tIns="0" lIns="0" bIns="0" rIns="0">
            <a:spAutoFit/>
          </a:bodyPr>
          <a:lstStyle/>
          <a:p>
            <a:pPr algn="l">
              <a:lnSpc>
                <a:spcPts val="1731"/>
              </a:lnSpc>
            </a:pPr>
            <a:r>
              <a:rPr lang="en-US" sz="1731" b="true">
                <a:solidFill>
                  <a:srgbClr val="FFFFFF"/>
                </a:solidFill>
                <a:latin typeface="HK Grotesk Medium"/>
                <a:ea typeface="HK Grotesk Medium"/>
                <a:cs typeface="HK Grotesk Medium"/>
                <a:sym typeface="HK Grotesk Medium"/>
              </a:rPr>
              <a:t>YOUR</a:t>
            </a:r>
          </a:p>
          <a:p>
            <a:pPr algn="l">
              <a:lnSpc>
                <a:spcPts val="1731"/>
              </a:lnSpc>
            </a:pPr>
            <a:r>
              <a:rPr lang="en-US" b="true" sz="1731">
                <a:solidFill>
                  <a:srgbClr val="FFFFFF"/>
                </a:solidFill>
                <a:latin typeface="HK Grotesk Medium"/>
                <a:ea typeface="HK Grotesk Medium"/>
                <a:cs typeface="HK Grotesk Medium"/>
                <a:sym typeface="HK Grotesk Medium"/>
              </a:rPr>
              <a:t>LOGO</a:t>
            </a:r>
          </a:p>
        </p:txBody>
      </p:sp>
      <p:sp>
        <p:nvSpPr>
          <p:cNvPr name="TextBox 4" id="4"/>
          <p:cNvSpPr txBox="true"/>
          <p:nvPr/>
        </p:nvSpPr>
        <p:spPr>
          <a:xfrm rot="0">
            <a:off x="375502" y="3641623"/>
            <a:ext cx="4619826" cy="6572218"/>
          </a:xfrm>
          <a:prstGeom prst="rect">
            <a:avLst/>
          </a:prstGeom>
        </p:spPr>
        <p:txBody>
          <a:bodyPr anchor="t" rtlCol="false" tIns="0" lIns="0" bIns="0" rIns="0">
            <a:spAutoFit/>
          </a:bodyPr>
          <a:lstStyle/>
          <a:p>
            <a:pPr algn="l" marL="647156" indent="-323578" lvl="1">
              <a:lnSpc>
                <a:spcPts val="3297"/>
              </a:lnSpc>
              <a:buFont typeface="Arial"/>
              <a:buChar char="•"/>
            </a:pPr>
            <a:r>
              <a:rPr lang="en-US" sz="2997">
                <a:solidFill>
                  <a:srgbClr val="022948"/>
                </a:solidFill>
                <a:latin typeface="HK Grotesk"/>
                <a:ea typeface="HK Grotesk"/>
                <a:cs typeface="HK Grotesk"/>
                <a:sym typeface="HK Grotesk"/>
              </a:rPr>
              <a:t>Development follows a step-by-step order:</a:t>
            </a:r>
          </a:p>
          <a:p>
            <a:pPr algn="l">
              <a:lnSpc>
                <a:spcPts val="3297"/>
              </a:lnSpc>
            </a:pPr>
          </a:p>
          <a:p>
            <a:pPr algn="l">
              <a:lnSpc>
                <a:spcPts val="3297"/>
              </a:lnSpc>
            </a:pPr>
          </a:p>
          <a:p>
            <a:pPr algn="l" marL="647156" indent="-323578" lvl="1">
              <a:lnSpc>
                <a:spcPts val="3297"/>
              </a:lnSpc>
              <a:buAutoNum type="arabicPeriod" startAt="1"/>
            </a:pPr>
            <a:r>
              <a:rPr lang="en-US" b="true" sz="2997">
                <a:solidFill>
                  <a:srgbClr val="022948"/>
                </a:solidFill>
                <a:latin typeface="HK Grotesk Bold"/>
                <a:ea typeface="HK Grotesk Bold"/>
                <a:cs typeface="HK Grotesk Bold"/>
                <a:sym typeface="HK Grotesk Bold"/>
              </a:rPr>
              <a:t>Requirements</a:t>
            </a:r>
          </a:p>
          <a:p>
            <a:pPr algn="l">
              <a:lnSpc>
                <a:spcPts val="3297"/>
              </a:lnSpc>
            </a:pPr>
          </a:p>
          <a:p>
            <a:pPr algn="l" marL="647156" indent="-323578" lvl="1">
              <a:lnSpc>
                <a:spcPts val="3297"/>
              </a:lnSpc>
              <a:buAutoNum type="arabicPeriod" startAt="1"/>
            </a:pPr>
            <a:r>
              <a:rPr lang="en-US" sz="2997">
                <a:solidFill>
                  <a:srgbClr val="022948"/>
                </a:solidFill>
                <a:latin typeface="HK Grotesk"/>
                <a:ea typeface="HK Grotesk"/>
                <a:cs typeface="HK Grotesk"/>
                <a:sym typeface="HK Grotesk"/>
              </a:rPr>
              <a:t>D</a:t>
            </a:r>
            <a:r>
              <a:rPr lang="en-US" b="true" sz="2997">
                <a:solidFill>
                  <a:srgbClr val="022948"/>
                </a:solidFill>
                <a:latin typeface="HK Grotesk Bold"/>
                <a:ea typeface="HK Grotesk Bold"/>
                <a:cs typeface="HK Grotesk Bold"/>
                <a:sym typeface="HK Grotesk Bold"/>
              </a:rPr>
              <a:t>esign</a:t>
            </a:r>
          </a:p>
          <a:p>
            <a:pPr algn="l">
              <a:lnSpc>
                <a:spcPts val="3297"/>
              </a:lnSpc>
            </a:pPr>
          </a:p>
          <a:p>
            <a:pPr algn="l" marL="647156" indent="-323578" lvl="1">
              <a:lnSpc>
                <a:spcPts val="3297"/>
              </a:lnSpc>
              <a:buAutoNum type="arabicPeriod" startAt="1"/>
            </a:pPr>
            <a:r>
              <a:rPr lang="en-US" sz="2997">
                <a:solidFill>
                  <a:srgbClr val="022948"/>
                </a:solidFill>
                <a:latin typeface="HK Grotesk"/>
                <a:ea typeface="HK Grotesk"/>
                <a:cs typeface="HK Grotesk"/>
                <a:sym typeface="HK Grotesk"/>
              </a:rPr>
              <a:t>I</a:t>
            </a:r>
            <a:r>
              <a:rPr lang="en-US" b="true" sz="2997">
                <a:solidFill>
                  <a:srgbClr val="022948"/>
                </a:solidFill>
                <a:latin typeface="HK Grotesk Bold"/>
                <a:ea typeface="HK Grotesk Bold"/>
                <a:cs typeface="HK Grotesk Bold"/>
                <a:sym typeface="HK Grotesk Bold"/>
              </a:rPr>
              <a:t>mplementation</a:t>
            </a:r>
          </a:p>
          <a:p>
            <a:pPr algn="l">
              <a:lnSpc>
                <a:spcPts val="3297"/>
              </a:lnSpc>
            </a:pPr>
          </a:p>
          <a:p>
            <a:pPr algn="l" marL="647156" indent="-323578" lvl="1">
              <a:lnSpc>
                <a:spcPts val="3297"/>
              </a:lnSpc>
              <a:buAutoNum type="arabicPeriod" startAt="1"/>
            </a:pPr>
            <a:r>
              <a:rPr lang="en-US" sz="2997">
                <a:solidFill>
                  <a:srgbClr val="022948"/>
                </a:solidFill>
                <a:latin typeface="HK Grotesk"/>
                <a:ea typeface="HK Grotesk"/>
                <a:cs typeface="HK Grotesk"/>
                <a:sym typeface="HK Grotesk"/>
              </a:rPr>
              <a:t>T</a:t>
            </a:r>
            <a:r>
              <a:rPr lang="en-US" b="true" sz="2997">
                <a:solidFill>
                  <a:srgbClr val="022948"/>
                </a:solidFill>
                <a:latin typeface="HK Grotesk Bold"/>
                <a:ea typeface="HK Grotesk Bold"/>
                <a:cs typeface="HK Grotesk Bold"/>
                <a:sym typeface="HK Grotesk Bold"/>
              </a:rPr>
              <a:t>esting</a:t>
            </a:r>
          </a:p>
          <a:p>
            <a:pPr algn="l">
              <a:lnSpc>
                <a:spcPts val="3297"/>
              </a:lnSpc>
            </a:pPr>
          </a:p>
          <a:p>
            <a:pPr algn="l" marL="647156" indent="-323578" lvl="1">
              <a:lnSpc>
                <a:spcPts val="3297"/>
              </a:lnSpc>
              <a:buAutoNum type="arabicPeriod" startAt="1"/>
            </a:pPr>
            <a:r>
              <a:rPr lang="en-US" sz="2997">
                <a:solidFill>
                  <a:srgbClr val="022948"/>
                </a:solidFill>
                <a:latin typeface="HK Grotesk"/>
                <a:ea typeface="HK Grotesk"/>
                <a:cs typeface="HK Grotesk"/>
                <a:sym typeface="HK Grotesk"/>
              </a:rPr>
              <a:t>D</a:t>
            </a:r>
            <a:r>
              <a:rPr lang="en-US" b="true" sz="2997">
                <a:solidFill>
                  <a:srgbClr val="022948"/>
                </a:solidFill>
                <a:latin typeface="HK Grotesk Bold"/>
                <a:ea typeface="HK Grotesk Bold"/>
                <a:cs typeface="HK Grotesk Bold"/>
                <a:sym typeface="HK Grotesk Bold"/>
              </a:rPr>
              <a:t>eployment</a:t>
            </a:r>
          </a:p>
          <a:p>
            <a:pPr algn="l">
              <a:lnSpc>
                <a:spcPts val="3297"/>
              </a:lnSpc>
            </a:pPr>
          </a:p>
          <a:p>
            <a:pPr algn="l" marL="647156" indent="-323578" lvl="1">
              <a:lnSpc>
                <a:spcPts val="3297"/>
              </a:lnSpc>
              <a:buAutoNum type="arabicPeriod" startAt="1"/>
            </a:pPr>
            <a:r>
              <a:rPr lang="en-US" sz="2997">
                <a:solidFill>
                  <a:srgbClr val="022948"/>
                </a:solidFill>
                <a:latin typeface="HK Grotesk"/>
                <a:ea typeface="HK Grotesk"/>
                <a:cs typeface="HK Grotesk"/>
                <a:sym typeface="HK Grotesk"/>
              </a:rPr>
              <a:t>M</a:t>
            </a:r>
            <a:r>
              <a:rPr lang="en-US" b="true" sz="2997">
                <a:solidFill>
                  <a:srgbClr val="022948"/>
                </a:solidFill>
                <a:latin typeface="HK Grotesk Bold"/>
                <a:ea typeface="HK Grotesk Bold"/>
                <a:cs typeface="HK Grotesk Bold"/>
                <a:sym typeface="HK Grotesk Bold"/>
              </a:rPr>
              <a:t>aintenance</a:t>
            </a:r>
          </a:p>
          <a:p>
            <a:pPr algn="l">
              <a:lnSpc>
                <a:spcPts val="3297"/>
              </a:lnSpc>
            </a:pPr>
          </a:p>
        </p:txBody>
      </p:sp>
      <p:sp>
        <p:nvSpPr>
          <p:cNvPr name="TextBox 5" id="5"/>
          <p:cNvSpPr txBox="true"/>
          <p:nvPr/>
        </p:nvSpPr>
        <p:spPr>
          <a:xfrm rot="0">
            <a:off x="840374" y="444185"/>
            <a:ext cx="16532664" cy="1254756"/>
          </a:xfrm>
          <a:prstGeom prst="rect">
            <a:avLst/>
          </a:prstGeom>
        </p:spPr>
        <p:txBody>
          <a:bodyPr anchor="t" rtlCol="false" tIns="0" lIns="0" bIns="0" rIns="0">
            <a:spAutoFit/>
          </a:bodyPr>
          <a:lstStyle/>
          <a:p>
            <a:pPr algn="ctr">
              <a:lnSpc>
                <a:spcPts val="9679"/>
              </a:lnSpc>
            </a:pPr>
            <a:r>
              <a:rPr lang="en-US" sz="8799">
                <a:solidFill>
                  <a:srgbClr val="1566A8"/>
                </a:solidFill>
                <a:latin typeface="Anton"/>
                <a:ea typeface="Anton"/>
                <a:cs typeface="Anton"/>
                <a:sym typeface="Anton"/>
              </a:rPr>
              <a:t>Features of Plan-Driven Development</a:t>
            </a:r>
          </a:p>
        </p:txBody>
      </p:sp>
      <p:sp>
        <p:nvSpPr>
          <p:cNvPr name="TextBox 6" id="6"/>
          <p:cNvSpPr txBox="true"/>
          <p:nvPr/>
        </p:nvSpPr>
        <p:spPr>
          <a:xfrm rot="0">
            <a:off x="-340975" y="2126013"/>
            <a:ext cx="5336304" cy="795020"/>
          </a:xfrm>
          <a:prstGeom prst="rect">
            <a:avLst/>
          </a:prstGeom>
        </p:spPr>
        <p:txBody>
          <a:bodyPr anchor="t" rtlCol="false" tIns="0" lIns="0" bIns="0" rIns="0">
            <a:spAutoFit/>
          </a:bodyPr>
          <a:lstStyle/>
          <a:p>
            <a:pPr algn="l" marL="1209045" indent="-604523" lvl="1">
              <a:lnSpc>
                <a:spcPts val="6160"/>
              </a:lnSpc>
              <a:buAutoNum type="arabicPeriod" startAt="1"/>
            </a:pPr>
            <a:r>
              <a:rPr lang="en-US" sz="5600">
                <a:solidFill>
                  <a:srgbClr val="1566A8"/>
                </a:solidFill>
                <a:latin typeface="Anton"/>
                <a:ea typeface="Anton"/>
                <a:cs typeface="Anton"/>
                <a:sym typeface="Anton"/>
              </a:rPr>
              <a:t> Sequential</a:t>
            </a:r>
          </a:p>
        </p:txBody>
      </p:sp>
      <p:sp>
        <p:nvSpPr>
          <p:cNvPr name="TextBox 7" id="7"/>
          <p:cNvSpPr txBox="true"/>
          <p:nvPr/>
        </p:nvSpPr>
        <p:spPr>
          <a:xfrm rot="0">
            <a:off x="5520345" y="1960986"/>
            <a:ext cx="5461372" cy="1456690"/>
          </a:xfrm>
          <a:prstGeom prst="rect">
            <a:avLst/>
          </a:prstGeom>
        </p:spPr>
        <p:txBody>
          <a:bodyPr anchor="t" rtlCol="false" tIns="0" lIns="0" bIns="0" rIns="0">
            <a:spAutoFit/>
          </a:bodyPr>
          <a:lstStyle/>
          <a:p>
            <a:pPr algn="l" marL="1122688" indent="-561344" lvl="1">
              <a:lnSpc>
                <a:spcPts val="5720"/>
              </a:lnSpc>
              <a:buAutoNum type="arabicPeriod" startAt="1"/>
            </a:pPr>
            <a:r>
              <a:rPr lang="en-US" sz="5200">
                <a:solidFill>
                  <a:srgbClr val="1566A8"/>
                </a:solidFill>
                <a:latin typeface="Anton"/>
                <a:ea typeface="Anton"/>
                <a:cs typeface="Anton"/>
                <a:sym typeface="Anton"/>
              </a:rPr>
              <a:t> Heavy Documentation</a:t>
            </a:r>
          </a:p>
        </p:txBody>
      </p:sp>
      <p:sp>
        <p:nvSpPr>
          <p:cNvPr name="TextBox 8" id="8"/>
          <p:cNvSpPr txBox="true"/>
          <p:nvPr/>
        </p:nvSpPr>
        <p:spPr>
          <a:xfrm rot="0">
            <a:off x="6213949" y="3646277"/>
            <a:ext cx="5860102" cy="4114768"/>
          </a:xfrm>
          <a:prstGeom prst="rect">
            <a:avLst/>
          </a:prstGeom>
        </p:spPr>
        <p:txBody>
          <a:bodyPr anchor="t" rtlCol="false" tIns="0" lIns="0" bIns="0" rIns="0">
            <a:spAutoFit/>
          </a:bodyPr>
          <a:lstStyle/>
          <a:p>
            <a:pPr algn="l" marL="647156" indent="-323578" lvl="1">
              <a:lnSpc>
                <a:spcPts val="3297"/>
              </a:lnSpc>
              <a:buFont typeface="Arial"/>
              <a:buChar char="•"/>
            </a:pPr>
            <a:r>
              <a:rPr lang="en-US" sz="2997">
                <a:solidFill>
                  <a:srgbClr val="022948"/>
                </a:solidFill>
                <a:latin typeface="HK Grotesk"/>
                <a:ea typeface="HK Grotesk"/>
                <a:cs typeface="HK Grotesk"/>
                <a:sym typeface="HK Grotesk"/>
              </a:rPr>
              <a:t>Detailed documents are created for:</a:t>
            </a:r>
          </a:p>
          <a:p>
            <a:pPr algn="l">
              <a:lnSpc>
                <a:spcPts val="3297"/>
              </a:lnSpc>
            </a:pPr>
          </a:p>
          <a:p>
            <a:pPr algn="l" marL="647156" indent="-323578" lvl="1">
              <a:lnSpc>
                <a:spcPts val="3297"/>
              </a:lnSpc>
              <a:buAutoNum type="arabicPeriod" startAt="1"/>
            </a:pPr>
            <a:r>
              <a:rPr lang="en-US" b="true" sz="2997">
                <a:solidFill>
                  <a:srgbClr val="022948"/>
                </a:solidFill>
                <a:latin typeface="HK Grotesk Bold"/>
                <a:ea typeface="HK Grotesk Bold"/>
                <a:cs typeface="HK Grotesk Bold"/>
                <a:sym typeface="HK Grotesk Bold"/>
              </a:rPr>
              <a:t>Requirements</a:t>
            </a:r>
          </a:p>
          <a:p>
            <a:pPr algn="l">
              <a:lnSpc>
                <a:spcPts val="3297"/>
              </a:lnSpc>
            </a:pPr>
          </a:p>
          <a:p>
            <a:pPr algn="l" marL="647156" indent="-323578" lvl="1">
              <a:lnSpc>
                <a:spcPts val="3297"/>
              </a:lnSpc>
              <a:buAutoNum type="arabicPeriod" startAt="1"/>
            </a:pPr>
            <a:r>
              <a:rPr lang="en-US" sz="2997">
                <a:solidFill>
                  <a:srgbClr val="022948"/>
                </a:solidFill>
                <a:latin typeface="HK Grotesk"/>
                <a:ea typeface="HK Grotesk"/>
                <a:cs typeface="HK Grotesk"/>
                <a:sym typeface="HK Grotesk"/>
              </a:rPr>
              <a:t>S</a:t>
            </a:r>
            <a:r>
              <a:rPr lang="en-US" b="true" sz="2997">
                <a:solidFill>
                  <a:srgbClr val="022948"/>
                </a:solidFill>
                <a:latin typeface="HK Grotesk Bold"/>
                <a:ea typeface="HK Grotesk Bold"/>
                <a:cs typeface="HK Grotesk Bold"/>
                <a:sym typeface="HK Grotesk Bold"/>
              </a:rPr>
              <a:t>y</a:t>
            </a:r>
            <a:r>
              <a:rPr lang="en-US" b="true" sz="2997">
                <a:solidFill>
                  <a:srgbClr val="022948"/>
                </a:solidFill>
                <a:latin typeface="HK Grotesk Bold"/>
                <a:ea typeface="HK Grotesk Bold"/>
                <a:cs typeface="HK Grotesk Bold"/>
                <a:sym typeface="HK Grotesk Bold"/>
              </a:rPr>
              <a:t>stem design</a:t>
            </a:r>
          </a:p>
          <a:p>
            <a:pPr algn="l">
              <a:lnSpc>
                <a:spcPts val="3297"/>
              </a:lnSpc>
            </a:pPr>
          </a:p>
          <a:p>
            <a:pPr algn="l" marL="647156" indent="-323578" lvl="1">
              <a:lnSpc>
                <a:spcPts val="3297"/>
              </a:lnSpc>
              <a:buAutoNum type="arabicPeriod" startAt="1"/>
            </a:pPr>
            <a:r>
              <a:rPr lang="en-US" sz="2997">
                <a:solidFill>
                  <a:srgbClr val="022948"/>
                </a:solidFill>
                <a:latin typeface="HK Grotesk"/>
                <a:ea typeface="HK Grotesk"/>
                <a:cs typeface="HK Grotesk"/>
                <a:sym typeface="HK Grotesk"/>
              </a:rPr>
              <a:t>T</a:t>
            </a:r>
            <a:r>
              <a:rPr lang="en-US" b="true" sz="2997">
                <a:solidFill>
                  <a:srgbClr val="022948"/>
                </a:solidFill>
                <a:latin typeface="HK Grotesk Bold"/>
                <a:ea typeface="HK Grotesk Bold"/>
                <a:cs typeface="HK Grotesk Bold"/>
                <a:sym typeface="HK Grotesk Bold"/>
              </a:rPr>
              <a:t>esting plans</a:t>
            </a:r>
          </a:p>
          <a:p>
            <a:pPr algn="l">
              <a:lnSpc>
                <a:spcPts val="3297"/>
              </a:lnSpc>
            </a:pPr>
          </a:p>
          <a:p>
            <a:pPr algn="l" marL="647156" indent="-323578" lvl="1">
              <a:lnSpc>
                <a:spcPts val="3297"/>
              </a:lnSpc>
              <a:buAutoNum type="arabicPeriod" startAt="1"/>
            </a:pPr>
            <a:r>
              <a:rPr lang="en-US" sz="2997">
                <a:solidFill>
                  <a:srgbClr val="022948"/>
                </a:solidFill>
                <a:latin typeface="HK Grotesk"/>
                <a:ea typeface="HK Grotesk"/>
                <a:cs typeface="HK Grotesk"/>
                <a:sym typeface="HK Grotesk"/>
              </a:rPr>
              <a:t>U</a:t>
            </a:r>
            <a:r>
              <a:rPr lang="en-US" b="true" sz="2997">
                <a:solidFill>
                  <a:srgbClr val="022948"/>
                </a:solidFill>
                <a:latin typeface="HK Grotesk Bold"/>
                <a:ea typeface="HK Grotesk Bold"/>
                <a:cs typeface="HK Grotesk Bold"/>
                <a:sym typeface="HK Grotesk Bold"/>
              </a:rPr>
              <a:t>ser manuals</a:t>
            </a:r>
          </a:p>
        </p:txBody>
      </p:sp>
      <p:sp>
        <p:nvSpPr>
          <p:cNvPr name="TextBox 9" id="9"/>
          <p:cNvSpPr txBox="true"/>
          <p:nvPr/>
        </p:nvSpPr>
        <p:spPr>
          <a:xfrm rot="0">
            <a:off x="12548984" y="1865027"/>
            <a:ext cx="5461372" cy="1307466"/>
          </a:xfrm>
          <a:prstGeom prst="rect">
            <a:avLst/>
          </a:prstGeom>
        </p:spPr>
        <p:txBody>
          <a:bodyPr anchor="t" rtlCol="false" tIns="0" lIns="0" bIns="0" rIns="0">
            <a:spAutoFit/>
          </a:bodyPr>
          <a:lstStyle/>
          <a:p>
            <a:pPr algn="l" marL="1014740" indent="-507370" lvl="1">
              <a:lnSpc>
                <a:spcPts val="5170"/>
              </a:lnSpc>
              <a:buAutoNum type="arabicPeriod" startAt="1"/>
            </a:pPr>
            <a:r>
              <a:rPr lang="en-US" sz="4700">
                <a:solidFill>
                  <a:srgbClr val="1566A8"/>
                </a:solidFill>
                <a:latin typeface="Anton"/>
                <a:ea typeface="Anton"/>
                <a:cs typeface="Anton"/>
                <a:sym typeface="Anton"/>
              </a:rPr>
              <a:t>Fixed Requirements</a:t>
            </a:r>
          </a:p>
        </p:txBody>
      </p:sp>
      <p:sp>
        <p:nvSpPr>
          <p:cNvPr name="TextBox 10" id="10"/>
          <p:cNvSpPr txBox="true"/>
          <p:nvPr/>
        </p:nvSpPr>
        <p:spPr>
          <a:xfrm rot="0">
            <a:off x="12987237" y="3227177"/>
            <a:ext cx="5023119" cy="4920397"/>
          </a:xfrm>
          <a:prstGeom prst="rect">
            <a:avLst/>
          </a:prstGeom>
        </p:spPr>
        <p:txBody>
          <a:bodyPr anchor="t" rtlCol="false" tIns="0" lIns="0" bIns="0" rIns="0">
            <a:spAutoFit/>
          </a:bodyPr>
          <a:lstStyle/>
          <a:p>
            <a:pPr algn="l" marL="690335" indent="-345167" lvl="1">
              <a:lnSpc>
                <a:spcPts val="7993"/>
              </a:lnSpc>
              <a:buFont typeface="Arial"/>
              <a:buChar char="•"/>
            </a:pPr>
            <a:r>
              <a:rPr lang="en-US" sz="3197">
                <a:solidFill>
                  <a:srgbClr val="022948"/>
                </a:solidFill>
                <a:latin typeface="HK Grotesk"/>
                <a:ea typeface="HK Grotesk"/>
                <a:cs typeface="HK Grotesk"/>
                <a:sym typeface="HK Grotesk"/>
              </a:rPr>
              <a:t>Requirements are usually d</a:t>
            </a:r>
            <a:r>
              <a:rPr lang="en-US" sz="3197">
                <a:solidFill>
                  <a:srgbClr val="022948"/>
                </a:solidFill>
                <a:latin typeface="HK Grotesk"/>
                <a:ea typeface="HK Grotesk"/>
                <a:cs typeface="HK Grotesk"/>
                <a:sym typeface="HK Grotesk"/>
              </a:rPr>
              <a:t>e</a:t>
            </a:r>
            <a:r>
              <a:rPr lang="en-US" sz="3197">
                <a:solidFill>
                  <a:srgbClr val="022948"/>
                </a:solidFill>
                <a:latin typeface="HK Grotesk"/>
                <a:ea typeface="HK Grotesk"/>
                <a:cs typeface="HK Grotesk"/>
                <a:sym typeface="HK Grotesk"/>
              </a:rPr>
              <a:t>f</a:t>
            </a:r>
            <a:r>
              <a:rPr lang="en-US" sz="3197">
                <a:solidFill>
                  <a:srgbClr val="022948"/>
                </a:solidFill>
                <a:latin typeface="HK Grotesk"/>
                <a:ea typeface="HK Grotesk"/>
                <a:cs typeface="HK Grotesk"/>
                <a:sym typeface="HK Grotesk"/>
              </a:rPr>
              <a:t>i</a:t>
            </a:r>
            <a:r>
              <a:rPr lang="en-US" sz="3197">
                <a:solidFill>
                  <a:srgbClr val="022948"/>
                </a:solidFill>
                <a:latin typeface="HK Grotesk"/>
                <a:ea typeface="HK Grotesk"/>
                <a:cs typeface="HK Grotesk"/>
                <a:sym typeface="HK Grotesk"/>
              </a:rPr>
              <a:t>n</a:t>
            </a:r>
            <a:r>
              <a:rPr lang="en-US" sz="3197">
                <a:solidFill>
                  <a:srgbClr val="022948"/>
                </a:solidFill>
                <a:latin typeface="HK Grotesk"/>
                <a:ea typeface="HK Grotesk"/>
                <a:cs typeface="HK Grotesk"/>
                <a:sym typeface="HK Grotesk"/>
              </a:rPr>
              <a:t>e</a:t>
            </a:r>
            <a:r>
              <a:rPr lang="en-US" sz="3197">
                <a:solidFill>
                  <a:srgbClr val="022948"/>
                </a:solidFill>
                <a:latin typeface="HK Grotesk"/>
                <a:ea typeface="HK Grotesk"/>
                <a:cs typeface="HK Grotesk"/>
                <a:sym typeface="HK Grotesk"/>
              </a:rPr>
              <a:t>d a</a:t>
            </a:r>
            <a:r>
              <a:rPr lang="en-US" sz="3197">
                <a:solidFill>
                  <a:srgbClr val="022948"/>
                </a:solidFill>
                <a:latin typeface="HK Grotesk"/>
                <a:ea typeface="HK Grotesk"/>
                <a:cs typeface="HK Grotesk"/>
                <a:sym typeface="HK Grotesk"/>
              </a:rPr>
              <a:t>t</a:t>
            </a:r>
            <a:r>
              <a:rPr lang="en-US" sz="3197">
                <a:solidFill>
                  <a:srgbClr val="022948"/>
                </a:solidFill>
                <a:latin typeface="HK Grotesk"/>
                <a:ea typeface="HK Grotesk"/>
                <a:cs typeface="HK Grotesk"/>
                <a:sym typeface="HK Grotesk"/>
              </a:rPr>
              <a:t> </a:t>
            </a:r>
            <a:r>
              <a:rPr lang="en-US" sz="3197">
                <a:solidFill>
                  <a:srgbClr val="022948"/>
                </a:solidFill>
                <a:latin typeface="HK Grotesk"/>
                <a:ea typeface="HK Grotesk"/>
                <a:cs typeface="HK Grotesk"/>
                <a:sym typeface="HK Grotesk"/>
              </a:rPr>
              <a:t>t</a:t>
            </a:r>
            <a:r>
              <a:rPr lang="en-US" sz="3197">
                <a:solidFill>
                  <a:srgbClr val="022948"/>
                </a:solidFill>
                <a:latin typeface="HK Grotesk"/>
                <a:ea typeface="HK Grotesk"/>
                <a:cs typeface="HK Grotesk"/>
                <a:sym typeface="HK Grotesk"/>
              </a:rPr>
              <a:t>h</a:t>
            </a:r>
            <a:r>
              <a:rPr lang="en-US" sz="3197">
                <a:solidFill>
                  <a:srgbClr val="022948"/>
                </a:solidFill>
                <a:latin typeface="HK Grotesk"/>
                <a:ea typeface="HK Grotesk"/>
                <a:cs typeface="HK Grotesk"/>
                <a:sym typeface="HK Grotesk"/>
              </a:rPr>
              <a:t>e </a:t>
            </a:r>
            <a:r>
              <a:rPr lang="en-US" sz="3197">
                <a:solidFill>
                  <a:srgbClr val="022948"/>
                </a:solidFill>
                <a:latin typeface="HK Grotesk"/>
                <a:ea typeface="HK Grotesk"/>
                <a:cs typeface="HK Grotesk"/>
                <a:sym typeface="HK Grotesk"/>
              </a:rPr>
              <a:t>b</a:t>
            </a:r>
            <a:r>
              <a:rPr lang="en-US" sz="3197">
                <a:solidFill>
                  <a:srgbClr val="022948"/>
                </a:solidFill>
                <a:latin typeface="HK Grotesk"/>
                <a:ea typeface="HK Grotesk"/>
                <a:cs typeface="HK Grotesk"/>
                <a:sym typeface="HK Grotesk"/>
              </a:rPr>
              <a:t>e</a:t>
            </a:r>
            <a:r>
              <a:rPr lang="en-US" sz="3197">
                <a:solidFill>
                  <a:srgbClr val="022948"/>
                </a:solidFill>
                <a:latin typeface="HK Grotesk"/>
                <a:ea typeface="HK Grotesk"/>
                <a:cs typeface="HK Grotesk"/>
                <a:sym typeface="HK Grotesk"/>
              </a:rPr>
              <a:t>g</a:t>
            </a:r>
            <a:r>
              <a:rPr lang="en-US" sz="3197">
                <a:solidFill>
                  <a:srgbClr val="022948"/>
                </a:solidFill>
                <a:latin typeface="HK Grotesk"/>
                <a:ea typeface="HK Grotesk"/>
                <a:cs typeface="HK Grotesk"/>
                <a:sym typeface="HK Grotesk"/>
              </a:rPr>
              <a:t>in</a:t>
            </a:r>
            <a:r>
              <a:rPr lang="en-US" sz="3197">
                <a:solidFill>
                  <a:srgbClr val="022948"/>
                </a:solidFill>
                <a:latin typeface="HK Grotesk"/>
                <a:ea typeface="HK Grotesk"/>
                <a:cs typeface="HK Grotesk"/>
                <a:sym typeface="HK Grotesk"/>
              </a:rPr>
              <a:t>n</a:t>
            </a:r>
            <a:r>
              <a:rPr lang="en-US" sz="3197">
                <a:solidFill>
                  <a:srgbClr val="022948"/>
                </a:solidFill>
                <a:latin typeface="HK Grotesk"/>
                <a:ea typeface="HK Grotesk"/>
                <a:cs typeface="HK Grotesk"/>
                <a:sym typeface="HK Grotesk"/>
              </a:rPr>
              <a:t>ing an</a:t>
            </a:r>
            <a:r>
              <a:rPr lang="en-US" sz="3197">
                <a:solidFill>
                  <a:srgbClr val="022948"/>
                </a:solidFill>
                <a:latin typeface="HK Grotesk"/>
                <a:ea typeface="HK Grotesk"/>
                <a:cs typeface="HK Grotesk"/>
                <a:sym typeface="HK Grotesk"/>
              </a:rPr>
              <a:t>d a</a:t>
            </a:r>
            <a:r>
              <a:rPr lang="en-US" sz="3197">
                <a:solidFill>
                  <a:srgbClr val="022948"/>
                </a:solidFill>
                <a:latin typeface="HK Grotesk"/>
                <a:ea typeface="HK Grotesk"/>
                <a:cs typeface="HK Grotesk"/>
                <a:sym typeface="HK Grotesk"/>
              </a:rPr>
              <a:t>r</a:t>
            </a:r>
            <a:r>
              <a:rPr lang="en-US" sz="3197">
                <a:solidFill>
                  <a:srgbClr val="022948"/>
                </a:solidFill>
                <a:latin typeface="HK Grotesk"/>
                <a:ea typeface="HK Grotesk"/>
                <a:cs typeface="HK Grotesk"/>
                <a:sym typeface="HK Grotesk"/>
              </a:rPr>
              <a:t>e</a:t>
            </a:r>
            <a:r>
              <a:rPr lang="en-US" sz="3197">
                <a:solidFill>
                  <a:srgbClr val="022948"/>
                </a:solidFill>
                <a:latin typeface="HK Grotesk"/>
                <a:ea typeface="HK Grotesk"/>
                <a:cs typeface="HK Grotesk"/>
                <a:sym typeface="HK Grotesk"/>
              </a:rPr>
              <a:t> </a:t>
            </a:r>
            <a:r>
              <a:rPr lang="en-US" sz="3197">
                <a:solidFill>
                  <a:srgbClr val="022948"/>
                </a:solidFill>
                <a:latin typeface="HK Grotesk"/>
                <a:ea typeface="HK Grotesk"/>
                <a:cs typeface="HK Grotesk"/>
                <a:sym typeface="HK Grotesk"/>
              </a:rPr>
              <a:t>not expected to ch</a:t>
            </a:r>
            <a:r>
              <a:rPr lang="en-US" sz="3197">
                <a:solidFill>
                  <a:srgbClr val="022948"/>
                </a:solidFill>
                <a:latin typeface="HK Grotesk"/>
                <a:ea typeface="HK Grotesk"/>
                <a:cs typeface="HK Grotesk"/>
                <a:sym typeface="HK Grotesk"/>
              </a:rPr>
              <a:t>an</a:t>
            </a:r>
            <a:r>
              <a:rPr lang="en-US" sz="3197">
                <a:solidFill>
                  <a:srgbClr val="022948"/>
                </a:solidFill>
                <a:latin typeface="HK Grotesk"/>
                <a:ea typeface="HK Grotesk"/>
                <a:cs typeface="HK Grotesk"/>
                <a:sym typeface="HK Grotesk"/>
              </a:rPr>
              <a:t>ge d</a:t>
            </a:r>
            <a:r>
              <a:rPr lang="en-US" sz="3197">
                <a:solidFill>
                  <a:srgbClr val="022948"/>
                </a:solidFill>
                <a:latin typeface="HK Grotesk"/>
                <a:ea typeface="HK Grotesk"/>
                <a:cs typeface="HK Grotesk"/>
                <a:sym typeface="HK Grotesk"/>
              </a:rPr>
              <a:t>u</a:t>
            </a:r>
            <a:r>
              <a:rPr lang="en-US" sz="3197">
                <a:solidFill>
                  <a:srgbClr val="022948"/>
                </a:solidFill>
                <a:latin typeface="HK Grotesk"/>
                <a:ea typeface="HK Grotesk"/>
                <a:cs typeface="HK Grotesk"/>
                <a:sym typeface="HK Grotesk"/>
              </a:rPr>
              <a:t>ring deve</a:t>
            </a:r>
            <a:r>
              <a:rPr lang="en-US" sz="3197">
                <a:solidFill>
                  <a:srgbClr val="022948"/>
                </a:solidFill>
                <a:latin typeface="HK Grotesk"/>
                <a:ea typeface="HK Grotesk"/>
                <a:cs typeface="HK Grotesk"/>
                <a:sym typeface="HK Grotesk"/>
              </a:rPr>
              <a:t>l</a:t>
            </a:r>
            <a:r>
              <a:rPr lang="en-US" sz="3197">
                <a:solidFill>
                  <a:srgbClr val="022948"/>
                </a:solidFill>
                <a:latin typeface="HK Grotesk"/>
                <a:ea typeface="HK Grotesk"/>
                <a:cs typeface="HK Grotesk"/>
                <a:sym typeface="HK Grotesk"/>
              </a:rPr>
              <a:t>opment.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176614" y="806117"/>
            <a:ext cx="392848" cy="97855"/>
          </a:xfrm>
          <a:custGeom>
            <a:avLst/>
            <a:gdLst/>
            <a:ahLst/>
            <a:cxnLst/>
            <a:rect r="r" b="b" t="t" l="l"/>
            <a:pathLst>
              <a:path h="97855" w="392848">
                <a:moveTo>
                  <a:pt x="0" y="0"/>
                </a:moveTo>
                <a:lnTo>
                  <a:pt x="392848" y="0"/>
                </a:lnTo>
                <a:lnTo>
                  <a:pt x="392848" y="97855"/>
                </a:lnTo>
                <a:lnTo>
                  <a:pt x="0" y="978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1759558" y="834692"/>
            <a:ext cx="848550" cy="453402"/>
          </a:xfrm>
          <a:prstGeom prst="rect">
            <a:avLst/>
          </a:prstGeom>
        </p:spPr>
        <p:txBody>
          <a:bodyPr anchor="t" rtlCol="false" tIns="0" lIns="0" bIns="0" rIns="0">
            <a:spAutoFit/>
          </a:bodyPr>
          <a:lstStyle/>
          <a:p>
            <a:pPr algn="l">
              <a:lnSpc>
                <a:spcPts val="1731"/>
              </a:lnSpc>
            </a:pPr>
            <a:r>
              <a:rPr lang="en-US" sz="1731" b="true">
                <a:solidFill>
                  <a:srgbClr val="FFFFFF"/>
                </a:solidFill>
                <a:latin typeface="HK Grotesk Medium"/>
                <a:ea typeface="HK Grotesk Medium"/>
                <a:cs typeface="HK Grotesk Medium"/>
                <a:sym typeface="HK Grotesk Medium"/>
              </a:rPr>
              <a:t>YOUR</a:t>
            </a:r>
          </a:p>
          <a:p>
            <a:pPr algn="l">
              <a:lnSpc>
                <a:spcPts val="1731"/>
              </a:lnSpc>
            </a:pPr>
            <a:r>
              <a:rPr lang="en-US" b="true" sz="1731">
                <a:solidFill>
                  <a:srgbClr val="FFFFFF"/>
                </a:solidFill>
                <a:latin typeface="HK Grotesk Medium"/>
                <a:ea typeface="HK Grotesk Medium"/>
                <a:cs typeface="HK Grotesk Medium"/>
                <a:sym typeface="HK Grotesk Medium"/>
              </a:rPr>
              <a:t>LOGO</a:t>
            </a:r>
          </a:p>
        </p:txBody>
      </p:sp>
      <p:sp>
        <p:nvSpPr>
          <p:cNvPr name="TextBox 4" id="4"/>
          <p:cNvSpPr txBox="true"/>
          <p:nvPr/>
        </p:nvSpPr>
        <p:spPr>
          <a:xfrm rot="0">
            <a:off x="840374" y="444185"/>
            <a:ext cx="16532664" cy="1254756"/>
          </a:xfrm>
          <a:prstGeom prst="rect">
            <a:avLst/>
          </a:prstGeom>
        </p:spPr>
        <p:txBody>
          <a:bodyPr anchor="t" rtlCol="false" tIns="0" lIns="0" bIns="0" rIns="0">
            <a:spAutoFit/>
          </a:bodyPr>
          <a:lstStyle/>
          <a:p>
            <a:pPr algn="ctr">
              <a:lnSpc>
                <a:spcPts val="9679"/>
              </a:lnSpc>
            </a:pPr>
            <a:r>
              <a:rPr lang="en-US" sz="8799">
                <a:solidFill>
                  <a:srgbClr val="1566A8"/>
                </a:solidFill>
                <a:latin typeface="Anton"/>
                <a:ea typeface="Anton"/>
                <a:cs typeface="Anton"/>
                <a:sym typeface="Anton"/>
              </a:rPr>
              <a:t>Features of Plan-Driven Development</a:t>
            </a:r>
          </a:p>
        </p:txBody>
      </p:sp>
      <p:sp>
        <p:nvSpPr>
          <p:cNvPr name="TextBox 5" id="5"/>
          <p:cNvSpPr txBox="true"/>
          <p:nvPr/>
        </p:nvSpPr>
        <p:spPr>
          <a:xfrm rot="0">
            <a:off x="340633" y="2014597"/>
            <a:ext cx="11610644" cy="555625"/>
          </a:xfrm>
          <a:prstGeom prst="rect">
            <a:avLst/>
          </a:prstGeom>
        </p:spPr>
        <p:txBody>
          <a:bodyPr anchor="t" rtlCol="false" tIns="0" lIns="0" bIns="0" rIns="0">
            <a:spAutoFit/>
          </a:bodyPr>
          <a:lstStyle/>
          <a:p>
            <a:pPr algn="l" marL="863599" indent="-431800" lvl="1">
              <a:lnSpc>
                <a:spcPts val="4399"/>
              </a:lnSpc>
              <a:buAutoNum type="arabicPeriod" startAt="1"/>
            </a:pPr>
            <a:r>
              <a:rPr lang="en-US" sz="3999">
                <a:solidFill>
                  <a:srgbClr val="1566A8"/>
                </a:solidFill>
                <a:latin typeface="Anton"/>
                <a:ea typeface="Anton"/>
                <a:cs typeface="Anton"/>
                <a:sym typeface="Anton"/>
              </a:rPr>
              <a:t>Predictable Timeline &amp; Output</a:t>
            </a:r>
          </a:p>
        </p:txBody>
      </p:sp>
      <p:sp>
        <p:nvSpPr>
          <p:cNvPr name="TextBox 6" id="6"/>
          <p:cNvSpPr txBox="true"/>
          <p:nvPr/>
        </p:nvSpPr>
        <p:spPr>
          <a:xfrm rot="0">
            <a:off x="840374" y="4656069"/>
            <a:ext cx="11625767" cy="1773651"/>
          </a:xfrm>
          <a:prstGeom prst="rect">
            <a:avLst/>
          </a:prstGeom>
        </p:spPr>
        <p:txBody>
          <a:bodyPr anchor="t" rtlCol="false" tIns="0" lIns="0" bIns="0" rIns="0">
            <a:spAutoFit/>
          </a:bodyPr>
          <a:lstStyle/>
          <a:p>
            <a:pPr algn="l">
              <a:lnSpc>
                <a:spcPts val="4796"/>
              </a:lnSpc>
            </a:pPr>
            <a:r>
              <a:rPr lang="en-US" sz="3197">
                <a:solidFill>
                  <a:srgbClr val="022948"/>
                </a:solidFill>
                <a:latin typeface="HK Grotesk"/>
                <a:ea typeface="HK Grotesk"/>
                <a:cs typeface="HK Grotesk"/>
                <a:sym typeface="HK Grotesk"/>
              </a:rPr>
              <a:t>The custom</a:t>
            </a:r>
            <a:r>
              <a:rPr lang="en-US" sz="3197">
                <a:solidFill>
                  <a:srgbClr val="022948"/>
                </a:solidFill>
                <a:latin typeface="HK Grotesk"/>
                <a:ea typeface="HK Grotesk"/>
                <a:cs typeface="HK Grotesk"/>
                <a:sym typeface="HK Grotesk"/>
              </a:rPr>
              <a:t>er</a:t>
            </a:r>
            <a:r>
              <a:rPr lang="en-US" sz="3197">
                <a:solidFill>
                  <a:srgbClr val="022948"/>
                </a:solidFill>
                <a:latin typeface="HK Grotesk"/>
                <a:ea typeface="HK Grotesk"/>
                <a:cs typeface="HK Grotesk"/>
                <a:sym typeface="HK Grotesk"/>
              </a:rPr>
              <a:t> </a:t>
            </a:r>
            <a:r>
              <a:rPr lang="en-US" sz="3197">
                <a:solidFill>
                  <a:srgbClr val="022948"/>
                </a:solidFill>
                <a:latin typeface="HK Grotesk"/>
                <a:ea typeface="HK Grotesk"/>
                <a:cs typeface="HK Grotesk"/>
                <a:sym typeface="HK Grotesk"/>
              </a:rPr>
              <a:t>is mainly involve</a:t>
            </a:r>
            <a:r>
              <a:rPr lang="en-US" sz="3197">
                <a:solidFill>
                  <a:srgbClr val="022948"/>
                </a:solidFill>
                <a:latin typeface="HK Grotesk"/>
                <a:ea typeface="HK Grotesk"/>
                <a:cs typeface="HK Grotesk"/>
                <a:sym typeface="HK Grotesk"/>
              </a:rPr>
              <a:t>d du</a:t>
            </a:r>
            <a:r>
              <a:rPr lang="en-US" sz="3197">
                <a:solidFill>
                  <a:srgbClr val="022948"/>
                </a:solidFill>
                <a:latin typeface="HK Grotesk"/>
                <a:ea typeface="HK Grotesk"/>
                <a:cs typeface="HK Grotesk"/>
                <a:sym typeface="HK Grotesk"/>
              </a:rPr>
              <a:t>ri</a:t>
            </a:r>
            <a:r>
              <a:rPr lang="en-US" sz="3197">
                <a:solidFill>
                  <a:srgbClr val="022948"/>
                </a:solidFill>
                <a:latin typeface="HK Grotesk"/>
                <a:ea typeface="HK Grotesk"/>
                <a:cs typeface="HK Grotesk"/>
                <a:sym typeface="HK Grotesk"/>
              </a:rPr>
              <a:t>ng:</a:t>
            </a:r>
          </a:p>
          <a:p>
            <a:pPr algn="l" marL="690335" indent="-345167" lvl="1">
              <a:lnSpc>
                <a:spcPts val="4796"/>
              </a:lnSpc>
              <a:buFont typeface="Arial"/>
              <a:buChar char="•"/>
            </a:pPr>
            <a:r>
              <a:rPr lang="en-US" sz="3197">
                <a:solidFill>
                  <a:srgbClr val="022948"/>
                </a:solidFill>
                <a:latin typeface="HK Grotesk"/>
                <a:ea typeface="HK Grotesk"/>
                <a:cs typeface="HK Grotesk"/>
                <a:sym typeface="HK Grotesk"/>
              </a:rPr>
              <a:t>Requirement gathering</a:t>
            </a:r>
          </a:p>
          <a:p>
            <a:pPr algn="l" marL="690335" indent="-345167" lvl="1">
              <a:lnSpc>
                <a:spcPts val="4796"/>
              </a:lnSpc>
              <a:buFont typeface="Arial"/>
              <a:buChar char="•"/>
            </a:pPr>
            <a:r>
              <a:rPr lang="en-US" sz="3197">
                <a:solidFill>
                  <a:srgbClr val="022948"/>
                </a:solidFill>
                <a:latin typeface="HK Grotesk"/>
                <a:ea typeface="HK Grotesk"/>
                <a:cs typeface="HK Grotesk"/>
                <a:sym typeface="HK Grotesk"/>
              </a:rPr>
              <a:t>Fina</a:t>
            </a:r>
            <a:r>
              <a:rPr lang="en-US" sz="3197">
                <a:solidFill>
                  <a:srgbClr val="022948"/>
                </a:solidFill>
                <a:latin typeface="HK Grotesk"/>
                <a:ea typeface="HK Grotesk"/>
                <a:cs typeface="HK Grotesk"/>
                <a:sym typeface="HK Grotesk"/>
              </a:rPr>
              <a:t>l d</a:t>
            </a:r>
            <a:r>
              <a:rPr lang="en-US" sz="3197">
                <a:solidFill>
                  <a:srgbClr val="022948"/>
                </a:solidFill>
                <a:latin typeface="HK Grotesk"/>
                <a:ea typeface="HK Grotesk"/>
                <a:cs typeface="HK Grotesk"/>
                <a:sym typeface="HK Grotesk"/>
              </a:rPr>
              <a:t>elivery</a:t>
            </a:r>
          </a:p>
        </p:txBody>
      </p:sp>
      <p:sp>
        <p:nvSpPr>
          <p:cNvPr name="TextBox 7" id="7"/>
          <p:cNvSpPr txBox="true"/>
          <p:nvPr/>
        </p:nvSpPr>
        <p:spPr>
          <a:xfrm rot="0">
            <a:off x="340633" y="4090666"/>
            <a:ext cx="11610644" cy="555625"/>
          </a:xfrm>
          <a:prstGeom prst="rect">
            <a:avLst/>
          </a:prstGeom>
        </p:spPr>
        <p:txBody>
          <a:bodyPr anchor="t" rtlCol="false" tIns="0" lIns="0" bIns="0" rIns="0">
            <a:spAutoFit/>
          </a:bodyPr>
          <a:lstStyle/>
          <a:p>
            <a:pPr algn="l" marL="863599" indent="-431800" lvl="1">
              <a:lnSpc>
                <a:spcPts val="4399"/>
              </a:lnSpc>
              <a:buAutoNum type="arabicPeriod" startAt="1"/>
            </a:pPr>
            <a:r>
              <a:rPr lang="en-US" sz="3999">
                <a:solidFill>
                  <a:srgbClr val="1566A8"/>
                </a:solidFill>
                <a:latin typeface="Anton"/>
                <a:ea typeface="Anton"/>
                <a:cs typeface="Anton"/>
                <a:sym typeface="Anton"/>
              </a:rPr>
              <a:t>Less Customer Involvement During Development</a:t>
            </a:r>
          </a:p>
        </p:txBody>
      </p:sp>
      <p:sp>
        <p:nvSpPr>
          <p:cNvPr name="TextBox 8" id="8"/>
          <p:cNvSpPr txBox="true"/>
          <p:nvPr/>
        </p:nvSpPr>
        <p:spPr>
          <a:xfrm rot="0">
            <a:off x="1028700" y="2868958"/>
            <a:ext cx="12683650" cy="897858"/>
          </a:xfrm>
          <a:prstGeom prst="rect">
            <a:avLst/>
          </a:prstGeom>
        </p:spPr>
        <p:txBody>
          <a:bodyPr anchor="t" rtlCol="false" tIns="0" lIns="0" bIns="0" rIns="0">
            <a:spAutoFit/>
          </a:bodyPr>
          <a:lstStyle/>
          <a:p>
            <a:pPr algn="l" marL="690335" indent="-345167" lvl="1">
              <a:lnSpc>
                <a:spcPts val="3517"/>
              </a:lnSpc>
              <a:buFont typeface="Arial"/>
              <a:buChar char="•"/>
            </a:pPr>
            <a:r>
              <a:rPr lang="en-US" sz="3197">
                <a:solidFill>
                  <a:srgbClr val="022948"/>
                </a:solidFill>
                <a:latin typeface="HK Grotesk"/>
                <a:ea typeface="HK Grotesk"/>
                <a:cs typeface="HK Grotesk"/>
                <a:sym typeface="HK Grotesk"/>
              </a:rPr>
              <a:t>Since ev</a:t>
            </a:r>
            <a:r>
              <a:rPr lang="en-US" sz="3197">
                <a:solidFill>
                  <a:srgbClr val="022948"/>
                </a:solidFill>
                <a:latin typeface="HK Grotesk"/>
                <a:ea typeface="HK Grotesk"/>
                <a:cs typeface="HK Grotesk"/>
                <a:sym typeface="HK Grotesk"/>
              </a:rPr>
              <a:t>erything </a:t>
            </a:r>
            <a:r>
              <a:rPr lang="en-US" sz="3197">
                <a:solidFill>
                  <a:srgbClr val="022948"/>
                </a:solidFill>
                <a:latin typeface="HK Grotesk"/>
                <a:ea typeface="HK Grotesk"/>
                <a:cs typeface="HK Grotesk"/>
                <a:sym typeface="HK Grotesk"/>
              </a:rPr>
              <a:t>is planned upfront, project cost an</a:t>
            </a:r>
            <a:r>
              <a:rPr lang="en-US" sz="3197">
                <a:solidFill>
                  <a:srgbClr val="022948"/>
                </a:solidFill>
                <a:latin typeface="HK Grotesk"/>
                <a:ea typeface="HK Grotesk"/>
                <a:cs typeface="HK Grotesk"/>
                <a:sym typeface="HK Grotesk"/>
              </a:rPr>
              <a:t>d schedule a</a:t>
            </a:r>
            <a:r>
              <a:rPr lang="en-US" sz="3197">
                <a:solidFill>
                  <a:srgbClr val="022948"/>
                </a:solidFill>
                <a:latin typeface="HK Grotesk"/>
                <a:ea typeface="HK Grotesk"/>
                <a:cs typeface="HK Grotesk"/>
                <a:sym typeface="HK Grotesk"/>
              </a:rPr>
              <a:t>re easier to estimate.</a:t>
            </a:r>
          </a:p>
        </p:txBody>
      </p:sp>
      <p:sp>
        <p:nvSpPr>
          <p:cNvPr name="TextBox 9" id="9"/>
          <p:cNvSpPr txBox="true"/>
          <p:nvPr/>
        </p:nvSpPr>
        <p:spPr>
          <a:xfrm rot="0">
            <a:off x="840374" y="7679658"/>
            <a:ext cx="7248321" cy="2373726"/>
          </a:xfrm>
          <a:prstGeom prst="rect">
            <a:avLst/>
          </a:prstGeom>
        </p:spPr>
        <p:txBody>
          <a:bodyPr anchor="t" rtlCol="false" tIns="0" lIns="0" bIns="0" rIns="0">
            <a:spAutoFit/>
          </a:bodyPr>
          <a:lstStyle/>
          <a:p>
            <a:pPr algn="l">
              <a:lnSpc>
                <a:spcPts val="4796"/>
              </a:lnSpc>
            </a:pPr>
            <a:r>
              <a:rPr lang="en-US" sz="3197">
                <a:solidFill>
                  <a:srgbClr val="022948"/>
                </a:solidFill>
                <a:latin typeface="HK Grotesk"/>
                <a:ea typeface="HK Grotesk"/>
                <a:cs typeface="HK Grotesk"/>
                <a:sym typeface="HK Grotesk"/>
              </a:rPr>
              <a:t>Wo</a:t>
            </a:r>
            <a:r>
              <a:rPr lang="en-US" sz="3197">
                <a:solidFill>
                  <a:srgbClr val="022948"/>
                </a:solidFill>
                <a:latin typeface="HK Grotesk"/>
                <a:ea typeface="HK Grotesk"/>
                <a:cs typeface="HK Grotesk"/>
                <a:sym typeface="HK Grotesk"/>
              </a:rPr>
              <a:t>rk</a:t>
            </a:r>
            <a:r>
              <a:rPr lang="en-US" sz="3197">
                <a:solidFill>
                  <a:srgbClr val="022948"/>
                </a:solidFill>
                <a:latin typeface="HK Grotesk"/>
                <a:ea typeface="HK Grotesk"/>
                <a:cs typeface="HK Grotesk"/>
                <a:sym typeface="HK Grotesk"/>
              </a:rPr>
              <a:t>s well</a:t>
            </a:r>
            <a:r>
              <a:rPr lang="en-US" sz="3197">
                <a:solidFill>
                  <a:srgbClr val="022948"/>
                </a:solidFill>
                <a:latin typeface="HK Grotesk"/>
                <a:ea typeface="HK Grotesk"/>
                <a:cs typeface="HK Grotesk"/>
                <a:sym typeface="HK Grotesk"/>
              </a:rPr>
              <a:t> when:</a:t>
            </a:r>
          </a:p>
          <a:p>
            <a:pPr algn="l" marL="690335" indent="-345167" lvl="1">
              <a:lnSpc>
                <a:spcPts val="4796"/>
              </a:lnSpc>
              <a:buFont typeface="Arial"/>
              <a:buChar char="•"/>
            </a:pPr>
            <a:r>
              <a:rPr lang="en-US" sz="3197">
                <a:solidFill>
                  <a:srgbClr val="022948"/>
                </a:solidFill>
                <a:latin typeface="HK Grotesk"/>
                <a:ea typeface="HK Grotesk"/>
                <a:cs typeface="HK Grotesk"/>
                <a:sym typeface="HK Grotesk"/>
              </a:rPr>
              <a:t>Requirements are clear</a:t>
            </a:r>
          </a:p>
          <a:p>
            <a:pPr algn="l" marL="690335" indent="-345167" lvl="1">
              <a:lnSpc>
                <a:spcPts val="4796"/>
              </a:lnSpc>
              <a:buFont typeface="Arial"/>
              <a:buChar char="•"/>
            </a:pPr>
            <a:r>
              <a:rPr lang="en-US" sz="3197">
                <a:solidFill>
                  <a:srgbClr val="022948"/>
                </a:solidFill>
                <a:latin typeface="HK Grotesk"/>
                <a:ea typeface="HK Grotesk"/>
                <a:cs typeface="HK Grotesk"/>
                <a:sym typeface="HK Grotesk"/>
              </a:rPr>
              <a:t>Changes are minimal</a:t>
            </a:r>
          </a:p>
          <a:p>
            <a:pPr algn="l" marL="690335" indent="-345167" lvl="1">
              <a:lnSpc>
                <a:spcPts val="4796"/>
              </a:lnSpc>
              <a:buFont typeface="Arial"/>
              <a:buChar char="•"/>
            </a:pPr>
            <a:r>
              <a:rPr lang="en-US" sz="3197">
                <a:solidFill>
                  <a:srgbClr val="022948"/>
                </a:solidFill>
                <a:latin typeface="HK Grotesk"/>
                <a:ea typeface="HK Grotesk"/>
                <a:cs typeface="HK Grotesk"/>
                <a:sym typeface="HK Grotesk"/>
              </a:rPr>
              <a:t>The project </a:t>
            </a:r>
            <a:r>
              <a:rPr lang="en-US" sz="3197">
                <a:solidFill>
                  <a:srgbClr val="022948"/>
                </a:solidFill>
                <a:latin typeface="HK Grotesk"/>
                <a:ea typeface="HK Grotesk"/>
                <a:cs typeface="HK Grotesk"/>
                <a:sym typeface="HK Grotesk"/>
              </a:rPr>
              <a:t>is </a:t>
            </a:r>
            <a:r>
              <a:rPr lang="en-US" sz="3197">
                <a:solidFill>
                  <a:srgbClr val="022948"/>
                </a:solidFill>
                <a:latin typeface="HK Grotesk"/>
                <a:ea typeface="HK Grotesk"/>
                <a:cs typeface="HK Grotesk"/>
                <a:sym typeface="HK Grotesk"/>
              </a:rPr>
              <a:t>large and r</a:t>
            </a:r>
            <a:r>
              <a:rPr lang="en-US" sz="3197">
                <a:solidFill>
                  <a:srgbClr val="022948"/>
                </a:solidFill>
                <a:latin typeface="HK Grotesk"/>
                <a:ea typeface="HK Grotesk"/>
                <a:cs typeface="HK Grotesk"/>
                <a:sym typeface="HK Grotesk"/>
              </a:rPr>
              <a:t>egulated</a:t>
            </a:r>
          </a:p>
        </p:txBody>
      </p:sp>
      <p:sp>
        <p:nvSpPr>
          <p:cNvPr name="TextBox 10" id="10"/>
          <p:cNvSpPr txBox="true"/>
          <p:nvPr/>
        </p:nvSpPr>
        <p:spPr>
          <a:xfrm rot="0">
            <a:off x="340633" y="6919245"/>
            <a:ext cx="11610644" cy="555625"/>
          </a:xfrm>
          <a:prstGeom prst="rect">
            <a:avLst/>
          </a:prstGeom>
        </p:spPr>
        <p:txBody>
          <a:bodyPr anchor="t" rtlCol="false" tIns="0" lIns="0" bIns="0" rIns="0">
            <a:spAutoFit/>
          </a:bodyPr>
          <a:lstStyle/>
          <a:p>
            <a:pPr algn="l" marL="863599" indent="-431800" lvl="1">
              <a:lnSpc>
                <a:spcPts val="4399"/>
              </a:lnSpc>
              <a:buAutoNum type="arabicPeriod" startAt="1"/>
            </a:pPr>
            <a:r>
              <a:rPr lang="en-US" sz="3999">
                <a:solidFill>
                  <a:srgbClr val="1566A8"/>
                </a:solidFill>
                <a:latin typeface="Anton"/>
                <a:ea typeface="Anton"/>
                <a:cs typeface="Anton"/>
                <a:sym typeface="Anton"/>
              </a:rPr>
              <a:t>Best for Stable Projects</a:t>
            </a:r>
          </a:p>
        </p:txBody>
      </p:sp>
      <p:sp>
        <p:nvSpPr>
          <p:cNvPr name="TextBox 11" id="11"/>
          <p:cNvSpPr txBox="true"/>
          <p:nvPr/>
        </p:nvSpPr>
        <p:spPr>
          <a:xfrm rot="0">
            <a:off x="10088190" y="7679658"/>
            <a:ext cx="7248321" cy="2373726"/>
          </a:xfrm>
          <a:prstGeom prst="rect">
            <a:avLst/>
          </a:prstGeom>
        </p:spPr>
        <p:txBody>
          <a:bodyPr anchor="t" rtlCol="false" tIns="0" lIns="0" bIns="0" rIns="0">
            <a:spAutoFit/>
          </a:bodyPr>
          <a:lstStyle/>
          <a:p>
            <a:pPr algn="l">
              <a:lnSpc>
                <a:spcPts val="4796"/>
              </a:lnSpc>
            </a:pPr>
            <a:r>
              <a:rPr lang="en-US" sz="3197">
                <a:solidFill>
                  <a:srgbClr val="022948"/>
                </a:solidFill>
                <a:latin typeface="HK Grotesk"/>
                <a:ea typeface="HK Grotesk"/>
                <a:cs typeface="HK Grotesk"/>
                <a:sym typeface="HK Grotesk"/>
              </a:rPr>
              <a:t>Examp</a:t>
            </a:r>
            <a:r>
              <a:rPr lang="en-US" sz="3197">
                <a:solidFill>
                  <a:srgbClr val="022948"/>
                </a:solidFill>
                <a:latin typeface="HK Grotesk"/>
                <a:ea typeface="HK Grotesk"/>
                <a:cs typeface="HK Grotesk"/>
                <a:sym typeface="HK Grotesk"/>
              </a:rPr>
              <a:t>l</a:t>
            </a:r>
            <a:r>
              <a:rPr lang="en-US" sz="3197">
                <a:solidFill>
                  <a:srgbClr val="022948"/>
                </a:solidFill>
                <a:latin typeface="HK Grotesk"/>
                <a:ea typeface="HK Grotesk"/>
                <a:cs typeface="HK Grotesk"/>
                <a:sym typeface="HK Grotesk"/>
              </a:rPr>
              <a:t>es:</a:t>
            </a:r>
          </a:p>
          <a:p>
            <a:pPr algn="l" marL="690335" indent="-345167" lvl="1">
              <a:lnSpc>
                <a:spcPts val="4796"/>
              </a:lnSpc>
              <a:buFont typeface="Arial"/>
              <a:buChar char="•"/>
            </a:pPr>
            <a:r>
              <a:rPr lang="en-US" sz="3197">
                <a:solidFill>
                  <a:srgbClr val="022948"/>
                </a:solidFill>
                <a:latin typeface="HK Grotesk"/>
                <a:ea typeface="HK Grotesk"/>
                <a:cs typeface="HK Grotesk"/>
                <a:sym typeface="HK Grotesk"/>
              </a:rPr>
              <a:t>Government systems</a:t>
            </a:r>
          </a:p>
          <a:p>
            <a:pPr algn="l" marL="690335" indent="-345167" lvl="1">
              <a:lnSpc>
                <a:spcPts val="4796"/>
              </a:lnSpc>
              <a:buFont typeface="Arial"/>
              <a:buChar char="•"/>
            </a:pPr>
            <a:r>
              <a:rPr lang="en-US" sz="3197">
                <a:solidFill>
                  <a:srgbClr val="022948"/>
                </a:solidFill>
                <a:latin typeface="HK Grotesk"/>
                <a:ea typeface="HK Grotesk"/>
                <a:cs typeface="HK Grotesk"/>
                <a:sym typeface="HK Grotesk"/>
              </a:rPr>
              <a:t>B</a:t>
            </a:r>
            <a:r>
              <a:rPr lang="en-US" sz="3197">
                <a:solidFill>
                  <a:srgbClr val="022948"/>
                </a:solidFill>
                <a:latin typeface="HK Grotesk"/>
                <a:ea typeface="HK Grotesk"/>
                <a:cs typeface="HK Grotesk"/>
                <a:sym typeface="HK Grotesk"/>
              </a:rPr>
              <a:t>anking</a:t>
            </a:r>
            <a:r>
              <a:rPr lang="en-US" sz="3197">
                <a:solidFill>
                  <a:srgbClr val="022948"/>
                </a:solidFill>
                <a:latin typeface="HK Grotesk"/>
                <a:ea typeface="HK Grotesk"/>
                <a:cs typeface="HK Grotesk"/>
                <a:sym typeface="HK Grotesk"/>
              </a:rPr>
              <a:t> softw</a:t>
            </a:r>
            <a:r>
              <a:rPr lang="en-US" sz="3197">
                <a:solidFill>
                  <a:srgbClr val="022948"/>
                </a:solidFill>
                <a:latin typeface="HK Grotesk"/>
                <a:ea typeface="HK Grotesk"/>
                <a:cs typeface="HK Grotesk"/>
                <a:sym typeface="HK Grotesk"/>
              </a:rPr>
              <a:t>are</a:t>
            </a:r>
          </a:p>
          <a:p>
            <a:pPr algn="l" marL="690335" indent="-345167" lvl="1">
              <a:lnSpc>
                <a:spcPts val="4796"/>
              </a:lnSpc>
              <a:buFont typeface="Arial"/>
              <a:buChar char="•"/>
            </a:pPr>
            <a:r>
              <a:rPr lang="en-US" sz="3197">
                <a:solidFill>
                  <a:srgbClr val="022948"/>
                </a:solidFill>
                <a:latin typeface="HK Grotesk"/>
                <a:ea typeface="HK Grotesk"/>
                <a:cs typeface="HK Grotesk"/>
                <a:sym typeface="HK Grotesk"/>
              </a:rPr>
              <a:t>Medical sys</a:t>
            </a:r>
            <a:r>
              <a:rPr lang="en-US" sz="3197">
                <a:solidFill>
                  <a:srgbClr val="022948"/>
                </a:solidFill>
                <a:latin typeface="HK Grotesk"/>
                <a:ea typeface="HK Grotesk"/>
                <a:cs typeface="HK Grotesk"/>
                <a:sym typeface="HK Grotesk"/>
              </a:rPr>
              <a:t>tems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176614" y="806117"/>
            <a:ext cx="392848" cy="97855"/>
          </a:xfrm>
          <a:custGeom>
            <a:avLst/>
            <a:gdLst/>
            <a:ahLst/>
            <a:cxnLst/>
            <a:rect r="r" b="b" t="t" l="l"/>
            <a:pathLst>
              <a:path h="97855" w="392848">
                <a:moveTo>
                  <a:pt x="0" y="0"/>
                </a:moveTo>
                <a:lnTo>
                  <a:pt x="392848" y="0"/>
                </a:lnTo>
                <a:lnTo>
                  <a:pt x="392848" y="97855"/>
                </a:lnTo>
                <a:lnTo>
                  <a:pt x="0" y="978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1759558" y="834692"/>
            <a:ext cx="848550" cy="453402"/>
          </a:xfrm>
          <a:prstGeom prst="rect">
            <a:avLst/>
          </a:prstGeom>
        </p:spPr>
        <p:txBody>
          <a:bodyPr anchor="t" rtlCol="false" tIns="0" lIns="0" bIns="0" rIns="0">
            <a:spAutoFit/>
          </a:bodyPr>
          <a:lstStyle/>
          <a:p>
            <a:pPr algn="l">
              <a:lnSpc>
                <a:spcPts val="1731"/>
              </a:lnSpc>
            </a:pPr>
            <a:r>
              <a:rPr lang="en-US" sz="1731" b="true">
                <a:solidFill>
                  <a:srgbClr val="FFFFFF"/>
                </a:solidFill>
                <a:latin typeface="HK Grotesk Medium"/>
                <a:ea typeface="HK Grotesk Medium"/>
                <a:cs typeface="HK Grotesk Medium"/>
                <a:sym typeface="HK Grotesk Medium"/>
              </a:rPr>
              <a:t>YOUR</a:t>
            </a:r>
          </a:p>
          <a:p>
            <a:pPr algn="l">
              <a:lnSpc>
                <a:spcPts val="1731"/>
              </a:lnSpc>
            </a:pPr>
            <a:r>
              <a:rPr lang="en-US" b="true" sz="1731">
                <a:solidFill>
                  <a:srgbClr val="FFFFFF"/>
                </a:solidFill>
                <a:latin typeface="HK Grotesk Medium"/>
                <a:ea typeface="HK Grotesk Medium"/>
                <a:cs typeface="HK Grotesk Medium"/>
                <a:sym typeface="HK Grotesk Medium"/>
              </a:rPr>
              <a:t>LOGO</a:t>
            </a:r>
          </a:p>
        </p:txBody>
      </p:sp>
      <p:sp>
        <p:nvSpPr>
          <p:cNvPr name="TextBox 4" id="4"/>
          <p:cNvSpPr txBox="true"/>
          <p:nvPr/>
        </p:nvSpPr>
        <p:spPr>
          <a:xfrm rot="0">
            <a:off x="16667065" y="9286803"/>
            <a:ext cx="592235" cy="234508"/>
          </a:xfrm>
          <a:prstGeom prst="rect">
            <a:avLst/>
          </a:prstGeom>
        </p:spPr>
        <p:txBody>
          <a:bodyPr anchor="t" rtlCol="false" tIns="0" lIns="0" bIns="0" rIns="0">
            <a:spAutoFit/>
          </a:bodyPr>
          <a:lstStyle/>
          <a:p>
            <a:pPr algn="r">
              <a:lnSpc>
                <a:spcPts val="1731"/>
              </a:lnSpc>
            </a:pPr>
            <a:r>
              <a:rPr lang="en-US" sz="1731">
                <a:solidFill>
                  <a:srgbClr val="1566A8"/>
                </a:solidFill>
                <a:latin typeface="HK Grotesk"/>
                <a:ea typeface="HK Grotesk"/>
                <a:cs typeface="HK Grotesk"/>
                <a:sym typeface="HK Grotesk"/>
              </a:rPr>
              <a:t>3</a:t>
            </a:r>
          </a:p>
        </p:txBody>
      </p:sp>
      <p:sp>
        <p:nvSpPr>
          <p:cNvPr name="TextBox 5" id="5"/>
          <p:cNvSpPr txBox="true"/>
          <p:nvPr/>
        </p:nvSpPr>
        <p:spPr>
          <a:xfrm rot="0">
            <a:off x="877668" y="735327"/>
            <a:ext cx="16532664" cy="1181734"/>
          </a:xfrm>
          <a:prstGeom prst="rect">
            <a:avLst/>
          </a:prstGeom>
        </p:spPr>
        <p:txBody>
          <a:bodyPr anchor="t" rtlCol="false" tIns="0" lIns="0" bIns="0" rIns="0">
            <a:spAutoFit/>
          </a:bodyPr>
          <a:lstStyle/>
          <a:p>
            <a:pPr algn="l">
              <a:lnSpc>
                <a:spcPts val="9129"/>
              </a:lnSpc>
            </a:pPr>
            <a:r>
              <a:rPr lang="en-US" sz="8299">
                <a:solidFill>
                  <a:srgbClr val="1566A8"/>
                </a:solidFill>
                <a:latin typeface="Anton"/>
                <a:ea typeface="Anton"/>
                <a:cs typeface="Anton"/>
                <a:sym typeface="Anton"/>
              </a:rPr>
              <a:t>What is Agile Development Approach?</a:t>
            </a:r>
          </a:p>
        </p:txBody>
      </p:sp>
      <p:sp>
        <p:nvSpPr>
          <p:cNvPr name="TextBox 6" id="6"/>
          <p:cNvSpPr txBox="true"/>
          <p:nvPr/>
        </p:nvSpPr>
        <p:spPr>
          <a:xfrm rot="0">
            <a:off x="1183450" y="2193246"/>
            <a:ext cx="15921100" cy="2950254"/>
          </a:xfrm>
          <a:prstGeom prst="rect">
            <a:avLst/>
          </a:prstGeom>
        </p:spPr>
        <p:txBody>
          <a:bodyPr anchor="t" rtlCol="false" tIns="0" lIns="0" bIns="0" rIns="0">
            <a:spAutoFit/>
          </a:bodyPr>
          <a:lstStyle/>
          <a:p>
            <a:pPr algn="just">
              <a:lnSpc>
                <a:spcPts val="3297"/>
              </a:lnSpc>
            </a:pPr>
            <a:r>
              <a:rPr lang="en-US" b="true" sz="2997">
                <a:solidFill>
                  <a:srgbClr val="000000"/>
                </a:solidFill>
                <a:latin typeface="HK Grotesk Medium"/>
                <a:ea typeface="HK Grotesk Medium"/>
                <a:cs typeface="HK Grotesk Medium"/>
                <a:sym typeface="HK Grotesk Medium"/>
              </a:rPr>
              <a:t>Agile Development is a software development approach where the project is developed in small, iterative cycles, allowing teams to adapt to changes throughout the development process.</a:t>
            </a:r>
          </a:p>
          <a:p>
            <a:pPr algn="just">
              <a:lnSpc>
                <a:spcPts val="3297"/>
              </a:lnSpc>
            </a:pPr>
          </a:p>
          <a:p>
            <a:pPr algn="just">
              <a:lnSpc>
                <a:spcPts val="3297"/>
              </a:lnSpc>
            </a:pPr>
            <a:r>
              <a:rPr lang="en-US" b="true" sz="2997">
                <a:solidFill>
                  <a:srgbClr val="000000"/>
                </a:solidFill>
                <a:latin typeface="HK Grotesk Medium"/>
                <a:ea typeface="HK Grotesk Medium"/>
                <a:cs typeface="HK Grotesk Medium"/>
                <a:sym typeface="HK Grotesk Medium"/>
              </a:rPr>
              <a:t>Instead of completing the entire project in one fixed sequence, development is divided into short phases called iterations or sprints, where planning, development, testing, and feedback happen repeatedly.</a:t>
            </a:r>
          </a:p>
        </p:txBody>
      </p:sp>
      <p:sp>
        <p:nvSpPr>
          <p:cNvPr name="TextBox 7" id="7"/>
          <p:cNvSpPr txBox="true"/>
          <p:nvPr/>
        </p:nvSpPr>
        <p:spPr>
          <a:xfrm rot="0">
            <a:off x="731753" y="6067425"/>
            <a:ext cx="8266332" cy="3213100"/>
          </a:xfrm>
          <a:prstGeom prst="rect">
            <a:avLst/>
          </a:prstGeom>
        </p:spPr>
        <p:txBody>
          <a:bodyPr anchor="t" rtlCol="false" tIns="0" lIns="0" bIns="0" rIns="0">
            <a:spAutoFit/>
          </a:bodyPr>
          <a:lstStyle/>
          <a:p>
            <a:pPr algn="l">
              <a:lnSpc>
                <a:spcPts val="4950"/>
              </a:lnSpc>
            </a:pPr>
            <a:r>
              <a:rPr lang="en-US" sz="4500" b="true">
                <a:solidFill>
                  <a:srgbClr val="000000"/>
                </a:solidFill>
                <a:latin typeface="HK Grotesk Semi-Bold"/>
                <a:ea typeface="HK Grotesk Semi-Bold"/>
                <a:cs typeface="HK Grotesk Semi-Bold"/>
                <a:sym typeface="HK Grotesk Semi-Bold"/>
              </a:rPr>
              <a:t>THIS APPROACH FOCUSES ON:</a:t>
            </a:r>
          </a:p>
          <a:p>
            <a:pPr algn="l">
              <a:lnSpc>
                <a:spcPts val="4950"/>
              </a:lnSpc>
            </a:pPr>
          </a:p>
          <a:p>
            <a:pPr algn="l" marL="755659" indent="-377829" lvl="1">
              <a:lnSpc>
                <a:spcPts val="3850"/>
              </a:lnSpc>
              <a:buFont typeface="Arial"/>
              <a:buChar char="•"/>
            </a:pPr>
            <a:r>
              <a:rPr lang="en-US" b="true" sz="3500">
                <a:solidFill>
                  <a:srgbClr val="000000"/>
                </a:solidFill>
                <a:latin typeface="HK Grotesk Semi-Bold"/>
                <a:ea typeface="HK Grotesk Semi-Bold"/>
                <a:cs typeface="HK Grotesk Semi-Bold"/>
                <a:sym typeface="HK Grotesk Semi-Bold"/>
              </a:rPr>
              <a:t>Fl</a:t>
            </a:r>
            <a:r>
              <a:rPr lang="en-US" b="true" sz="3500">
                <a:solidFill>
                  <a:srgbClr val="000000"/>
                </a:solidFill>
                <a:latin typeface="HK Grotesk Semi-Bold"/>
                <a:ea typeface="HK Grotesk Semi-Bold"/>
                <a:cs typeface="HK Grotesk Semi-Bold"/>
                <a:sym typeface="HK Grotesk Semi-Bold"/>
              </a:rPr>
              <a:t>exibility</a:t>
            </a:r>
          </a:p>
          <a:p>
            <a:pPr algn="l" marL="755659" indent="-377829" lvl="1">
              <a:lnSpc>
                <a:spcPts val="3850"/>
              </a:lnSpc>
              <a:buFont typeface="Arial"/>
              <a:buChar char="•"/>
            </a:pPr>
            <a:r>
              <a:rPr lang="en-US" b="true" sz="3500">
                <a:solidFill>
                  <a:srgbClr val="000000"/>
                </a:solidFill>
                <a:latin typeface="HK Grotesk Semi-Bold"/>
                <a:ea typeface="HK Grotesk Semi-Bold"/>
                <a:cs typeface="HK Grotesk Semi-Bold"/>
                <a:sym typeface="HK Grotesk Semi-Bold"/>
              </a:rPr>
              <a:t>Customer collaboration</a:t>
            </a:r>
          </a:p>
          <a:p>
            <a:pPr algn="l" marL="755659" indent="-377829" lvl="1">
              <a:lnSpc>
                <a:spcPts val="3850"/>
              </a:lnSpc>
              <a:buFont typeface="Arial"/>
              <a:buChar char="•"/>
            </a:pPr>
            <a:r>
              <a:rPr lang="en-US" b="true" sz="3500">
                <a:solidFill>
                  <a:srgbClr val="000000"/>
                </a:solidFill>
                <a:latin typeface="HK Grotesk Semi-Bold"/>
                <a:ea typeface="HK Grotesk Semi-Bold"/>
                <a:cs typeface="HK Grotesk Semi-Bold"/>
                <a:sym typeface="HK Grotesk Semi-Bold"/>
              </a:rPr>
              <a:t>Con</a:t>
            </a:r>
            <a:r>
              <a:rPr lang="en-US" b="true" sz="3500">
                <a:solidFill>
                  <a:srgbClr val="000000"/>
                </a:solidFill>
                <a:latin typeface="HK Grotesk Semi-Bold"/>
                <a:ea typeface="HK Grotesk Semi-Bold"/>
                <a:cs typeface="HK Grotesk Semi-Bold"/>
                <a:sym typeface="HK Grotesk Semi-Bold"/>
              </a:rPr>
              <a:t>tinuous feedback</a:t>
            </a:r>
          </a:p>
          <a:p>
            <a:pPr algn="l" marL="755659" indent="-377829" lvl="1">
              <a:lnSpc>
                <a:spcPts val="3850"/>
              </a:lnSpc>
              <a:buFont typeface="Arial"/>
              <a:buChar char="•"/>
            </a:pPr>
            <a:r>
              <a:rPr lang="en-US" b="true" sz="3500">
                <a:solidFill>
                  <a:srgbClr val="000000"/>
                </a:solidFill>
                <a:latin typeface="HK Grotesk Semi-Bold"/>
                <a:ea typeface="HK Grotesk Semi-Bold"/>
                <a:cs typeface="HK Grotesk Semi-Bold"/>
                <a:sym typeface="HK Grotesk Semi-Bold"/>
              </a:rPr>
              <a:t>F</a:t>
            </a:r>
            <a:r>
              <a:rPr lang="en-US" b="true" sz="3500">
                <a:solidFill>
                  <a:srgbClr val="000000"/>
                </a:solidFill>
                <a:latin typeface="HK Grotesk Semi-Bold"/>
                <a:ea typeface="HK Grotesk Semi-Bold"/>
                <a:cs typeface="HK Grotesk Semi-Bold"/>
                <a:sym typeface="HK Grotesk Semi-Bold"/>
              </a:rPr>
              <a:t>requent delivery of working software</a:t>
            </a:r>
          </a:p>
        </p:txBody>
      </p:sp>
      <p:sp>
        <p:nvSpPr>
          <p:cNvPr name="TextBox 8" id="8"/>
          <p:cNvSpPr txBox="true"/>
          <p:nvPr/>
        </p:nvSpPr>
        <p:spPr>
          <a:xfrm rot="0">
            <a:off x="10605733" y="6067425"/>
            <a:ext cx="7117252" cy="2727325"/>
          </a:xfrm>
          <a:prstGeom prst="rect">
            <a:avLst/>
          </a:prstGeom>
        </p:spPr>
        <p:txBody>
          <a:bodyPr anchor="t" rtlCol="false" tIns="0" lIns="0" bIns="0" rIns="0">
            <a:spAutoFit/>
          </a:bodyPr>
          <a:lstStyle/>
          <a:p>
            <a:pPr algn="ctr">
              <a:lnSpc>
                <a:spcPts val="4950"/>
              </a:lnSpc>
            </a:pPr>
            <a:r>
              <a:rPr lang="en-US" sz="4500" b="true">
                <a:solidFill>
                  <a:srgbClr val="000000"/>
                </a:solidFill>
                <a:latin typeface="HK Grotesk Bold"/>
                <a:ea typeface="HK Grotesk Bold"/>
                <a:cs typeface="HK Grotesk Bold"/>
                <a:sym typeface="HK Grotesk Bold"/>
              </a:rPr>
              <a:t>EXAMPLES</a:t>
            </a:r>
            <a:r>
              <a:rPr lang="en-US" sz="4500" b="true">
                <a:solidFill>
                  <a:srgbClr val="000000"/>
                </a:solidFill>
                <a:latin typeface="HK Grotesk Semi-Bold"/>
                <a:ea typeface="HK Grotesk Semi-Bold"/>
                <a:cs typeface="HK Grotesk Semi-Bold"/>
                <a:sym typeface="HK Grotesk Semi-Bold"/>
              </a:rPr>
              <a:t>:</a:t>
            </a:r>
          </a:p>
          <a:p>
            <a:pPr algn="l">
              <a:lnSpc>
                <a:spcPts val="4950"/>
              </a:lnSpc>
            </a:pPr>
          </a:p>
          <a:p>
            <a:pPr algn="l" marL="755659" indent="-377829" lvl="1">
              <a:lnSpc>
                <a:spcPts val="3850"/>
              </a:lnSpc>
              <a:buFont typeface="Arial"/>
              <a:buChar char="•"/>
            </a:pPr>
            <a:r>
              <a:rPr lang="en-US" b="true" sz="3500">
                <a:solidFill>
                  <a:srgbClr val="000000"/>
                </a:solidFill>
                <a:latin typeface="HK Grotesk Semi-Bold"/>
                <a:ea typeface="HK Grotesk Semi-Bold"/>
                <a:cs typeface="HK Grotesk Semi-Bold"/>
                <a:sym typeface="HK Grotesk Semi-Bold"/>
              </a:rPr>
              <a:t>E-c</a:t>
            </a:r>
            <a:r>
              <a:rPr lang="en-US" b="true" sz="3500">
                <a:solidFill>
                  <a:srgbClr val="000000"/>
                </a:solidFill>
                <a:latin typeface="HK Grotesk Semi-Bold"/>
                <a:ea typeface="HK Grotesk Semi-Bold"/>
                <a:cs typeface="HK Grotesk Semi-Bold"/>
                <a:sym typeface="HK Grotesk Semi-Bold"/>
              </a:rPr>
              <a:t>ommerce Websites</a:t>
            </a:r>
          </a:p>
          <a:p>
            <a:pPr algn="l" marL="755659" indent="-377829" lvl="1">
              <a:lnSpc>
                <a:spcPts val="3850"/>
              </a:lnSpc>
              <a:buFont typeface="Arial"/>
              <a:buChar char="•"/>
            </a:pPr>
            <a:r>
              <a:rPr lang="en-US" b="true" sz="3500">
                <a:solidFill>
                  <a:srgbClr val="000000"/>
                </a:solidFill>
                <a:latin typeface="HK Grotesk Semi-Bold"/>
                <a:ea typeface="HK Grotesk Semi-Bold"/>
                <a:cs typeface="HK Grotesk Semi-Bold"/>
                <a:sym typeface="HK Grotesk Semi-Bold"/>
              </a:rPr>
              <a:t>Social Media Platforms</a:t>
            </a:r>
          </a:p>
          <a:p>
            <a:pPr algn="l" marL="755659" indent="-377829" lvl="1">
              <a:lnSpc>
                <a:spcPts val="3850"/>
              </a:lnSpc>
              <a:buFont typeface="Arial"/>
              <a:buChar char="•"/>
            </a:pPr>
            <a:r>
              <a:rPr lang="en-US" b="true" sz="3500">
                <a:solidFill>
                  <a:srgbClr val="000000"/>
                </a:solidFill>
                <a:latin typeface="HK Grotesk Semi-Bold"/>
                <a:ea typeface="HK Grotesk Semi-Bold"/>
                <a:cs typeface="HK Grotesk Semi-Bold"/>
                <a:sym typeface="HK Grotesk Semi-Bold"/>
              </a:rPr>
              <a:t>Mobile Applications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176614" y="806117"/>
            <a:ext cx="392848" cy="97855"/>
          </a:xfrm>
          <a:custGeom>
            <a:avLst/>
            <a:gdLst/>
            <a:ahLst/>
            <a:cxnLst/>
            <a:rect r="r" b="b" t="t" l="l"/>
            <a:pathLst>
              <a:path h="97855" w="392848">
                <a:moveTo>
                  <a:pt x="0" y="0"/>
                </a:moveTo>
                <a:lnTo>
                  <a:pt x="392848" y="0"/>
                </a:lnTo>
                <a:lnTo>
                  <a:pt x="392848" y="97855"/>
                </a:lnTo>
                <a:lnTo>
                  <a:pt x="0" y="978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aphicFrame>
        <p:nvGraphicFramePr>
          <p:cNvPr name="Table 3" id="3"/>
          <p:cNvGraphicFramePr>
            <a:graphicFrameLocks noGrp="true"/>
          </p:cNvGraphicFramePr>
          <p:nvPr/>
        </p:nvGraphicFramePr>
        <p:xfrm>
          <a:off x="735433" y="2378654"/>
          <a:ext cx="16817134" cy="7151516"/>
        </p:xfrm>
        <a:graphic>
          <a:graphicData uri="http://schemas.openxmlformats.org/drawingml/2006/table">
            <a:tbl>
              <a:tblPr/>
              <a:tblGrid>
                <a:gridCol w="2932114"/>
                <a:gridCol w="6930162"/>
                <a:gridCol w="6954858"/>
              </a:tblGrid>
              <a:tr h="858481">
                <a:tc>
                  <a:txBody>
                    <a:bodyPr anchor="t" rtlCol="false"/>
                    <a:lstStyle/>
                    <a:p>
                      <a:pPr algn="ctr">
                        <a:lnSpc>
                          <a:spcPts val="3499"/>
                        </a:lnSpc>
                        <a:defRPr/>
                      </a:pPr>
                      <a:endParaRPr lang="en-US" sz="1100"/>
                    </a:p>
                  </a:txBody>
                  <a:tcPr marL="104775" marR="104775" marT="104775" marB="10477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CDD6FF"/>
                    </a:solidFill>
                  </a:tcPr>
                </a:tc>
                <a:tc>
                  <a:txBody>
                    <a:bodyPr anchor="t" rtlCol="false"/>
                    <a:lstStyle/>
                    <a:p>
                      <a:pPr algn="ctr">
                        <a:lnSpc>
                          <a:spcPts val="3499"/>
                        </a:lnSpc>
                        <a:defRPr/>
                      </a:pPr>
                      <a:r>
                        <a:rPr lang="en-US" sz="2499" b="true">
                          <a:solidFill>
                            <a:srgbClr val="000000"/>
                          </a:solidFill>
                          <a:latin typeface="HK Grotesk Bold"/>
                          <a:ea typeface="HK Grotesk Bold"/>
                          <a:cs typeface="HK Grotesk Bold"/>
                          <a:sym typeface="HK Grotesk Bold"/>
                        </a:rPr>
                        <a:t>Plan Driven</a:t>
                      </a:r>
                      <a:endParaRPr lang="en-US" sz="1100"/>
                    </a:p>
                  </a:txBody>
                  <a:tcPr marL="104775" marR="104775" marT="104775" marB="10477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CDD6FF"/>
                    </a:solidFill>
                  </a:tcPr>
                </a:tc>
                <a:tc>
                  <a:txBody>
                    <a:bodyPr anchor="t" rtlCol="false"/>
                    <a:lstStyle/>
                    <a:p>
                      <a:pPr algn="ctr">
                        <a:lnSpc>
                          <a:spcPts val="3499"/>
                        </a:lnSpc>
                        <a:defRPr/>
                      </a:pPr>
                      <a:r>
                        <a:rPr lang="en-US" sz="2499" b="true">
                          <a:solidFill>
                            <a:srgbClr val="000000"/>
                          </a:solidFill>
                          <a:latin typeface="HK Grotesk Bold"/>
                          <a:ea typeface="HK Grotesk Bold"/>
                          <a:cs typeface="HK Grotesk Bold"/>
                          <a:sym typeface="HK Grotesk Bold"/>
                        </a:rPr>
                        <a:t>Agile</a:t>
                      </a:r>
                      <a:endParaRPr lang="en-US" sz="1100"/>
                    </a:p>
                  </a:txBody>
                  <a:tcPr marL="104775" marR="104775" marT="104775" marB="10477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CDD6FF"/>
                    </a:solidFill>
                  </a:tcPr>
                </a:tc>
              </a:tr>
              <a:tr h="756505">
                <a:tc>
                  <a:txBody>
                    <a:bodyPr anchor="t" rtlCol="false"/>
                    <a:lstStyle/>
                    <a:p>
                      <a:pPr algn="ctr">
                        <a:lnSpc>
                          <a:spcPts val="3499"/>
                        </a:lnSpc>
                        <a:defRPr/>
                      </a:pPr>
                      <a:r>
                        <a:rPr lang="en-US" sz="2499">
                          <a:solidFill>
                            <a:srgbClr val="000000"/>
                          </a:solidFill>
                          <a:latin typeface="HK Grotesk"/>
                          <a:ea typeface="HK Grotesk"/>
                          <a:cs typeface="HK Grotesk"/>
                          <a:sym typeface="HK Grotesk"/>
                        </a:rPr>
                        <a:t>Planning</a:t>
                      </a:r>
                      <a:endParaRPr lang="en-US" sz="1100"/>
                    </a:p>
                  </a:txBody>
                  <a:tcPr marL="104775" marR="104775" marT="104775" marB="10477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HK Grotesk"/>
                          <a:ea typeface="HK Grotesk"/>
                          <a:cs typeface="HK Grotesk"/>
                          <a:sym typeface="HK Grotesk"/>
                        </a:rPr>
                        <a:t>Full upfront planning before development</a:t>
                      </a:r>
                      <a:endParaRPr lang="en-US" sz="1100"/>
                    </a:p>
                  </a:txBody>
                  <a:tcPr marL="104775" marR="104775" marT="104775" marB="10477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HK Grotesk"/>
                          <a:ea typeface="HK Grotesk"/>
                          <a:cs typeface="HK Grotesk"/>
                          <a:sym typeface="HK Grotesk"/>
                        </a:rPr>
                        <a:t>Sprint-by-sprint; evolves continuously</a:t>
                      </a:r>
                      <a:endParaRPr lang="en-US" sz="1100"/>
                    </a:p>
                  </a:txBody>
                  <a:tcPr marL="104775" marR="104775" marT="104775" marB="10477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858481">
                <a:tc>
                  <a:txBody>
                    <a:bodyPr anchor="t" rtlCol="false"/>
                    <a:lstStyle/>
                    <a:p>
                      <a:pPr algn="ctr">
                        <a:lnSpc>
                          <a:spcPts val="3499"/>
                        </a:lnSpc>
                        <a:defRPr/>
                      </a:pPr>
                      <a:r>
                        <a:rPr lang="en-US" sz="2499">
                          <a:solidFill>
                            <a:srgbClr val="000000"/>
                          </a:solidFill>
                          <a:latin typeface="HK Grotesk"/>
                          <a:ea typeface="HK Grotesk"/>
                          <a:cs typeface="HK Grotesk"/>
                          <a:sym typeface="HK Grotesk"/>
                        </a:rPr>
                        <a:t>Requirements</a:t>
                      </a:r>
                      <a:endParaRPr lang="en-US" sz="1100"/>
                    </a:p>
                  </a:txBody>
                  <a:tcPr marL="104775" marR="104775" marT="104775" marB="10477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HK Grotesk"/>
                          <a:ea typeface="HK Grotesk"/>
                          <a:cs typeface="HK Grotesk"/>
                          <a:sym typeface="HK Grotesk"/>
                        </a:rPr>
                        <a:t>Fixed at the start; changes are costly</a:t>
                      </a:r>
                      <a:endParaRPr lang="en-US" sz="1100"/>
                    </a:p>
                  </a:txBody>
                  <a:tcPr marL="104775" marR="104775" marT="104775" marB="10477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HK Grotesk"/>
                          <a:ea typeface="HK Grotesk"/>
                          <a:cs typeface="HK Grotesk"/>
                          <a:sym typeface="HK Grotesk"/>
                        </a:rPr>
                        <a:t>Evolving; changes incorporated each sprint</a:t>
                      </a:r>
                      <a:endParaRPr lang="en-US" sz="1100"/>
                    </a:p>
                  </a:txBody>
                  <a:tcPr marL="104775" marR="104775" marT="104775" marB="10477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756505">
                <a:tc>
                  <a:txBody>
                    <a:bodyPr anchor="t" rtlCol="false"/>
                    <a:lstStyle/>
                    <a:p>
                      <a:pPr algn="ctr">
                        <a:lnSpc>
                          <a:spcPts val="3499"/>
                        </a:lnSpc>
                        <a:defRPr/>
                      </a:pPr>
                      <a:r>
                        <a:rPr lang="en-US" sz="2499">
                          <a:solidFill>
                            <a:srgbClr val="000000"/>
                          </a:solidFill>
                          <a:latin typeface="HK Grotesk"/>
                          <a:ea typeface="HK Grotesk"/>
                          <a:cs typeface="HK Grotesk"/>
                          <a:sym typeface="HK Grotesk"/>
                        </a:rPr>
                        <a:t>Process</a:t>
                      </a:r>
                      <a:endParaRPr lang="en-US" sz="1100"/>
                    </a:p>
                  </a:txBody>
                  <a:tcPr marL="104775" marR="104775" marT="104775" marB="10477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HK Grotesk"/>
                          <a:ea typeface="HK Grotesk"/>
                          <a:cs typeface="HK Grotesk"/>
                          <a:sym typeface="HK Grotesk"/>
                        </a:rPr>
                        <a:t>Strictly sequential — one phase at a time</a:t>
                      </a:r>
                      <a:endParaRPr lang="en-US" sz="1100"/>
                    </a:p>
                  </a:txBody>
                  <a:tcPr marL="104775" marR="104775" marT="104775" marB="10477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HK Grotesk"/>
                          <a:ea typeface="HK Grotesk"/>
                          <a:cs typeface="HK Grotesk"/>
                          <a:sym typeface="HK Grotesk"/>
                        </a:rPr>
                        <a:t>Iterative and incremental (time-boxed sprints)</a:t>
                      </a:r>
                      <a:endParaRPr lang="en-US" sz="1100"/>
                    </a:p>
                  </a:txBody>
                  <a:tcPr marL="104775" marR="104775" marT="104775" marB="10477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858481">
                <a:tc>
                  <a:txBody>
                    <a:bodyPr anchor="t" rtlCol="false"/>
                    <a:lstStyle/>
                    <a:p>
                      <a:pPr algn="ctr">
                        <a:lnSpc>
                          <a:spcPts val="3499"/>
                        </a:lnSpc>
                        <a:defRPr/>
                      </a:pPr>
                      <a:r>
                        <a:rPr lang="en-US" sz="2499">
                          <a:solidFill>
                            <a:srgbClr val="000000"/>
                          </a:solidFill>
                          <a:latin typeface="HK Grotesk"/>
                          <a:ea typeface="HK Grotesk"/>
                          <a:cs typeface="HK Grotesk"/>
                          <a:sym typeface="HK Grotesk"/>
                        </a:rPr>
                        <a:t>Flexibility</a:t>
                      </a:r>
                      <a:endParaRPr lang="en-US" sz="1100"/>
                    </a:p>
                  </a:txBody>
                  <a:tcPr marL="104775" marR="104775" marT="104775" marB="10477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HK Grotesk"/>
                          <a:ea typeface="HK Grotesk"/>
                          <a:cs typeface="HK Grotesk"/>
                          <a:sym typeface="HK Grotesk"/>
                        </a:rPr>
                        <a:t> Low — hard to change mid-project</a:t>
                      </a:r>
                      <a:endParaRPr lang="en-US" sz="1100"/>
                    </a:p>
                  </a:txBody>
                  <a:tcPr marL="104775" marR="104775" marT="104775" marB="10477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HK Grotesk"/>
                          <a:ea typeface="HK Grotesk"/>
                          <a:cs typeface="HK Grotesk"/>
                          <a:sym typeface="HK Grotesk"/>
                        </a:rPr>
                        <a:t>High — adapts to change each iteration</a:t>
                      </a:r>
                      <a:endParaRPr lang="en-US" sz="1100"/>
                    </a:p>
                  </a:txBody>
                  <a:tcPr marL="104775" marR="104775" marT="104775" marB="10477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756505">
                <a:tc>
                  <a:txBody>
                    <a:bodyPr anchor="t" rtlCol="false"/>
                    <a:lstStyle/>
                    <a:p>
                      <a:pPr algn="ctr">
                        <a:lnSpc>
                          <a:spcPts val="3499"/>
                        </a:lnSpc>
                        <a:defRPr/>
                      </a:pPr>
                      <a:r>
                        <a:rPr lang="en-US" sz="2499">
                          <a:solidFill>
                            <a:srgbClr val="000000"/>
                          </a:solidFill>
                          <a:latin typeface="HK Grotesk"/>
                          <a:ea typeface="HK Grotesk"/>
                          <a:cs typeface="HK Grotesk"/>
                          <a:sym typeface="HK Grotesk"/>
                        </a:rPr>
                        <a:t>Documentation</a:t>
                      </a:r>
                      <a:endParaRPr lang="en-US" sz="1100"/>
                    </a:p>
                  </a:txBody>
                  <a:tcPr marL="104775" marR="104775" marT="104775" marB="10477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HK Grotesk"/>
                          <a:ea typeface="HK Grotesk"/>
                          <a:cs typeface="HK Grotesk"/>
                          <a:sym typeface="HK Grotesk"/>
                        </a:rPr>
                        <a:t>Heavy and formal throughout</a:t>
                      </a:r>
                      <a:endParaRPr lang="en-US" sz="1100"/>
                    </a:p>
                  </a:txBody>
                  <a:tcPr marL="104775" marR="104775" marT="104775" marB="10477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HK Grotesk"/>
                          <a:ea typeface="HK Grotesk"/>
                          <a:cs typeface="HK Grotesk"/>
                          <a:sym typeface="HK Grotesk"/>
                        </a:rPr>
                        <a:t>Lightweight; focuses on working software</a:t>
                      </a:r>
                      <a:endParaRPr lang="en-US" sz="1100"/>
                    </a:p>
                  </a:txBody>
                  <a:tcPr marL="104775" marR="104775" marT="104775" marB="10477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775026">
                <a:tc>
                  <a:txBody>
                    <a:bodyPr anchor="t" rtlCol="false"/>
                    <a:lstStyle/>
                    <a:p>
                      <a:pPr algn="ctr">
                        <a:lnSpc>
                          <a:spcPts val="3499"/>
                        </a:lnSpc>
                        <a:defRPr/>
                      </a:pPr>
                      <a:r>
                        <a:rPr lang="en-US" sz="2499">
                          <a:solidFill>
                            <a:srgbClr val="000000"/>
                          </a:solidFill>
                          <a:latin typeface="HK Grotesk"/>
                          <a:ea typeface="HK Grotesk"/>
                          <a:cs typeface="HK Grotesk"/>
                          <a:sym typeface="HK Grotesk"/>
                        </a:rPr>
                        <a:t>Client Role</a:t>
                      </a:r>
                      <a:endParaRPr lang="en-US" sz="1100"/>
                    </a:p>
                  </a:txBody>
                  <a:tcPr marL="104775" marR="104775" marT="104775" marB="10477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HK Grotesk"/>
                          <a:ea typeface="HK Grotesk"/>
                          <a:cs typeface="HK Grotesk"/>
                          <a:sym typeface="HK Grotesk"/>
                        </a:rPr>
                        <a:t> Limited — sees product at the end</a:t>
                      </a:r>
                      <a:endParaRPr lang="en-US" sz="1100"/>
                    </a:p>
                  </a:txBody>
                  <a:tcPr marL="104775" marR="104775" marT="104775" marB="10477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HK Grotesk"/>
                          <a:ea typeface="HK Grotesk"/>
                          <a:cs typeface="HK Grotesk"/>
                          <a:sym typeface="HK Grotesk"/>
                        </a:rPr>
                        <a:t>Frequent — feedback every sprint cycle</a:t>
                      </a:r>
                      <a:endParaRPr lang="en-US" sz="1100"/>
                    </a:p>
                  </a:txBody>
                  <a:tcPr marL="104775" marR="104775" marT="104775" marB="10477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756505">
                <a:tc>
                  <a:txBody>
                    <a:bodyPr anchor="t" rtlCol="false"/>
                    <a:lstStyle/>
                    <a:p>
                      <a:pPr algn="ctr">
                        <a:lnSpc>
                          <a:spcPts val="3499"/>
                        </a:lnSpc>
                        <a:defRPr/>
                      </a:pPr>
                      <a:r>
                        <a:rPr lang="en-US" sz="2499">
                          <a:solidFill>
                            <a:srgbClr val="000000"/>
                          </a:solidFill>
                          <a:latin typeface="HK Grotesk"/>
                          <a:ea typeface="HK Grotesk"/>
                          <a:cs typeface="HK Grotesk"/>
                          <a:sym typeface="HK Grotesk"/>
                        </a:rPr>
                        <a:t>Delivery</a:t>
                      </a:r>
                      <a:endParaRPr lang="en-US" sz="1100"/>
                    </a:p>
                  </a:txBody>
                  <a:tcPr marL="104775" marR="104775" marT="104775" marB="10477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HK Grotesk"/>
                          <a:ea typeface="HK Grotesk"/>
                          <a:cs typeface="HK Grotesk"/>
                          <a:sym typeface="HK Grotesk"/>
                        </a:rPr>
                        <a:t>Single release at project end</a:t>
                      </a:r>
                      <a:endParaRPr lang="en-US" sz="1100"/>
                    </a:p>
                  </a:txBody>
                  <a:tcPr marL="104775" marR="104775" marT="104775" marB="10477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HK Grotesk"/>
                          <a:ea typeface="HK Grotesk"/>
                          <a:cs typeface="HK Grotesk"/>
                          <a:sym typeface="HK Grotesk"/>
                        </a:rPr>
                        <a:t>Incremental releases each sprint</a:t>
                      </a:r>
                      <a:endParaRPr lang="en-US" sz="1100"/>
                    </a:p>
                  </a:txBody>
                  <a:tcPr marL="104775" marR="104775" marT="104775" marB="10477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775026">
                <a:tc>
                  <a:txBody>
                    <a:bodyPr anchor="t" rtlCol="false"/>
                    <a:lstStyle/>
                    <a:p>
                      <a:pPr algn="ctr">
                        <a:lnSpc>
                          <a:spcPts val="3499"/>
                        </a:lnSpc>
                        <a:defRPr/>
                      </a:pPr>
                      <a:r>
                        <a:rPr lang="en-US" sz="2499">
                          <a:solidFill>
                            <a:srgbClr val="000000"/>
                          </a:solidFill>
                          <a:latin typeface="HK Grotesk"/>
                          <a:ea typeface="HK Grotesk"/>
                          <a:cs typeface="HK Grotesk"/>
                          <a:sym typeface="HK Grotesk"/>
                        </a:rPr>
                        <a:t>Best For</a:t>
                      </a:r>
                      <a:endParaRPr lang="en-US" sz="1100"/>
                    </a:p>
                  </a:txBody>
                  <a:tcPr marL="104775" marR="104775" marT="104775" marB="10477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HK Grotesk"/>
                          <a:ea typeface="HK Grotesk"/>
                          <a:cs typeface="HK Grotesk"/>
                          <a:sym typeface="HK Grotesk"/>
                        </a:rPr>
                        <a:t>Large, stable, well-defined projects</a:t>
                      </a:r>
                      <a:endParaRPr lang="en-US" sz="1100"/>
                    </a:p>
                  </a:txBody>
                  <a:tcPr marL="104775" marR="104775" marT="104775" marB="10477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HK Grotesk"/>
                          <a:ea typeface="HK Grotesk"/>
                          <a:cs typeface="HK Grotesk"/>
                          <a:sym typeface="HK Grotesk"/>
                        </a:rPr>
                        <a:t>Small–medium, fast-changing projects</a:t>
                      </a:r>
                      <a:endParaRPr lang="en-US" sz="1100"/>
                    </a:p>
                  </a:txBody>
                  <a:tcPr marL="104775" marR="104775" marT="104775" marB="10477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bl>
          </a:graphicData>
        </a:graphic>
      </p:graphicFrame>
      <p:sp>
        <p:nvSpPr>
          <p:cNvPr name="TextBox 4" id="4"/>
          <p:cNvSpPr txBox="true"/>
          <p:nvPr/>
        </p:nvSpPr>
        <p:spPr>
          <a:xfrm rot="0">
            <a:off x="1759558" y="834692"/>
            <a:ext cx="848550" cy="453402"/>
          </a:xfrm>
          <a:prstGeom prst="rect">
            <a:avLst/>
          </a:prstGeom>
        </p:spPr>
        <p:txBody>
          <a:bodyPr anchor="t" rtlCol="false" tIns="0" lIns="0" bIns="0" rIns="0">
            <a:spAutoFit/>
          </a:bodyPr>
          <a:lstStyle/>
          <a:p>
            <a:pPr algn="l">
              <a:lnSpc>
                <a:spcPts val="1731"/>
              </a:lnSpc>
            </a:pPr>
            <a:r>
              <a:rPr lang="en-US" sz="1731" b="true">
                <a:solidFill>
                  <a:srgbClr val="FFFFFF"/>
                </a:solidFill>
                <a:latin typeface="HK Grotesk Medium"/>
                <a:ea typeface="HK Grotesk Medium"/>
                <a:cs typeface="HK Grotesk Medium"/>
                <a:sym typeface="HK Grotesk Medium"/>
              </a:rPr>
              <a:t>YOUR</a:t>
            </a:r>
          </a:p>
          <a:p>
            <a:pPr algn="l">
              <a:lnSpc>
                <a:spcPts val="1731"/>
              </a:lnSpc>
            </a:pPr>
            <a:r>
              <a:rPr lang="en-US" b="true" sz="1731">
                <a:solidFill>
                  <a:srgbClr val="FFFFFF"/>
                </a:solidFill>
                <a:latin typeface="HK Grotesk Medium"/>
                <a:ea typeface="HK Grotesk Medium"/>
                <a:cs typeface="HK Grotesk Medium"/>
                <a:sym typeface="HK Grotesk Medium"/>
              </a:rPr>
              <a:t>LOGO</a:t>
            </a:r>
          </a:p>
        </p:txBody>
      </p:sp>
      <p:sp>
        <p:nvSpPr>
          <p:cNvPr name="TextBox 5" id="5"/>
          <p:cNvSpPr txBox="true"/>
          <p:nvPr/>
        </p:nvSpPr>
        <p:spPr>
          <a:xfrm rot="0">
            <a:off x="877668" y="703578"/>
            <a:ext cx="16532664" cy="1254756"/>
          </a:xfrm>
          <a:prstGeom prst="rect">
            <a:avLst/>
          </a:prstGeom>
        </p:spPr>
        <p:txBody>
          <a:bodyPr anchor="t" rtlCol="false" tIns="0" lIns="0" bIns="0" rIns="0">
            <a:spAutoFit/>
          </a:bodyPr>
          <a:lstStyle/>
          <a:p>
            <a:pPr algn="ctr">
              <a:lnSpc>
                <a:spcPts val="9679"/>
              </a:lnSpc>
            </a:pPr>
            <a:r>
              <a:rPr lang="en-US" sz="8799">
                <a:solidFill>
                  <a:srgbClr val="1566A8"/>
                </a:solidFill>
                <a:latin typeface="Anton"/>
                <a:ea typeface="Anton"/>
                <a:cs typeface="Anton"/>
                <a:sym typeface="Anton"/>
              </a:rPr>
              <a:t>Plan-Driven vs Agile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176614" y="806117"/>
            <a:ext cx="392848" cy="97855"/>
          </a:xfrm>
          <a:custGeom>
            <a:avLst/>
            <a:gdLst/>
            <a:ahLst/>
            <a:cxnLst/>
            <a:rect r="r" b="b" t="t" l="l"/>
            <a:pathLst>
              <a:path h="97855" w="392848">
                <a:moveTo>
                  <a:pt x="0" y="0"/>
                </a:moveTo>
                <a:lnTo>
                  <a:pt x="392848" y="0"/>
                </a:lnTo>
                <a:lnTo>
                  <a:pt x="392848" y="97855"/>
                </a:lnTo>
                <a:lnTo>
                  <a:pt x="0" y="978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1759558" y="834692"/>
            <a:ext cx="848550" cy="453402"/>
          </a:xfrm>
          <a:prstGeom prst="rect">
            <a:avLst/>
          </a:prstGeom>
        </p:spPr>
        <p:txBody>
          <a:bodyPr anchor="t" rtlCol="false" tIns="0" lIns="0" bIns="0" rIns="0">
            <a:spAutoFit/>
          </a:bodyPr>
          <a:lstStyle/>
          <a:p>
            <a:pPr algn="l">
              <a:lnSpc>
                <a:spcPts val="1731"/>
              </a:lnSpc>
            </a:pPr>
            <a:r>
              <a:rPr lang="en-US" sz="1731" b="true">
                <a:solidFill>
                  <a:srgbClr val="FFFFFF"/>
                </a:solidFill>
                <a:latin typeface="HK Grotesk Medium"/>
                <a:ea typeface="HK Grotesk Medium"/>
                <a:cs typeface="HK Grotesk Medium"/>
                <a:sym typeface="HK Grotesk Medium"/>
              </a:rPr>
              <a:t>YOUR</a:t>
            </a:r>
          </a:p>
          <a:p>
            <a:pPr algn="l">
              <a:lnSpc>
                <a:spcPts val="1731"/>
              </a:lnSpc>
            </a:pPr>
            <a:r>
              <a:rPr lang="en-US" b="true" sz="1731">
                <a:solidFill>
                  <a:srgbClr val="FFFFFF"/>
                </a:solidFill>
                <a:latin typeface="HK Grotesk Medium"/>
                <a:ea typeface="HK Grotesk Medium"/>
                <a:cs typeface="HK Grotesk Medium"/>
                <a:sym typeface="HK Grotesk Medium"/>
              </a:rPr>
              <a:t>LOGO</a:t>
            </a:r>
          </a:p>
        </p:txBody>
      </p:sp>
      <p:sp>
        <p:nvSpPr>
          <p:cNvPr name="TextBox 4" id="4"/>
          <p:cNvSpPr txBox="true"/>
          <p:nvPr/>
        </p:nvSpPr>
        <p:spPr>
          <a:xfrm rot="0">
            <a:off x="877668" y="2609810"/>
            <a:ext cx="7611081" cy="6572218"/>
          </a:xfrm>
          <a:prstGeom prst="rect">
            <a:avLst/>
          </a:prstGeom>
        </p:spPr>
        <p:txBody>
          <a:bodyPr anchor="t" rtlCol="false" tIns="0" lIns="0" bIns="0" rIns="0">
            <a:spAutoFit/>
          </a:bodyPr>
          <a:lstStyle/>
          <a:p>
            <a:pPr algn="l">
              <a:lnSpc>
                <a:spcPts val="3297"/>
              </a:lnSpc>
            </a:pPr>
            <a:r>
              <a:rPr lang="en-US" sz="2997" b="true">
                <a:solidFill>
                  <a:srgbClr val="022948"/>
                </a:solidFill>
                <a:latin typeface="HK Grotesk Bold"/>
                <a:ea typeface="HK Grotesk Bold"/>
                <a:cs typeface="HK Grotesk Bold"/>
                <a:sym typeface="HK Grotesk Bold"/>
              </a:rPr>
              <a:t>Fixed requirements</a:t>
            </a:r>
          </a:p>
          <a:p>
            <a:pPr algn="l" marL="647156" indent="-323578" lvl="1">
              <a:lnSpc>
                <a:spcPts val="3297"/>
              </a:lnSpc>
              <a:buFont typeface="Arial"/>
              <a:buChar char="•"/>
            </a:pPr>
            <a:r>
              <a:rPr lang="en-US" sz="2997">
                <a:solidFill>
                  <a:srgbClr val="022948"/>
                </a:solidFill>
                <a:latin typeface="HK Grotesk"/>
                <a:ea typeface="HK Grotesk"/>
                <a:cs typeface="HK Grotesk"/>
                <a:sym typeface="HK Grotesk"/>
              </a:rPr>
              <a:t>Scope is fully defined before development starts and is unlikely to change throughout the project.</a:t>
            </a:r>
          </a:p>
          <a:p>
            <a:pPr algn="l">
              <a:lnSpc>
                <a:spcPts val="3297"/>
              </a:lnSpc>
            </a:pPr>
          </a:p>
          <a:p>
            <a:pPr algn="l">
              <a:lnSpc>
                <a:spcPts val="3297"/>
              </a:lnSpc>
            </a:pPr>
          </a:p>
          <a:p>
            <a:pPr algn="l">
              <a:lnSpc>
                <a:spcPts val="3297"/>
              </a:lnSpc>
            </a:pPr>
            <a:r>
              <a:rPr lang="en-US" sz="2997" b="true">
                <a:solidFill>
                  <a:srgbClr val="022948"/>
                </a:solidFill>
                <a:latin typeface="HK Grotesk Bold"/>
                <a:ea typeface="HK Grotesk Bold"/>
                <a:cs typeface="HK Grotesk Bold"/>
                <a:sym typeface="HK Grotesk Bold"/>
              </a:rPr>
              <a:t>Formal approvals &amp; compliance</a:t>
            </a:r>
          </a:p>
          <a:p>
            <a:pPr algn="l" marL="647156" indent="-323578" lvl="1">
              <a:lnSpc>
                <a:spcPts val="3297"/>
              </a:lnSpc>
              <a:buFont typeface="Arial"/>
              <a:buChar char="•"/>
            </a:pPr>
            <a:r>
              <a:rPr lang="en-US" sz="2997">
                <a:solidFill>
                  <a:srgbClr val="022948"/>
                </a:solidFill>
                <a:latin typeface="HK Grotesk"/>
                <a:ea typeface="HK Grotesk"/>
                <a:cs typeface="HK Grotesk"/>
                <a:sym typeface="HK Grotesk"/>
              </a:rPr>
              <a:t>Projects requiring audits or regulatory sign-offs at each phase before moving forward.</a:t>
            </a:r>
          </a:p>
          <a:p>
            <a:pPr algn="l">
              <a:lnSpc>
                <a:spcPts val="3297"/>
              </a:lnSpc>
            </a:pPr>
          </a:p>
          <a:p>
            <a:pPr algn="l">
              <a:lnSpc>
                <a:spcPts val="3297"/>
              </a:lnSpc>
            </a:pPr>
            <a:r>
              <a:rPr lang="en-US" sz="2997" b="true">
                <a:solidFill>
                  <a:srgbClr val="022948"/>
                </a:solidFill>
                <a:latin typeface="HK Grotesk Bold"/>
                <a:ea typeface="HK Grotesk Bold"/>
                <a:cs typeface="HK Grotesk Bold"/>
                <a:sym typeface="HK Grotesk Bold"/>
              </a:rPr>
              <a:t>Fixed budget &amp; timeline</a:t>
            </a:r>
          </a:p>
          <a:p>
            <a:pPr algn="l" marL="647156" indent="-323578" lvl="1">
              <a:lnSpc>
                <a:spcPts val="3297"/>
              </a:lnSpc>
              <a:buFont typeface="Arial"/>
              <a:buChar char="•"/>
            </a:pPr>
            <a:r>
              <a:rPr lang="en-US" sz="2997">
                <a:solidFill>
                  <a:srgbClr val="022948"/>
                </a:solidFill>
                <a:latin typeface="HK Grotesk"/>
                <a:ea typeface="HK Grotesk"/>
                <a:cs typeface="HK Grotesk"/>
                <a:sym typeface="HK Grotesk"/>
              </a:rPr>
              <a:t>When the client requires a locked budget and deadline with no room for scope changes.</a:t>
            </a:r>
          </a:p>
          <a:p>
            <a:pPr algn="l">
              <a:lnSpc>
                <a:spcPts val="3297"/>
              </a:lnSpc>
            </a:pPr>
          </a:p>
        </p:txBody>
      </p:sp>
      <p:sp>
        <p:nvSpPr>
          <p:cNvPr name="TextBox 5" id="5"/>
          <p:cNvSpPr txBox="true"/>
          <p:nvPr/>
        </p:nvSpPr>
        <p:spPr>
          <a:xfrm rot="0">
            <a:off x="877668" y="816341"/>
            <a:ext cx="16532664" cy="1254756"/>
          </a:xfrm>
          <a:prstGeom prst="rect">
            <a:avLst/>
          </a:prstGeom>
        </p:spPr>
        <p:txBody>
          <a:bodyPr anchor="t" rtlCol="false" tIns="0" lIns="0" bIns="0" rIns="0">
            <a:spAutoFit/>
          </a:bodyPr>
          <a:lstStyle/>
          <a:p>
            <a:pPr algn="ctr">
              <a:lnSpc>
                <a:spcPts val="9679"/>
              </a:lnSpc>
            </a:pPr>
            <a:r>
              <a:rPr lang="en-US" sz="8799">
                <a:solidFill>
                  <a:srgbClr val="1566A8"/>
                </a:solidFill>
                <a:latin typeface="Anton"/>
                <a:ea typeface="Anton"/>
                <a:cs typeface="Anton"/>
                <a:sym typeface="Anton"/>
              </a:rPr>
              <a:t>When to use Plan Driven?</a:t>
            </a:r>
          </a:p>
        </p:txBody>
      </p:sp>
      <p:sp>
        <p:nvSpPr>
          <p:cNvPr name="TextBox 6" id="6"/>
          <p:cNvSpPr txBox="true"/>
          <p:nvPr/>
        </p:nvSpPr>
        <p:spPr>
          <a:xfrm rot="0">
            <a:off x="9144000" y="2609810"/>
            <a:ext cx="7611081" cy="6572218"/>
          </a:xfrm>
          <a:prstGeom prst="rect">
            <a:avLst/>
          </a:prstGeom>
        </p:spPr>
        <p:txBody>
          <a:bodyPr anchor="t" rtlCol="false" tIns="0" lIns="0" bIns="0" rIns="0">
            <a:spAutoFit/>
          </a:bodyPr>
          <a:lstStyle/>
          <a:p>
            <a:pPr algn="l">
              <a:lnSpc>
                <a:spcPts val="3297"/>
              </a:lnSpc>
            </a:pPr>
            <a:r>
              <a:rPr lang="en-US" sz="2997" b="true">
                <a:solidFill>
                  <a:srgbClr val="022948"/>
                </a:solidFill>
                <a:latin typeface="HK Grotesk Bold"/>
                <a:ea typeface="HK Grotesk Bold"/>
                <a:cs typeface="HK Grotesk Bold"/>
                <a:sym typeface="HK Grotesk Bold"/>
              </a:rPr>
              <a:t>High-stakes industries</a:t>
            </a:r>
          </a:p>
          <a:p>
            <a:pPr algn="l" marL="647156" indent="-323578" lvl="1">
              <a:lnSpc>
                <a:spcPts val="3297"/>
              </a:lnSpc>
              <a:buFont typeface="Arial"/>
              <a:buChar char="•"/>
            </a:pPr>
            <a:r>
              <a:rPr lang="en-US" sz="2997">
                <a:solidFill>
                  <a:srgbClr val="022948"/>
                </a:solidFill>
                <a:latin typeface="HK Grotesk"/>
                <a:ea typeface="HK Grotesk"/>
                <a:cs typeface="HK Grotesk"/>
                <a:sym typeface="HK Grotesk"/>
              </a:rPr>
              <a:t>Defense, aerospace, and healthcare demand strict documentation where errors carry serious legal or safety consequences.</a:t>
            </a:r>
          </a:p>
          <a:p>
            <a:pPr algn="l">
              <a:lnSpc>
                <a:spcPts val="3297"/>
              </a:lnSpc>
            </a:pPr>
          </a:p>
          <a:p>
            <a:pPr algn="l">
              <a:lnSpc>
                <a:spcPts val="3297"/>
              </a:lnSpc>
            </a:pPr>
            <a:r>
              <a:rPr lang="en-US" sz="2997" b="true">
                <a:solidFill>
                  <a:srgbClr val="022948"/>
                </a:solidFill>
                <a:latin typeface="HK Grotesk Bold"/>
                <a:ea typeface="HK Grotesk Bold"/>
                <a:cs typeface="HK Grotesk Bold"/>
                <a:sym typeface="HK Grotesk Bold"/>
              </a:rPr>
              <a:t>Large, distributed teams</a:t>
            </a:r>
          </a:p>
          <a:p>
            <a:pPr algn="l" marL="647156" indent="-323578" lvl="1">
              <a:lnSpc>
                <a:spcPts val="3297"/>
              </a:lnSpc>
              <a:buFont typeface="Arial"/>
              <a:buChar char="•"/>
            </a:pPr>
            <a:r>
              <a:rPr lang="en-US" sz="2997">
                <a:solidFill>
                  <a:srgbClr val="022948"/>
                </a:solidFill>
                <a:latin typeface="HK Grotesk"/>
                <a:ea typeface="HK Grotesk"/>
                <a:cs typeface="HK Grotesk"/>
                <a:sym typeface="HK Grotesk"/>
              </a:rPr>
              <a:t>A shared upfront plan keeps multiple teams and vendors aligned across a long timeline.</a:t>
            </a:r>
          </a:p>
          <a:p>
            <a:pPr algn="l">
              <a:lnSpc>
                <a:spcPts val="3297"/>
              </a:lnSpc>
            </a:pPr>
          </a:p>
          <a:p>
            <a:pPr algn="l">
              <a:lnSpc>
                <a:spcPts val="3297"/>
              </a:lnSpc>
            </a:pPr>
            <a:r>
              <a:rPr lang="en-US" sz="2997" b="true">
                <a:solidFill>
                  <a:srgbClr val="022948"/>
                </a:solidFill>
                <a:latin typeface="HK Grotesk Bold"/>
                <a:ea typeface="HK Grotesk Bold"/>
                <a:cs typeface="HK Grotesk Bold"/>
                <a:sym typeface="HK Grotesk Bold"/>
              </a:rPr>
              <a:t>Well-understood technology</a:t>
            </a:r>
          </a:p>
          <a:p>
            <a:pPr algn="l" marL="647156" indent="-323578" lvl="1">
              <a:lnSpc>
                <a:spcPts val="3297"/>
              </a:lnSpc>
              <a:buFont typeface="Arial"/>
              <a:buChar char="•"/>
            </a:pPr>
            <a:r>
              <a:rPr lang="en-US" sz="2997">
                <a:solidFill>
                  <a:srgbClr val="022948"/>
                </a:solidFill>
                <a:latin typeface="HK Grotesk"/>
                <a:ea typeface="HK Grotesk"/>
                <a:cs typeface="HK Grotesk"/>
                <a:sym typeface="HK Grotesk"/>
              </a:rPr>
              <a:t>Familiar tools and architecture mean less uncertainty — making a sequential approach more efficient.</a:t>
            </a:r>
          </a:p>
          <a:p>
            <a:pPr algn="l">
              <a:lnSpc>
                <a:spcPts val="3297"/>
              </a:lnSpc>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176614" y="806117"/>
            <a:ext cx="392848" cy="97855"/>
          </a:xfrm>
          <a:custGeom>
            <a:avLst/>
            <a:gdLst/>
            <a:ahLst/>
            <a:cxnLst/>
            <a:rect r="r" b="b" t="t" l="l"/>
            <a:pathLst>
              <a:path h="97855" w="392848">
                <a:moveTo>
                  <a:pt x="0" y="0"/>
                </a:moveTo>
                <a:lnTo>
                  <a:pt x="392848" y="0"/>
                </a:lnTo>
                <a:lnTo>
                  <a:pt x="392848" y="97855"/>
                </a:lnTo>
                <a:lnTo>
                  <a:pt x="0" y="978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1759558" y="834692"/>
            <a:ext cx="848550" cy="453402"/>
          </a:xfrm>
          <a:prstGeom prst="rect">
            <a:avLst/>
          </a:prstGeom>
        </p:spPr>
        <p:txBody>
          <a:bodyPr anchor="t" rtlCol="false" tIns="0" lIns="0" bIns="0" rIns="0">
            <a:spAutoFit/>
          </a:bodyPr>
          <a:lstStyle/>
          <a:p>
            <a:pPr algn="l">
              <a:lnSpc>
                <a:spcPts val="1731"/>
              </a:lnSpc>
            </a:pPr>
            <a:r>
              <a:rPr lang="en-US" sz="1731" b="true">
                <a:solidFill>
                  <a:srgbClr val="FFFFFF"/>
                </a:solidFill>
                <a:latin typeface="HK Grotesk Medium"/>
                <a:ea typeface="HK Grotesk Medium"/>
                <a:cs typeface="HK Grotesk Medium"/>
                <a:sym typeface="HK Grotesk Medium"/>
              </a:rPr>
              <a:t>YOUR</a:t>
            </a:r>
          </a:p>
          <a:p>
            <a:pPr algn="l">
              <a:lnSpc>
                <a:spcPts val="1731"/>
              </a:lnSpc>
            </a:pPr>
            <a:r>
              <a:rPr lang="en-US" b="true" sz="1731">
                <a:solidFill>
                  <a:srgbClr val="FFFFFF"/>
                </a:solidFill>
                <a:latin typeface="HK Grotesk Medium"/>
                <a:ea typeface="HK Grotesk Medium"/>
                <a:cs typeface="HK Grotesk Medium"/>
                <a:sym typeface="HK Grotesk Medium"/>
              </a:rPr>
              <a:t>LOGO</a:t>
            </a:r>
          </a:p>
        </p:txBody>
      </p:sp>
      <p:sp>
        <p:nvSpPr>
          <p:cNvPr name="TextBox 4" id="4"/>
          <p:cNvSpPr txBox="true"/>
          <p:nvPr/>
        </p:nvSpPr>
        <p:spPr>
          <a:xfrm rot="0">
            <a:off x="877668" y="2814597"/>
            <a:ext cx="7611081" cy="6162643"/>
          </a:xfrm>
          <a:prstGeom prst="rect">
            <a:avLst/>
          </a:prstGeom>
        </p:spPr>
        <p:txBody>
          <a:bodyPr anchor="t" rtlCol="false" tIns="0" lIns="0" bIns="0" rIns="0">
            <a:spAutoFit/>
          </a:bodyPr>
          <a:lstStyle/>
          <a:p>
            <a:pPr algn="l">
              <a:lnSpc>
                <a:spcPts val="3297"/>
              </a:lnSpc>
            </a:pPr>
            <a:r>
              <a:rPr lang="en-US" sz="2997" b="true">
                <a:solidFill>
                  <a:srgbClr val="022948"/>
                </a:solidFill>
                <a:latin typeface="HK Grotesk Bold"/>
                <a:ea typeface="HK Grotesk Bold"/>
                <a:cs typeface="HK Grotesk Bold"/>
                <a:sym typeface="HK Grotesk Bold"/>
              </a:rPr>
              <a:t>Evolving requirements</a:t>
            </a:r>
          </a:p>
          <a:p>
            <a:pPr algn="l" marL="647156" indent="-323578" lvl="1">
              <a:lnSpc>
                <a:spcPts val="3297"/>
              </a:lnSpc>
              <a:buFont typeface="Arial"/>
              <a:buChar char="•"/>
            </a:pPr>
            <a:r>
              <a:rPr lang="en-US" sz="2997">
                <a:solidFill>
                  <a:srgbClr val="022948"/>
                </a:solidFill>
                <a:latin typeface="HK Grotesk"/>
                <a:ea typeface="HK Grotesk"/>
                <a:cs typeface="HK Grotesk"/>
                <a:sym typeface="HK Grotesk"/>
              </a:rPr>
              <a:t>Scope isn't fully clear at the start — features are refined and reprioritized each sprint based on new learnings.</a:t>
            </a:r>
          </a:p>
          <a:p>
            <a:pPr algn="l">
              <a:lnSpc>
                <a:spcPts val="3297"/>
              </a:lnSpc>
            </a:pPr>
          </a:p>
          <a:p>
            <a:pPr algn="l">
              <a:lnSpc>
                <a:spcPts val="3297"/>
              </a:lnSpc>
            </a:pPr>
            <a:r>
              <a:rPr lang="en-US" sz="2997" b="true">
                <a:solidFill>
                  <a:srgbClr val="022948"/>
                </a:solidFill>
                <a:latin typeface="HK Grotesk Bold"/>
                <a:ea typeface="HK Grotesk Bold"/>
                <a:cs typeface="HK Grotesk Bold"/>
                <a:sym typeface="HK Grotesk Bold"/>
              </a:rPr>
              <a:t>Speed to market</a:t>
            </a:r>
          </a:p>
          <a:p>
            <a:pPr algn="l" marL="647156" indent="-323578" lvl="1">
              <a:lnSpc>
                <a:spcPts val="3297"/>
              </a:lnSpc>
              <a:buFont typeface="Arial"/>
              <a:buChar char="•"/>
            </a:pPr>
            <a:r>
              <a:rPr lang="en-US" sz="2997">
                <a:solidFill>
                  <a:srgbClr val="022948"/>
                </a:solidFill>
                <a:latin typeface="HK Grotesk"/>
                <a:ea typeface="HK Grotesk"/>
                <a:cs typeface="HK Grotesk"/>
                <a:sym typeface="HK Grotesk"/>
              </a:rPr>
              <a:t>Working increments are delivered each sprint rather than waiting for full completion — reducing time-to-value.</a:t>
            </a:r>
          </a:p>
          <a:p>
            <a:pPr algn="l">
              <a:lnSpc>
                <a:spcPts val="3297"/>
              </a:lnSpc>
            </a:pPr>
          </a:p>
          <a:p>
            <a:pPr algn="l">
              <a:lnSpc>
                <a:spcPts val="3297"/>
              </a:lnSpc>
            </a:pPr>
            <a:r>
              <a:rPr lang="en-US" sz="2997" b="true">
                <a:solidFill>
                  <a:srgbClr val="022948"/>
                </a:solidFill>
                <a:latin typeface="HK Grotesk Bold"/>
                <a:ea typeface="HK Grotesk Bold"/>
                <a:cs typeface="HK Grotesk Bold"/>
                <a:sym typeface="HK Grotesk Bold"/>
              </a:rPr>
              <a:t>High-change environments</a:t>
            </a:r>
          </a:p>
          <a:p>
            <a:pPr algn="l" marL="647156" indent="-323578" lvl="1">
              <a:lnSpc>
                <a:spcPts val="3297"/>
              </a:lnSpc>
              <a:buFont typeface="Arial"/>
              <a:buChar char="•"/>
            </a:pPr>
            <a:r>
              <a:rPr lang="en-US" sz="2997">
                <a:solidFill>
                  <a:srgbClr val="022948"/>
                </a:solidFill>
                <a:latin typeface="HK Grotesk"/>
                <a:ea typeface="HK Grotesk"/>
                <a:cs typeface="HK Grotesk"/>
                <a:sym typeface="HK Grotesk"/>
              </a:rPr>
              <a:t>Fast-moving industries where market conditions shift rapidly — teams can pivot without restarting the whole plan.</a:t>
            </a:r>
          </a:p>
          <a:p>
            <a:pPr algn="l">
              <a:lnSpc>
                <a:spcPts val="3297"/>
              </a:lnSpc>
            </a:pPr>
          </a:p>
        </p:txBody>
      </p:sp>
      <p:sp>
        <p:nvSpPr>
          <p:cNvPr name="TextBox 5" id="5"/>
          <p:cNvSpPr txBox="true"/>
          <p:nvPr/>
        </p:nvSpPr>
        <p:spPr>
          <a:xfrm rot="0">
            <a:off x="877668" y="816341"/>
            <a:ext cx="16532664" cy="1254756"/>
          </a:xfrm>
          <a:prstGeom prst="rect">
            <a:avLst/>
          </a:prstGeom>
        </p:spPr>
        <p:txBody>
          <a:bodyPr anchor="t" rtlCol="false" tIns="0" lIns="0" bIns="0" rIns="0">
            <a:spAutoFit/>
          </a:bodyPr>
          <a:lstStyle/>
          <a:p>
            <a:pPr algn="ctr">
              <a:lnSpc>
                <a:spcPts val="9679"/>
              </a:lnSpc>
            </a:pPr>
            <a:r>
              <a:rPr lang="en-US" sz="8799">
                <a:solidFill>
                  <a:srgbClr val="1566A8"/>
                </a:solidFill>
                <a:latin typeface="Anton"/>
                <a:ea typeface="Anton"/>
                <a:cs typeface="Anton"/>
                <a:sym typeface="Anton"/>
              </a:rPr>
              <a:t>When to use Agile?</a:t>
            </a:r>
          </a:p>
        </p:txBody>
      </p:sp>
      <p:sp>
        <p:nvSpPr>
          <p:cNvPr name="TextBox 6" id="6"/>
          <p:cNvSpPr txBox="true"/>
          <p:nvPr/>
        </p:nvSpPr>
        <p:spPr>
          <a:xfrm rot="0">
            <a:off x="9144000" y="2814597"/>
            <a:ext cx="7611081" cy="6162643"/>
          </a:xfrm>
          <a:prstGeom prst="rect">
            <a:avLst/>
          </a:prstGeom>
        </p:spPr>
        <p:txBody>
          <a:bodyPr anchor="t" rtlCol="false" tIns="0" lIns="0" bIns="0" rIns="0">
            <a:spAutoFit/>
          </a:bodyPr>
          <a:lstStyle/>
          <a:p>
            <a:pPr algn="l">
              <a:lnSpc>
                <a:spcPts val="3297"/>
              </a:lnSpc>
            </a:pPr>
            <a:r>
              <a:rPr lang="en-US" sz="2997">
                <a:solidFill>
                  <a:srgbClr val="022948"/>
                </a:solidFill>
                <a:latin typeface="HK Grotesk"/>
                <a:ea typeface="HK Grotesk"/>
                <a:cs typeface="HK Grotesk"/>
                <a:sym typeface="HK Grotesk"/>
              </a:rPr>
              <a:t> </a:t>
            </a:r>
            <a:r>
              <a:rPr lang="en-US" sz="2997" b="true">
                <a:solidFill>
                  <a:srgbClr val="022948"/>
                </a:solidFill>
                <a:latin typeface="HK Grotesk Bold"/>
                <a:ea typeface="HK Grotesk Bold"/>
                <a:cs typeface="HK Grotesk Bold"/>
                <a:sym typeface="HK Grotesk Bold"/>
              </a:rPr>
              <a:t>Ac</a:t>
            </a:r>
            <a:r>
              <a:rPr lang="en-US" sz="2997" b="true">
                <a:solidFill>
                  <a:srgbClr val="022948"/>
                </a:solidFill>
                <a:latin typeface="HK Grotesk Bold"/>
                <a:ea typeface="HK Grotesk Bold"/>
                <a:cs typeface="HK Grotesk Bold"/>
                <a:sym typeface="HK Grotesk Bold"/>
              </a:rPr>
              <a:t>tive client involvement</a:t>
            </a:r>
          </a:p>
          <a:p>
            <a:pPr algn="l" marL="647156" indent="-323578" lvl="1">
              <a:lnSpc>
                <a:spcPts val="3297"/>
              </a:lnSpc>
              <a:buFont typeface="Arial"/>
              <a:buChar char="•"/>
            </a:pPr>
            <a:r>
              <a:rPr lang="en-US" sz="2997">
                <a:solidFill>
                  <a:srgbClr val="022948"/>
                </a:solidFill>
                <a:latin typeface="HK Grotesk"/>
                <a:ea typeface="HK Grotesk"/>
                <a:cs typeface="HK Grotesk"/>
                <a:sym typeface="HK Grotesk"/>
              </a:rPr>
              <a:t>Stakeholders review progress each sprint, keeping the product aligned with real user needs through continuous feedback.</a:t>
            </a:r>
          </a:p>
          <a:p>
            <a:pPr algn="l">
              <a:lnSpc>
                <a:spcPts val="3297"/>
              </a:lnSpc>
            </a:pPr>
          </a:p>
          <a:p>
            <a:pPr algn="l">
              <a:lnSpc>
                <a:spcPts val="3297"/>
              </a:lnSpc>
            </a:pPr>
            <a:r>
              <a:rPr lang="en-US" sz="2997" b="true">
                <a:solidFill>
                  <a:srgbClr val="022948"/>
                </a:solidFill>
                <a:latin typeface="HK Grotesk Bold"/>
                <a:ea typeface="HK Grotesk Bold"/>
                <a:cs typeface="HK Grotesk Bold"/>
                <a:sym typeface="HK Grotesk Bold"/>
              </a:rPr>
              <a:t>Small, cross-functional teams</a:t>
            </a:r>
          </a:p>
          <a:p>
            <a:pPr algn="l" marL="647156" indent="-323578" lvl="1">
              <a:lnSpc>
                <a:spcPts val="3297"/>
              </a:lnSpc>
              <a:buFont typeface="Arial"/>
              <a:buChar char="•"/>
            </a:pPr>
            <a:r>
              <a:rPr lang="en-US" sz="2997">
                <a:solidFill>
                  <a:srgbClr val="022948"/>
                </a:solidFill>
                <a:latin typeface="HK Grotesk"/>
                <a:ea typeface="HK Grotesk"/>
                <a:cs typeface="HK Grotesk"/>
                <a:sym typeface="HK Grotesk"/>
              </a:rPr>
              <a:t>Compact, self-organizing teams that collaborate closely and adapt quickly without waiting for top-down approval.</a:t>
            </a:r>
          </a:p>
          <a:p>
            <a:pPr algn="l">
              <a:lnSpc>
                <a:spcPts val="3297"/>
              </a:lnSpc>
            </a:pPr>
          </a:p>
          <a:p>
            <a:pPr algn="l">
              <a:lnSpc>
                <a:spcPts val="3297"/>
              </a:lnSpc>
            </a:pPr>
            <a:r>
              <a:rPr lang="en-US" sz="2997" b="true">
                <a:solidFill>
                  <a:srgbClr val="022948"/>
                </a:solidFill>
                <a:latin typeface="HK Grotesk Bold"/>
                <a:ea typeface="HK Grotesk Bold"/>
                <a:cs typeface="HK Grotesk Bold"/>
                <a:sym typeface="HK Grotesk Bold"/>
              </a:rPr>
              <a:t>Innovation &amp; experimentation</a:t>
            </a:r>
          </a:p>
          <a:p>
            <a:pPr algn="l" marL="647156" indent="-323578" lvl="1">
              <a:lnSpc>
                <a:spcPts val="3297"/>
              </a:lnSpc>
              <a:buFont typeface="Arial"/>
              <a:buChar char="•"/>
            </a:pPr>
            <a:r>
              <a:rPr lang="en-US" sz="2997">
                <a:solidFill>
                  <a:srgbClr val="022948"/>
                </a:solidFill>
                <a:latin typeface="HK Grotesk"/>
                <a:ea typeface="HK Grotesk"/>
                <a:cs typeface="HK Grotesk"/>
                <a:sym typeface="HK Grotesk"/>
              </a:rPr>
              <a:t>When ideas need to be tested and improved iteratively using a build-measure-learn approach.</a:t>
            </a:r>
          </a:p>
          <a:p>
            <a:pPr algn="l">
              <a:lnSpc>
                <a:spcPts val="3297"/>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176614" y="806117"/>
            <a:ext cx="392848" cy="97855"/>
          </a:xfrm>
          <a:custGeom>
            <a:avLst/>
            <a:gdLst/>
            <a:ahLst/>
            <a:cxnLst/>
            <a:rect r="r" b="b" t="t" l="l"/>
            <a:pathLst>
              <a:path h="97855" w="392848">
                <a:moveTo>
                  <a:pt x="0" y="0"/>
                </a:moveTo>
                <a:lnTo>
                  <a:pt x="392848" y="0"/>
                </a:lnTo>
                <a:lnTo>
                  <a:pt x="392848" y="97855"/>
                </a:lnTo>
                <a:lnTo>
                  <a:pt x="0" y="978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aphicFrame>
        <p:nvGraphicFramePr>
          <p:cNvPr name="Table 3" id="3"/>
          <p:cNvGraphicFramePr>
            <a:graphicFrameLocks noGrp="true"/>
          </p:cNvGraphicFramePr>
          <p:nvPr/>
        </p:nvGraphicFramePr>
        <p:xfrm>
          <a:off x="2298462" y="2378654"/>
          <a:ext cx="13691076" cy="4879640"/>
        </p:xfrm>
        <a:graphic>
          <a:graphicData uri="http://schemas.openxmlformats.org/drawingml/2006/table">
            <a:tbl>
              <a:tblPr/>
              <a:tblGrid>
                <a:gridCol w="6842503"/>
                <a:gridCol w="6848573"/>
              </a:tblGrid>
              <a:tr h="860627">
                <a:tc>
                  <a:txBody>
                    <a:bodyPr anchor="t" rtlCol="false"/>
                    <a:lstStyle/>
                    <a:p>
                      <a:pPr algn="ctr">
                        <a:lnSpc>
                          <a:spcPts val="3499"/>
                        </a:lnSpc>
                        <a:defRPr/>
                      </a:pPr>
                      <a:r>
                        <a:rPr lang="en-US" sz="2499" b="true">
                          <a:solidFill>
                            <a:srgbClr val="000000"/>
                          </a:solidFill>
                          <a:latin typeface="HK Grotesk Bold"/>
                          <a:ea typeface="HK Grotesk Bold"/>
                          <a:cs typeface="HK Grotesk Bold"/>
                          <a:sym typeface="HK Grotesk Bold"/>
                        </a:rPr>
                        <a:t>Plan Driven</a:t>
                      </a:r>
                      <a:endParaRPr lang="en-US" sz="1100"/>
                    </a:p>
                  </a:txBody>
                  <a:tcPr marL="104775" marR="104775" marT="104775" marB="10477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CDD6FF"/>
                    </a:solidFill>
                  </a:tcPr>
                </a:tc>
                <a:tc>
                  <a:txBody>
                    <a:bodyPr anchor="t" rtlCol="false"/>
                    <a:lstStyle/>
                    <a:p>
                      <a:pPr algn="ctr">
                        <a:lnSpc>
                          <a:spcPts val="3499"/>
                        </a:lnSpc>
                        <a:defRPr/>
                      </a:pPr>
                      <a:r>
                        <a:rPr lang="en-US" sz="2499" b="true">
                          <a:solidFill>
                            <a:srgbClr val="000000"/>
                          </a:solidFill>
                          <a:latin typeface="HK Grotesk Bold"/>
                          <a:ea typeface="HK Grotesk Bold"/>
                          <a:cs typeface="HK Grotesk Bold"/>
                          <a:sym typeface="HK Grotesk Bold"/>
                        </a:rPr>
                        <a:t>Agile</a:t>
                      </a:r>
                      <a:endParaRPr lang="en-US" sz="1100"/>
                    </a:p>
                  </a:txBody>
                  <a:tcPr marL="104775" marR="104775" marT="104775" marB="10477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CDD6FF"/>
                    </a:solidFill>
                  </a:tcPr>
                </a:tc>
              </a:tr>
              <a:tr h="758397">
                <a:tc>
                  <a:txBody>
                    <a:bodyPr anchor="t" rtlCol="false"/>
                    <a:lstStyle/>
                    <a:p>
                      <a:pPr algn="ctr">
                        <a:lnSpc>
                          <a:spcPts val="3499"/>
                        </a:lnSpc>
                        <a:defRPr/>
                      </a:pPr>
                      <a:r>
                        <a:rPr lang="en-US" sz="2499">
                          <a:solidFill>
                            <a:srgbClr val="000000"/>
                          </a:solidFill>
                          <a:latin typeface="HK Grotesk"/>
                          <a:ea typeface="HK Grotesk"/>
                          <a:cs typeface="HK Grotesk"/>
                          <a:sym typeface="HK Grotesk"/>
                        </a:rPr>
                        <a:t>Risks identified and planned before work begins</a:t>
                      </a:r>
                      <a:endParaRPr lang="en-US" sz="1100"/>
                    </a:p>
                  </a:txBody>
                  <a:tcPr marL="104775" marR="104775" marT="104775" marB="10477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HK Grotesk"/>
                          <a:ea typeface="HK Grotesk"/>
                          <a:cs typeface="HK Grotesk"/>
                          <a:sym typeface="HK Grotesk"/>
                        </a:rPr>
                        <a:t>Risk detection happens throughout every sprint</a:t>
                      </a:r>
                      <a:endParaRPr lang="en-US" sz="1100"/>
                    </a:p>
                  </a:txBody>
                  <a:tcPr marL="104775" marR="104775" marT="104775" marB="10477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860627">
                <a:tc>
                  <a:txBody>
                    <a:bodyPr anchor="t" rtlCol="false"/>
                    <a:lstStyle/>
                    <a:p>
                      <a:pPr algn="ctr">
                        <a:lnSpc>
                          <a:spcPts val="3499"/>
                        </a:lnSpc>
                        <a:defRPr/>
                      </a:pPr>
                      <a:r>
                        <a:rPr lang="en-US" sz="2499">
                          <a:solidFill>
                            <a:srgbClr val="000000"/>
                          </a:solidFill>
                          <a:latin typeface="HK Grotesk"/>
                          <a:ea typeface="HK Grotesk"/>
                          <a:cs typeface="HK Grotesk"/>
                          <a:sym typeface="HK Grotesk"/>
                        </a:rPr>
                        <a:t>Formal risk registers, documented approvals</a:t>
                      </a:r>
                      <a:endParaRPr lang="en-US" sz="1100"/>
                    </a:p>
                  </a:txBody>
                  <a:tcPr marL="104775" marR="104775" marT="104775" marB="10477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HK Grotesk"/>
                          <a:ea typeface="HK Grotesk"/>
                          <a:cs typeface="HK Grotesk"/>
                          <a:sym typeface="HK Grotesk"/>
                        </a:rPr>
                        <a:t>Daily standups surface unknown risks early</a:t>
                      </a:r>
                      <a:endParaRPr lang="en-US" sz="1100"/>
                    </a:p>
                  </a:txBody>
                  <a:tcPr marL="104775" marR="104775" marT="104775" marB="10477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1199995">
                <a:tc>
                  <a:txBody>
                    <a:bodyPr anchor="t" rtlCol="false"/>
                    <a:lstStyle/>
                    <a:p>
                      <a:pPr algn="ctr">
                        <a:lnSpc>
                          <a:spcPts val="3499"/>
                        </a:lnSpc>
                        <a:defRPr/>
                      </a:pPr>
                      <a:r>
                        <a:rPr lang="en-US" sz="2499">
                          <a:solidFill>
                            <a:srgbClr val="000000"/>
                          </a:solidFill>
                          <a:latin typeface="HK Grotesk"/>
                          <a:ea typeface="HK Grotesk"/>
                          <a:cs typeface="HK Grotesk"/>
                          <a:sym typeface="HK Grotesk"/>
                        </a:rPr>
                        <a:t>Re-planning is costly if new risks emerge mid-project</a:t>
                      </a:r>
                      <a:endParaRPr lang="en-US" sz="1100"/>
                    </a:p>
                  </a:txBody>
                  <a:tcPr marL="104775" marR="104775" marT="104775" marB="10477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HK Grotesk"/>
                          <a:ea typeface="HK Grotesk"/>
                          <a:cs typeface="HK Grotesk"/>
                          <a:sym typeface="HK Grotesk"/>
                        </a:rPr>
                        <a:t>Lightweight controls: automated tests, CI/CD, frequent reviews</a:t>
                      </a:r>
                      <a:endParaRPr lang="en-US" sz="1100"/>
                    </a:p>
                  </a:txBody>
                  <a:tcPr marL="104775" marR="104775" marT="104775" marB="10477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1199995">
                <a:tc>
                  <a:txBody>
                    <a:bodyPr anchor="t" rtlCol="false"/>
                    <a:lstStyle/>
                    <a:p>
                      <a:pPr algn="ctr">
                        <a:lnSpc>
                          <a:spcPts val="3499"/>
                        </a:lnSpc>
                        <a:defRPr/>
                      </a:pPr>
                      <a:r>
                        <a:rPr lang="en-US" sz="2499">
                          <a:solidFill>
                            <a:srgbClr val="000000"/>
                          </a:solidFill>
                          <a:latin typeface="HK Grotesk"/>
                          <a:ea typeface="HK Grotesk"/>
                          <a:cs typeface="HK Grotesk"/>
                          <a:sym typeface="HK Grotesk"/>
                        </a:rPr>
                        <a:t>Best when risks are known and predictable upfront</a:t>
                      </a:r>
                      <a:endParaRPr lang="en-US" sz="1100"/>
                    </a:p>
                  </a:txBody>
                  <a:tcPr marL="104775" marR="104775" marT="104775" marB="10477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HK Grotesk"/>
                          <a:ea typeface="HK Grotesk"/>
                          <a:cs typeface="HK Grotesk"/>
                          <a:sym typeface="HK Grotesk"/>
                        </a:rPr>
                        <a:t>Best when uncertainty is high and risks evolve</a:t>
                      </a:r>
                      <a:endParaRPr lang="en-US" sz="1100"/>
                    </a:p>
                  </a:txBody>
                  <a:tcPr marL="104775" marR="104775" marT="104775" marB="10477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bl>
          </a:graphicData>
        </a:graphic>
      </p:graphicFrame>
      <p:sp>
        <p:nvSpPr>
          <p:cNvPr name="TextBox 4" id="4"/>
          <p:cNvSpPr txBox="true"/>
          <p:nvPr/>
        </p:nvSpPr>
        <p:spPr>
          <a:xfrm rot="0">
            <a:off x="1759558" y="834692"/>
            <a:ext cx="848550" cy="453402"/>
          </a:xfrm>
          <a:prstGeom prst="rect">
            <a:avLst/>
          </a:prstGeom>
        </p:spPr>
        <p:txBody>
          <a:bodyPr anchor="t" rtlCol="false" tIns="0" lIns="0" bIns="0" rIns="0">
            <a:spAutoFit/>
          </a:bodyPr>
          <a:lstStyle/>
          <a:p>
            <a:pPr algn="l">
              <a:lnSpc>
                <a:spcPts val="1731"/>
              </a:lnSpc>
            </a:pPr>
            <a:r>
              <a:rPr lang="en-US" sz="1731" b="true">
                <a:solidFill>
                  <a:srgbClr val="FFFFFF"/>
                </a:solidFill>
                <a:latin typeface="HK Grotesk Medium"/>
                <a:ea typeface="HK Grotesk Medium"/>
                <a:cs typeface="HK Grotesk Medium"/>
                <a:sym typeface="HK Grotesk Medium"/>
              </a:rPr>
              <a:t>YOUR</a:t>
            </a:r>
          </a:p>
          <a:p>
            <a:pPr algn="l">
              <a:lnSpc>
                <a:spcPts val="1731"/>
              </a:lnSpc>
            </a:pPr>
            <a:r>
              <a:rPr lang="en-US" b="true" sz="1731">
                <a:solidFill>
                  <a:srgbClr val="FFFFFF"/>
                </a:solidFill>
                <a:latin typeface="HK Grotesk Medium"/>
                <a:ea typeface="HK Grotesk Medium"/>
                <a:cs typeface="HK Grotesk Medium"/>
                <a:sym typeface="HK Grotesk Medium"/>
              </a:rPr>
              <a:t>LOGO</a:t>
            </a:r>
          </a:p>
        </p:txBody>
      </p:sp>
      <p:sp>
        <p:nvSpPr>
          <p:cNvPr name="TextBox 5" id="5"/>
          <p:cNvSpPr txBox="true"/>
          <p:nvPr/>
        </p:nvSpPr>
        <p:spPr>
          <a:xfrm rot="0">
            <a:off x="877668" y="783269"/>
            <a:ext cx="16532664" cy="1076325"/>
          </a:xfrm>
          <a:prstGeom prst="rect">
            <a:avLst/>
          </a:prstGeom>
        </p:spPr>
        <p:txBody>
          <a:bodyPr anchor="t" rtlCol="false" tIns="0" lIns="0" bIns="0" rIns="0">
            <a:spAutoFit/>
          </a:bodyPr>
          <a:lstStyle/>
          <a:p>
            <a:pPr algn="ctr">
              <a:lnSpc>
                <a:spcPts val="8250"/>
              </a:lnSpc>
            </a:pPr>
            <a:r>
              <a:rPr lang="en-US" sz="7500">
                <a:solidFill>
                  <a:srgbClr val="1566A8"/>
                </a:solidFill>
                <a:latin typeface="Anton"/>
                <a:ea typeface="Anton"/>
                <a:cs typeface="Anton"/>
                <a:sym typeface="Anton"/>
              </a:rPr>
              <a:t>Risk Management: Plan-Driven vs Agile</a:t>
            </a:r>
          </a:p>
        </p:txBody>
      </p:sp>
    </p:spTree>
  </p:cSld>
  <p:clrMapOvr>
    <a:masterClrMapping/>
  </p:clrMapOvr>
</p:sld>
</file>

<file path=ppt/slides/slide1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028700" y="5075548"/>
            <a:ext cx="16230600" cy="3469249"/>
            <a:chOff x="0" y="0"/>
            <a:chExt cx="45520398" cy="9729867"/>
          </a:xfrm>
        </p:grpSpPr>
        <p:sp>
          <p:nvSpPr>
            <p:cNvPr name="Freeform 3" id="3"/>
            <p:cNvSpPr/>
            <p:nvPr/>
          </p:nvSpPr>
          <p:spPr>
            <a:xfrm flipH="false" flipV="false" rot="0">
              <a:off x="0" y="0"/>
              <a:ext cx="45520397" cy="9729867"/>
            </a:xfrm>
            <a:custGeom>
              <a:avLst/>
              <a:gdLst/>
              <a:ahLst/>
              <a:cxnLst/>
              <a:rect r="r" b="b" t="t" l="l"/>
              <a:pathLst>
                <a:path h="9729867" w="45520397">
                  <a:moveTo>
                    <a:pt x="45395939" y="59690"/>
                  </a:moveTo>
                  <a:cubicBezTo>
                    <a:pt x="45431497" y="59690"/>
                    <a:pt x="45460707" y="88900"/>
                    <a:pt x="45460707" y="124460"/>
                  </a:cubicBezTo>
                  <a:lnTo>
                    <a:pt x="45460707" y="9605407"/>
                  </a:lnTo>
                  <a:cubicBezTo>
                    <a:pt x="45460707" y="9640967"/>
                    <a:pt x="45431497" y="9670177"/>
                    <a:pt x="45395939" y="9670177"/>
                  </a:cubicBezTo>
                  <a:lnTo>
                    <a:pt x="124460" y="9670177"/>
                  </a:lnTo>
                  <a:cubicBezTo>
                    <a:pt x="88900" y="9670177"/>
                    <a:pt x="59690" y="9640967"/>
                    <a:pt x="59690" y="9605407"/>
                  </a:cubicBezTo>
                  <a:lnTo>
                    <a:pt x="59690" y="124460"/>
                  </a:lnTo>
                  <a:cubicBezTo>
                    <a:pt x="59690" y="88900"/>
                    <a:pt x="88900" y="59690"/>
                    <a:pt x="124460" y="59690"/>
                  </a:cubicBezTo>
                  <a:lnTo>
                    <a:pt x="45395939" y="59690"/>
                  </a:lnTo>
                  <a:moveTo>
                    <a:pt x="45395939" y="0"/>
                  </a:moveTo>
                  <a:lnTo>
                    <a:pt x="124460" y="0"/>
                  </a:lnTo>
                  <a:cubicBezTo>
                    <a:pt x="55880" y="0"/>
                    <a:pt x="0" y="55880"/>
                    <a:pt x="0" y="124460"/>
                  </a:cubicBezTo>
                  <a:lnTo>
                    <a:pt x="0" y="9605407"/>
                  </a:lnTo>
                  <a:cubicBezTo>
                    <a:pt x="0" y="9673987"/>
                    <a:pt x="55880" y="9729867"/>
                    <a:pt x="124460" y="9729867"/>
                  </a:cubicBezTo>
                  <a:lnTo>
                    <a:pt x="45395939" y="9729867"/>
                  </a:lnTo>
                  <a:cubicBezTo>
                    <a:pt x="45464518" y="9729867"/>
                    <a:pt x="45520397" y="9673987"/>
                    <a:pt x="45520397" y="9605407"/>
                  </a:cubicBezTo>
                  <a:lnTo>
                    <a:pt x="45520397" y="124460"/>
                  </a:lnTo>
                  <a:cubicBezTo>
                    <a:pt x="45520397" y="55880"/>
                    <a:pt x="45464518" y="0"/>
                    <a:pt x="45395939" y="0"/>
                  </a:cubicBezTo>
                  <a:close/>
                </a:path>
              </a:pathLst>
            </a:custGeom>
            <a:solidFill>
              <a:srgbClr val="128AA8"/>
            </a:solidFill>
          </p:spPr>
        </p:sp>
      </p:grpSp>
      <p:sp>
        <p:nvSpPr>
          <p:cNvPr name="TextBox 4" id="4"/>
          <p:cNvSpPr txBox="true"/>
          <p:nvPr/>
        </p:nvSpPr>
        <p:spPr>
          <a:xfrm rot="0">
            <a:off x="1028700" y="1123950"/>
            <a:ext cx="10788297" cy="712055"/>
          </a:xfrm>
          <a:prstGeom prst="rect">
            <a:avLst/>
          </a:prstGeom>
        </p:spPr>
        <p:txBody>
          <a:bodyPr anchor="t" rtlCol="false" tIns="0" lIns="0" bIns="0" rIns="0">
            <a:spAutoFit/>
          </a:bodyPr>
          <a:lstStyle/>
          <a:p>
            <a:pPr algn="l">
              <a:lnSpc>
                <a:spcPts val="5297"/>
              </a:lnSpc>
            </a:pPr>
            <a:r>
              <a:rPr lang="en-US" sz="5297" b="true">
                <a:solidFill>
                  <a:srgbClr val="1566A8"/>
                </a:solidFill>
                <a:latin typeface="HK Grotesk Semi-Bold"/>
                <a:ea typeface="HK Grotesk Semi-Bold"/>
                <a:cs typeface="HK Grotesk Semi-Bold"/>
                <a:sym typeface="HK Grotesk Semi-Bold"/>
              </a:rPr>
              <a:t>What is Extreme Programming (XP)?</a:t>
            </a:r>
          </a:p>
        </p:txBody>
      </p:sp>
      <p:sp>
        <p:nvSpPr>
          <p:cNvPr name="TextBox 5" id="5"/>
          <p:cNvSpPr txBox="true"/>
          <p:nvPr/>
        </p:nvSpPr>
        <p:spPr>
          <a:xfrm rot="0">
            <a:off x="1028700" y="2337705"/>
            <a:ext cx="16230600" cy="2386965"/>
          </a:xfrm>
          <a:prstGeom prst="rect">
            <a:avLst/>
          </a:prstGeom>
        </p:spPr>
        <p:txBody>
          <a:bodyPr anchor="t" rtlCol="false" tIns="0" lIns="0" bIns="0" rIns="0">
            <a:spAutoFit/>
          </a:bodyPr>
          <a:lstStyle/>
          <a:p>
            <a:pPr algn="l">
              <a:lnSpc>
                <a:spcPts val="4049"/>
              </a:lnSpc>
            </a:pPr>
            <a:r>
              <a:rPr lang="en-US" sz="2699">
                <a:solidFill>
                  <a:srgbClr val="545454"/>
                </a:solidFill>
                <a:latin typeface="DM Sans"/>
                <a:ea typeface="DM Sans"/>
                <a:cs typeface="DM Sans"/>
                <a:sym typeface="DM Sans"/>
              </a:rPr>
              <a:t>Extreme Programming (XP) is where small teams are assigned to develop. It’s designed to keep in mind changes, therefore making sure that </a:t>
            </a:r>
            <a:r>
              <a:rPr lang="en-US" sz="2699" b="true">
                <a:solidFill>
                  <a:srgbClr val="545454"/>
                </a:solidFill>
                <a:latin typeface="DM Sans Bold"/>
                <a:ea typeface="DM Sans Bold"/>
                <a:cs typeface="DM Sans Bold"/>
                <a:sym typeface="DM Sans Bold"/>
              </a:rPr>
              <a:t>it will have constant changes/rework to the software</a:t>
            </a:r>
            <a:r>
              <a:rPr lang="en-US" sz="2699">
                <a:solidFill>
                  <a:srgbClr val="545454"/>
                </a:solidFill>
                <a:latin typeface="DM Sans"/>
                <a:ea typeface="DM Sans"/>
                <a:cs typeface="DM Sans"/>
                <a:sym typeface="DM Sans"/>
              </a:rPr>
              <a:t> in case of bugs and changing customer requirements, to ensure the quality of its release. Developed in the 1990s by Kent Beck.</a:t>
            </a:r>
          </a:p>
          <a:p>
            <a:pPr algn="l">
              <a:lnSpc>
                <a:spcPts val="3000"/>
              </a:lnSpc>
            </a:pPr>
          </a:p>
        </p:txBody>
      </p:sp>
      <p:sp>
        <p:nvSpPr>
          <p:cNvPr name="TextBox 6" id="6"/>
          <p:cNvSpPr txBox="true"/>
          <p:nvPr/>
        </p:nvSpPr>
        <p:spPr>
          <a:xfrm rot="0">
            <a:off x="1028700" y="5486535"/>
            <a:ext cx="16230600" cy="2891790"/>
          </a:xfrm>
          <a:prstGeom prst="rect">
            <a:avLst/>
          </a:prstGeom>
        </p:spPr>
        <p:txBody>
          <a:bodyPr anchor="t" rtlCol="false" tIns="0" lIns="0" bIns="0" rIns="0">
            <a:spAutoFit/>
          </a:bodyPr>
          <a:lstStyle/>
          <a:p>
            <a:pPr algn="l" marL="582927" indent="-291463" lvl="1">
              <a:lnSpc>
                <a:spcPts val="4049"/>
              </a:lnSpc>
              <a:buFont typeface="Arial"/>
              <a:buChar char="•"/>
            </a:pPr>
            <a:r>
              <a:rPr lang="en-US" sz="2699">
                <a:solidFill>
                  <a:srgbClr val="545454"/>
                </a:solidFill>
                <a:latin typeface="DM Sans"/>
                <a:ea typeface="DM Sans"/>
                <a:cs typeface="DM Sans"/>
                <a:sym typeface="DM Sans"/>
              </a:rPr>
              <a:t>If the code is working, we should review code all the time (pair programming)</a:t>
            </a:r>
          </a:p>
          <a:p>
            <a:pPr algn="l" marL="582927" indent="-291463" lvl="1">
              <a:lnSpc>
                <a:spcPts val="4049"/>
              </a:lnSpc>
              <a:buFont typeface="Arial"/>
              <a:buChar char="•"/>
            </a:pPr>
            <a:r>
              <a:rPr lang="en-US" sz="2699">
                <a:solidFill>
                  <a:srgbClr val="545454"/>
                </a:solidFill>
                <a:latin typeface="DM Sans"/>
                <a:ea typeface="DM Sans"/>
                <a:cs typeface="DM Sans"/>
                <a:sym typeface="DM Sans"/>
              </a:rPr>
              <a:t>If testing is good, we should test all the time (Test-Driven Development)</a:t>
            </a:r>
          </a:p>
          <a:p>
            <a:pPr algn="l" marL="582927" indent="-291463" lvl="1">
              <a:lnSpc>
                <a:spcPts val="4049"/>
              </a:lnSpc>
              <a:buFont typeface="Arial"/>
              <a:buChar char="•"/>
            </a:pPr>
            <a:r>
              <a:rPr lang="en-US" sz="2699">
                <a:solidFill>
                  <a:srgbClr val="545454"/>
                </a:solidFill>
                <a:latin typeface="DM Sans"/>
                <a:ea typeface="DM Sans"/>
                <a:cs typeface="DM Sans"/>
                <a:sym typeface="DM Sans"/>
              </a:rPr>
              <a:t>If design is good, we should simplify it constantly (refactoring)</a:t>
            </a:r>
          </a:p>
          <a:p>
            <a:pPr algn="l" marL="582927" indent="-291463" lvl="1">
              <a:lnSpc>
                <a:spcPts val="4049"/>
              </a:lnSpc>
              <a:buFont typeface="Arial"/>
              <a:buChar char="•"/>
            </a:pPr>
            <a:r>
              <a:rPr lang="en-US" sz="2699">
                <a:solidFill>
                  <a:srgbClr val="545454"/>
                </a:solidFill>
                <a:latin typeface="DM Sans"/>
                <a:ea typeface="DM Sans"/>
                <a:cs typeface="DM Sans"/>
                <a:sym typeface="DM Sans"/>
              </a:rPr>
              <a:t>Instead of resisting change, XP expects it and uses short development cycles to constantly update the software, ensuring the final product perfectly matches the customer's current needs.</a:t>
            </a:r>
          </a:p>
          <a:p>
            <a:pPr algn="l">
              <a:lnSpc>
                <a:spcPts val="3000"/>
              </a:lnSpc>
            </a:pPr>
          </a:p>
        </p:txBody>
      </p:sp>
    </p:spTree>
  </p:cSld>
  <p:clrMapOvr>
    <a:masterClrMapping/>
  </p:clrMapOvr>
</p:sld>
</file>

<file path=ppt/slides/slide1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123950"/>
            <a:ext cx="10788297" cy="712055"/>
          </a:xfrm>
          <a:prstGeom prst="rect">
            <a:avLst/>
          </a:prstGeom>
        </p:spPr>
        <p:txBody>
          <a:bodyPr anchor="t" rtlCol="false" tIns="0" lIns="0" bIns="0" rIns="0">
            <a:spAutoFit/>
          </a:bodyPr>
          <a:lstStyle/>
          <a:p>
            <a:pPr algn="l">
              <a:lnSpc>
                <a:spcPts val="5297"/>
              </a:lnSpc>
            </a:pPr>
            <a:r>
              <a:rPr lang="en-US" sz="5297" b="true">
                <a:solidFill>
                  <a:srgbClr val="1566A8"/>
                </a:solidFill>
                <a:latin typeface="HK Grotesk Semi-Bold"/>
                <a:ea typeface="HK Grotesk Semi-Bold"/>
                <a:cs typeface="HK Grotesk Semi-Bold"/>
                <a:sym typeface="HK Grotesk Semi-Bold"/>
              </a:rPr>
              <a:t>Examples/Situations</a:t>
            </a:r>
          </a:p>
        </p:txBody>
      </p:sp>
      <p:sp>
        <p:nvSpPr>
          <p:cNvPr name="TextBox 3" id="3"/>
          <p:cNvSpPr txBox="true"/>
          <p:nvPr/>
        </p:nvSpPr>
        <p:spPr>
          <a:xfrm rot="0">
            <a:off x="1028700" y="2232215"/>
            <a:ext cx="16230600" cy="4011931"/>
          </a:xfrm>
          <a:prstGeom prst="rect">
            <a:avLst/>
          </a:prstGeom>
        </p:spPr>
        <p:txBody>
          <a:bodyPr anchor="t" rtlCol="false" tIns="0" lIns="0" bIns="0" rIns="0">
            <a:spAutoFit/>
          </a:bodyPr>
          <a:lstStyle/>
          <a:p>
            <a:pPr algn="l">
              <a:lnSpc>
                <a:spcPts val="4049"/>
              </a:lnSpc>
            </a:pPr>
            <a:r>
              <a:rPr lang="en-US" sz="2699">
                <a:solidFill>
                  <a:srgbClr val="545454"/>
                </a:solidFill>
                <a:latin typeface="DM Sans"/>
                <a:ea typeface="DM Sans"/>
                <a:cs typeface="DM Sans"/>
                <a:sym typeface="DM Sans"/>
              </a:rPr>
              <a:t>1. E-commerce Website</a:t>
            </a:r>
          </a:p>
          <a:p>
            <a:pPr algn="l">
              <a:lnSpc>
                <a:spcPts val="4049"/>
              </a:lnSpc>
            </a:pPr>
            <a:r>
              <a:rPr lang="en-US" sz="2699">
                <a:solidFill>
                  <a:srgbClr val="545454"/>
                </a:solidFill>
                <a:latin typeface="DM Sans"/>
                <a:ea typeface="DM Sans"/>
                <a:cs typeface="DM Sans"/>
                <a:sym typeface="DM Sans"/>
              </a:rPr>
              <a:t>       ➡ XP helps developers release updates weekly without breaking logic.</a:t>
            </a:r>
          </a:p>
          <a:p>
            <a:pPr algn="l">
              <a:lnSpc>
                <a:spcPts val="4049"/>
              </a:lnSpc>
            </a:pPr>
            <a:r>
              <a:rPr lang="en-US" sz="2699">
                <a:solidFill>
                  <a:srgbClr val="545454"/>
                </a:solidFill>
                <a:latin typeface="DM Sans"/>
                <a:ea typeface="DM Sans"/>
                <a:cs typeface="DM Sans"/>
                <a:sym typeface="DM Sans"/>
              </a:rPr>
              <a:t>2. Startup Mob</a:t>
            </a:r>
            <a:r>
              <a:rPr lang="en-US" sz="2699">
                <a:solidFill>
                  <a:srgbClr val="545454"/>
                </a:solidFill>
                <a:latin typeface="DM Sans"/>
                <a:ea typeface="DM Sans"/>
                <a:cs typeface="DM Sans"/>
                <a:sym typeface="DM Sans"/>
              </a:rPr>
              <a:t>ile </a:t>
            </a:r>
            <a:r>
              <a:rPr lang="en-US" sz="2699">
                <a:solidFill>
                  <a:srgbClr val="545454"/>
                </a:solidFill>
                <a:latin typeface="DM Sans"/>
                <a:ea typeface="DM Sans"/>
                <a:cs typeface="DM Sans"/>
                <a:sym typeface="DM Sans"/>
              </a:rPr>
              <a:t>App</a:t>
            </a:r>
          </a:p>
          <a:p>
            <a:pPr algn="l">
              <a:lnSpc>
                <a:spcPts val="4049"/>
              </a:lnSpc>
            </a:pPr>
            <a:r>
              <a:rPr lang="en-US" sz="2699">
                <a:solidFill>
                  <a:srgbClr val="545454"/>
                </a:solidFill>
                <a:latin typeface="DM Sans"/>
                <a:ea typeface="DM Sans"/>
                <a:cs typeface="DM Sans"/>
                <a:sym typeface="DM Sans"/>
              </a:rPr>
              <a:t> - A </a:t>
            </a:r>
            <a:r>
              <a:rPr lang="en-US" sz="2699">
                <a:solidFill>
                  <a:srgbClr val="545454"/>
                </a:solidFill>
                <a:latin typeface="DM Sans"/>
                <a:ea typeface="DM Sans"/>
                <a:cs typeface="DM Sans"/>
                <a:sym typeface="DM Sans"/>
              </a:rPr>
              <a:t>sta</a:t>
            </a:r>
            <a:r>
              <a:rPr lang="en-US" sz="2699">
                <a:solidFill>
                  <a:srgbClr val="545454"/>
                </a:solidFill>
                <a:latin typeface="DM Sans"/>
                <a:ea typeface="DM Sans"/>
                <a:cs typeface="DM Sans"/>
                <a:sym typeface="DM Sans"/>
              </a:rPr>
              <a:t>r</a:t>
            </a:r>
            <a:r>
              <a:rPr lang="en-US" sz="2699">
                <a:solidFill>
                  <a:srgbClr val="545454"/>
                </a:solidFill>
                <a:latin typeface="DM Sans"/>
                <a:ea typeface="DM Sans"/>
                <a:cs typeface="DM Sans"/>
                <a:sym typeface="DM Sans"/>
              </a:rPr>
              <a:t>t</a:t>
            </a:r>
            <a:r>
              <a:rPr lang="en-US" sz="2699">
                <a:solidFill>
                  <a:srgbClr val="545454"/>
                </a:solidFill>
                <a:latin typeface="DM Sans"/>
                <a:ea typeface="DM Sans"/>
                <a:cs typeface="DM Sans"/>
                <a:sym typeface="DM Sans"/>
              </a:rPr>
              <a:t>up</a:t>
            </a:r>
            <a:r>
              <a:rPr lang="en-US" sz="2699">
                <a:solidFill>
                  <a:srgbClr val="545454"/>
                </a:solidFill>
                <a:latin typeface="DM Sans"/>
                <a:ea typeface="DM Sans"/>
                <a:cs typeface="DM Sans"/>
                <a:sym typeface="DM Sans"/>
              </a:rPr>
              <a:t> </a:t>
            </a:r>
            <a:r>
              <a:rPr lang="en-US" sz="2699">
                <a:solidFill>
                  <a:srgbClr val="545454"/>
                </a:solidFill>
                <a:latin typeface="DM Sans"/>
                <a:ea typeface="DM Sans"/>
                <a:cs typeface="DM Sans"/>
                <a:sym typeface="DM Sans"/>
              </a:rPr>
              <a:t>ke</a:t>
            </a:r>
            <a:r>
              <a:rPr lang="en-US" sz="2699">
                <a:solidFill>
                  <a:srgbClr val="545454"/>
                </a:solidFill>
                <a:latin typeface="DM Sans"/>
                <a:ea typeface="DM Sans"/>
                <a:cs typeface="DM Sans"/>
                <a:sym typeface="DM Sans"/>
              </a:rPr>
              <a:t>e</a:t>
            </a:r>
            <a:r>
              <a:rPr lang="en-US" sz="2699">
                <a:solidFill>
                  <a:srgbClr val="545454"/>
                </a:solidFill>
                <a:latin typeface="DM Sans"/>
                <a:ea typeface="DM Sans"/>
                <a:cs typeface="DM Sans"/>
                <a:sym typeface="DM Sans"/>
              </a:rPr>
              <a:t>p</a:t>
            </a:r>
            <a:r>
              <a:rPr lang="en-US" sz="2699">
                <a:solidFill>
                  <a:srgbClr val="545454"/>
                </a:solidFill>
                <a:latin typeface="DM Sans"/>
                <a:ea typeface="DM Sans"/>
                <a:cs typeface="DM Sans"/>
                <a:sym typeface="DM Sans"/>
              </a:rPr>
              <a:t>s</a:t>
            </a:r>
            <a:r>
              <a:rPr lang="en-US" sz="2699">
                <a:solidFill>
                  <a:srgbClr val="545454"/>
                </a:solidFill>
                <a:latin typeface="DM Sans"/>
                <a:ea typeface="DM Sans"/>
                <a:cs typeface="DM Sans"/>
                <a:sym typeface="DM Sans"/>
              </a:rPr>
              <a:t> imp</a:t>
            </a:r>
            <a:r>
              <a:rPr lang="en-US" sz="2699">
                <a:solidFill>
                  <a:srgbClr val="545454"/>
                </a:solidFill>
                <a:latin typeface="DM Sans"/>
                <a:ea typeface="DM Sans"/>
                <a:cs typeface="DM Sans"/>
                <a:sym typeface="DM Sans"/>
              </a:rPr>
              <a:t>ro</a:t>
            </a:r>
            <a:r>
              <a:rPr lang="en-US" sz="2699">
                <a:solidFill>
                  <a:srgbClr val="545454"/>
                </a:solidFill>
                <a:latin typeface="DM Sans"/>
                <a:ea typeface="DM Sans"/>
                <a:cs typeface="DM Sans"/>
                <a:sym typeface="DM Sans"/>
              </a:rPr>
              <a:t>ving</a:t>
            </a:r>
            <a:r>
              <a:rPr lang="en-US" sz="2699">
                <a:solidFill>
                  <a:srgbClr val="545454"/>
                </a:solidFill>
                <a:latin typeface="DM Sans"/>
                <a:ea typeface="DM Sans"/>
                <a:cs typeface="DM Sans"/>
                <a:sym typeface="DM Sans"/>
              </a:rPr>
              <a:t> </a:t>
            </a:r>
            <a:r>
              <a:rPr lang="en-US" sz="2699">
                <a:solidFill>
                  <a:srgbClr val="545454"/>
                </a:solidFill>
                <a:latin typeface="DM Sans"/>
                <a:ea typeface="DM Sans"/>
                <a:cs typeface="DM Sans"/>
                <a:sym typeface="DM Sans"/>
              </a:rPr>
              <a:t>i</a:t>
            </a:r>
            <a:r>
              <a:rPr lang="en-US" sz="2699">
                <a:solidFill>
                  <a:srgbClr val="545454"/>
                </a:solidFill>
                <a:latin typeface="DM Sans"/>
                <a:ea typeface="DM Sans"/>
                <a:cs typeface="DM Sans"/>
                <a:sym typeface="DM Sans"/>
              </a:rPr>
              <a:t>t</a:t>
            </a:r>
            <a:r>
              <a:rPr lang="en-US" sz="2699">
                <a:solidFill>
                  <a:srgbClr val="545454"/>
                </a:solidFill>
                <a:latin typeface="DM Sans"/>
                <a:ea typeface="DM Sans"/>
                <a:cs typeface="DM Sans"/>
                <a:sym typeface="DM Sans"/>
              </a:rPr>
              <a:t>s app fr</a:t>
            </a:r>
            <a:r>
              <a:rPr lang="en-US" sz="2699">
                <a:solidFill>
                  <a:srgbClr val="545454"/>
                </a:solidFill>
                <a:latin typeface="DM Sans"/>
                <a:ea typeface="DM Sans"/>
                <a:cs typeface="DM Sans"/>
                <a:sym typeface="DM Sans"/>
              </a:rPr>
              <a:t>o</a:t>
            </a:r>
            <a:r>
              <a:rPr lang="en-US" sz="2699">
                <a:solidFill>
                  <a:srgbClr val="545454"/>
                </a:solidFill>
                <a:latin typeface="DM Sans"/>
                <a:ea typeface="DM Sans"/>
                <a:cs typeface="DM Sans"/>
                <a:sym typeface="DM Sans"/>
              </a:rPr>
              <a:t>m</a:t>
            </a:r>
            <a:r>
              <a:rPr lang="en-US" sz="2699">
                <a:solidFill>
                  <a:srgbClr val="545454"/>
                </a:solidFill>
                <a:latin typeface="DM Sans"/>
                <a:ea typeface="DM Sans"/>
                <a:cs typeface="DM Sans"/>
                <a:sym typeface="DM Sans"/>
              </a:rPr>
              <a:t> </a:t>
            </a:r>
            <a:r>
              <a:rPr lang="en-US" sz="2699">
                <a:solidFill>
                  <a:srgbClr val="545454"/>
                </a:solidFill>
                <a:latin typeface="DM Sans"/>
                <a:ea typeface="DM Sans"/>
                <a:cs typeface="DM Sans"/>
                <a:sym typeface="DM Sans"/>
              </a:rPr>
              <a:t>us</a:t>
            </a:r>
            <a:r>
              <a:rPr lang="en-US" sz="2699">
                <a:solidFill>
                  <a:srgbClr val="545454"/>
                </a:solidFill>
                <a:latin typeface="DM Sans"/>
                <a:ea typeface="DM Sans"/>
                <a:cs typeface="DM Sans"/>
                <a:sym typeface="DM Sans"/>
              </a:rPr>
              <a:t>e</a:t>
            </a:r>
            <a:r>
              <a:rPr lang="en-US" sz="2699">
                <a:solidFill>
                  <a:srgbClr val="545454"/>
                </a:solidFill>
                <a:latin typeface="DM Sans"/>
                <a:ea typeface="DM Sans"/>
                <a:cs typeface="DM Sans"/>
                <a:sym typeface="DM Sans"/>
              </a:rPr>
              <a:t>r</a:t>
            </a:r>
            <a:r>
              <a:rPr lang="en-US" sz="2699">
                <a:solidFill>
                  <a:srgbClr val="545454"/>
                </a:solidFill>
                <a:latin typeface="DM Sans"/>
                <a:ea typeface="DM Sans"/>
                <a:cs typeface="DM Sans"/>
                <a:sym typeface="DM Sans"/>
              </a:rPr>
              <a:t> f</a:t>
            </a:r>
            <a:r>
              <a:rPr lang="en-US" sz="2699">
                <a:solidFill>
                  <a:srgbClr val="545454"/>
                </a:solidFill>
                <a:latin typeface="DM Sans"/>
                <a:ea typeface="DM Sans"/>
                <a:cs typeface="DM Sans"/>
                <a:sym typeface="DM Sans"/>
              </a:rPr>
              <a:t>eedb</a:t>
            </a:r>
            <a:r>
              <a:rPr lang="en-US" sz="2699">
                <a:solidFill>
                  <a:srgbClr val="545454"/>
                </a:solidFill>
                <a:latin typeface="DM Sans"/>
                <a:ea typeface="DM Sans"/>
                <a:cs typeface="DM Sans"/>
                <a:sym typeface="DM Sans"/>
              </a:rPr>
              <a:t>a</a:t>
            </a:r>
            <a:r>
              <a:rPr lang="en-US" sz="2699">
                <a:solidFill>
                  <a:srgbClr val="545454"/>
                </a:solidFill>
                <a:latin typeface="DM Sans"/>
                <a:ea typeface="DM Sans"/>
                <a:cs typeface="DM Sans"/>
                <a:sym typeface="DM Sans"/>
              </a:rPr>
              <a:t>ck.</a:t>
            </a:r>
          </a:p>
          <a:p>
            <a:pPr algn="l">
              <a:lnSpc>
                <a:spcPts val="4049"/>
              </a:lnSpc>
            </a:pPr>
            <a:r>
              <a:rPr lang="en-US" sz="2699">
                <a:solidFill>
                  <a:srgbClr val="545454"/>
                </a:solidFill>
                <a:latin typeface="DM Sans"/>
                <a:ea typeface="DM Sans"/>
                <a:cs typeface="DM Sans"/>
                <a:sym typeface="DM Sans"/>
              </a:rPr>
              <a:t>      ➡ Pair programming and continuous testing reduce bugs quickly.</a:t>
            </a:r>
          </a:p>
          <a:p>
            <a:pPr algn="l">
              <a:lnSpc>
                <a:spcPts val="4049"/>
              </a:lnSpc>
            </a:pPr>
            <a:r>
              <a:rPr lang="en-US" sz="2699">
                <a:solidFill>
                  <a:srgbClr val="545454"/>
                </a:solidFill>
                <a:latin typeface="DM Sans"/>
                <a:ea typeface="DM Sans"/>
                <a:cs typeface="DM Sans"/>
                <a:sym typeface="DM Sans"/>
              </a:rPr>
              <a:t>3. Banking System</a:t>
            </a:r>
          </a:p>
          <a:p>
            <a:pPr algn="l">
              <a:lnSpc>
                <a:spcPts val="4049"/>
              </a:lnSpc>
            </a:pPr>
            <a:r>
              <a:rPr lang="en-US" sz="2699">
                <a:solidFill>
                  <a:srgbClr val="545454"/>
                </a:solidFill>
                <a:latin typeface="DM Sans"/>
                <a:ea typeface="DM Sans"/>
                <a:cs typeface="DM Sans"/>
                <a:sym typeface="DM Sans"/>
              </a:rPr>
              <a:t> - Security updates must be released fast.</a:t>
            </a:r>
          </a:p>
          <a:p>
            <a:pPr algn="l">
              <a:lnSpc>
                <a:spcPts val="4049"/>
              </a:lnSpc>
            </a:pPr>
            <a:r>
              <a:rPr lang="en-US" sz="2699">
                <a:solidFill>
                  <a:srgbClr val="545454"/>
                </a:solidFill>
                <a:latin typeface="DM Sans"/>
                <a:ea typeface="DM Sans"/>
                <a:cs typeface="DM Sans"/>
                <a:sym typeface="DM Sans"/>
              </a:rPr>
              <a:t>    </a:t>
            </a:r>
            <a:r>
              <a:rPr lang="en-US" sz="2699">
                <a:solidFill>
                  <a:srgbClr val="545454"/>
                </a:solidFill>
                <a:latin typeface="DM Sans"/>
                <a:ea typeface="DM Sans"/>
                <a:cs typeface="DM Sans"/>
                <a:sym typeface="DM Sans"/>
              </a:rPr>
              <a:t> ➡ Automated tests ensure new code doesn’t break payment logic.</a:t>
            </a:r>
          </a:p>
        </p:txBody>
      </p:sp>
      <p:sp>
        <p:nvSpPr>
          <p:cNvPr name="TextBox 4" id="4"/>
          <p:cNvSpPr txBox="true"/>
          <p:nvPr/>
        </p:nvSpPr>
        <p:spPr>
          <a:xfrm rot="0">
            <a:off x="1028700" y="6621305"/>
            <a:ext cx="16230600" cy="2887981"/>
          </a:xfrm>
          <a:prstGeom prst="rect">
            <a:avLst/>
          </a:prstGeom>
        </p:spPr>
        <p:txBody>
          <a:bodyPr anchor="t" rtlCol="false" tIns="0" lIns="0" bIns="0" rIns="0">
            <a:spAutoFit/>
          </a:bodyPr>
          <a:lstStyle/>
          <a:p>
            <a:pPr algn="l">
              <a:lnSpc>
                <a:spcPts val="4799"/>
              </a:lnSpc>
            </a:pPr>
            <a:r>
              <a:rPr lang="en-US" sz="3199" i="true" b="true">
                <a:solidFill>
                  <a:srgbClr val="545454"/>
                </a:solidFill>
                <a:latin typeface="DM Sans Bold Italics"/>
                <a:ea typeface="DM Sans Bold Italics"/>
                <a:cs typeface="DM Sans Bold Italics"/>
                <a:sym typeface="DM Sans Bold Italics"/>
              </a:rPr>
              <a:t>"A food delivery app notices users want live rider tracking."</a:t>
            </a:r>
          </a:p>
          <a:p>
            <a:pPr algn="l">
              <a:lnSpc>
                <a:spcPts val="2250"/>
              </a:lnSpc>
            </a:pPr>
          </a:p>
          <a:p>
            <a:pPr algn="l">
              <a:lnSpc>
                <a:spcPts val="4049"/>
              </a:lnSpc>
            </a:pPr>
            <a:r>
              <a:rPr lang="en-US" sz="2699">
                <a:solidFill>
                  <a:srgbClr val="545454"/>
                </a:solidFill>
                <a:latin typeface="DM Sans"/>
                <a:ea typeface="DM Sans"/>
                <a:cs typeface="DM Sans"/>
                <a:sym typeface="DM Sans"/>
              </a:rPr>
              <a:t> W</a:t>
            </a:r>
            <a:r>
              <a:rPr lang="en-US" sz="2699">
                <a:solidFill>
                  <a:srgbClr val="545454"/>
                </a:solidFill>
                <a:latin typeface="DM Sans"/>
                <a:ea typeface="DM Sans"/>
                <a:cs typeface="DM Sans"/>
                <a:sym typeface="DM Sans"/>
              </a:rPr>
              <a:t>i</a:t>
            </a:r>
            <a:r>
              <a:rPr lang="en-US" sz="2699">
                <a:solidFill>
                  <a:srgbClr val="545454"/>
                </a:solidFill>
                <a:latin typeface="DM Sans"/>
                <a:ea typeface="DM Sans"/>
                <a:cs typeface="DM Sans"/>
                <a:sym typeface="DM Sans"/>
              </a:rPr>
              <a:t>th</a:t>
            </a:r>
            <a:r>
              <a:rPr lang="en-US" sz="2699">
                <a:solidFill>
                  <a:srgbClr val="545454"/>
                </a:solidFill>
                <a:latin typeface="DM Sans"/>
                <a:ea typeface="DM Sans"/>
                <a:cs typeface="DM Sans"/>
                <a:sym typeface="DM Sans"/>
              </a:rPr>
              <a:t> XP, th</a:t>
            </a:r>
            <a:r>
              <a:rPr lang="en-US" sz="2699">
                <a:solidFill>
                  <a:srgbClr val="545454"/>
                </a:solidFill>
                <a:latin typeface="DM Sans"/>
                <a:ea typeface="DM Sans"/>
                <a:cs typeface="DM Sans"/>
                <a:sym typeface="DM Sans"/>
              </a:rPr>
              <a:t>e t</a:t>
            </a:r>
            <a:r>
              <a:rPr lang="en-US" sz="2699">
                <a:solidFill>
                  <a:srgbClr val="545454"/>
                </a:solidFill>
                <a:latin typeface="DM Sans"/>
                <a:ea typeface="DM Sans"/>
                <a:cs typeface="DM Sans"/>
                <a:sym typeface="DM Sans"/>
              </a:rPr>
              <a:t>e</a:t>
            </a:r>
            <a:r>
              <a:rPr lang="en-US" sz="2699">
                <a:solidFill>
                  <a:srgbClr val="545454"/>
                </a:solidFill>
                <a:latin typeface="DM Sans"/>
                <a:ea typeface="DM Sans"/>
                <a:cs typeface="DM Sans"/>
                <a:sym typeface="DM Sans"/>
              </a:rPr>
              <a:t>am </a:t>
            </a:r>
            <a:r>
              <a:rPr lang="en-US" sz="2699">
                <a:solidFill>
                  <a:srgbClr val="545454"/>
                </a:solidFill>
                <a:latin typeface="DM Sans"/>
                <a:ea typeface="DM Sans"/>
                <a:cs typeface="DM Sans"/>
                <a:sym typeface="DM Sans"/>
              </a:rPr>
              <a:t>can:</a:t>
            </a:r>
          </a:p>
          <a:p>
            <a:pPr algn="l" marL="582927" indent="-291463" lvl="1">
              <a:lnSpc>
                <a:spcPts val="4049"/>
              </a:lnSpc>
              <a:buFont typeface="Arial"/>
              <a:buChar char="•"/>
            </a:pPr>
            <a:r>
              <a:rPr lang="en-US" sz="2699">
                <a:solidFill>
                  <a:srgbClr val="545454"/>
                </a:solidFill>
                <a:latin typeface="DM Sans"/>
                <a:ea typeface="DM Sans"/>
                <a:cs typeface="DM Sans"/>
                <a:sym typeface="DM Sans"/>
              </a:rPr>
              <a:t> Build the feature quickly</a:t>
            </a:r>
          </a:p>
          <a:p>
            <a:pPr algn="l" marL="582927" indent="-291463" lvl="1">
              <a:lnSpc>
                <a:spcPts val="4049"/>
              </a:lnSpc>
              <a:buFont typeface="Arial"/>
              <a:buChar char="•"/>
            </a:pPr>
            <a:r>
              <a:rPr lang="en-US" sz="2699">
                <a:solidFill>
                  <a:srgbClr val="545454"/>
                </a:solidFill>
                <a:latin typeface="DM Sans"/>
                <a:ea typeface="DM Sans"/>
                <a:cs typeface="DM Sans"/>
                <a:sym typeface="DM Sans"/>
              </a:rPr>
              <a:t>Test it continuously</a:t>
            </a:r>
          </a:p>
          <a:p>
            <a:pPr algn="l" marL="582927" indent="-291463" lvl="1">
              <a:lnSpc>
                <a:spcPts val="4049"/>
              </a:lnSpc>
              <a:buFont typeface="Arial"/>
              <a:buChar char="•"/>
            </a:pPr>
            <a:r>
              <a:rPr lang="en-US" sz="2699">
                <a:solidFill>
                  <a:srgbClr val="545454"/>
                </a:solidFill>
                <a:latin typeface="DM Sans"/>
                <a:ea typeface="DM Sans"/>
                <a:cs typeface="DM Sans"/>
                <a:sym typeface="DM Sans"/>
              </a:rPr>
              <a:t>Question clients</a:t>
            </a:r>
          </a:p>
        </p:txBody>
      </p:sp>
    </p:spTree>
  </p:cSld>
  <p:clrMapOvr>
    <a:masterClrMapping/>
  </p:clrMapOvr>
</p:sld>
</file>

<file path=ppt/slides/slide2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933450"/>
            <a:ext cx="14040558" cy="712055"/>
          </a:xfrm>
          <a:prstGeom prst="rect">
            <a:avLst/>
          </a:prstGeom>
        </p:spPr>
        <p:txBody>
          <a:bodyPr anchor="t" rtlCol="false" tIns="0" lIns="0" bIns="0" rIns="0">
            <a:spAutoFit/>
          </a:bodyPr>
          <a:lstStyle/>
          <a:p>
            <a:pPr algn="l">
              <a:lnSpc>
                <a:spcPts val="5297"/>
              </a:lnSpc>
            </a:pPr>
            <a:r>
              <a:rPr lang="en-US" sz="5297" b="true">
                <a:solidFill>
                  <a:srgbClr val="1566A8"/>
                </a:solidFill>
                <a:latin typeface="HK Grotesk Semi-Bold"/>
                <a:ea typeface="HK Grotesk Semi-Bold"/>
                <a:cs typeface="HK Grotesk Semi-Bold"/>
                <a:sym typeface="HK Grotesk Semi-Bold"/>
              </a:rPr>
              <a:t>5 Core Values of Extreme Programming</a:t>
            </a:r>
          </a:p>
        </p:txBody>
      </p:sp>
      <p:sp>
        <p:nvSpPr>
          <p:cNvPr name="TextBox 3" id="3"/>
          <p:cNvSpPr txBox="true"/>
          <p:nvPr/>
        </p:nvSpPr>
        <p:spPr>
          <a:xfrm rot="0">
            <a:off x="1028700" y="1848448"/>
            <a:ext cx="16230600" cy="7888796"/>
          </a:xfrm>
          <a:prstGeom prst="rect">
            <a:avLst/>
          </a:prstGeom>
        </p:spPr>
        <p:txBody>
          <a:bodyPr anchor="t" rtlCol="false" tIns="0" lIns="0" bIns="0" rIns="0">
            <a:spAutoFit/>
          </a:bodyPr>
          <a:lstStyle/>
          <a:p>
            <a:pPr algn="l" marL="582927" indent="-291463" lvl="1">
              <a:lnSpc>
                <a:spcPts val="4346"/>
              </a:lnSpc>
              <a:buFont typeface="Arial"/>
              <a:buChar char="•"/>
            </a:pPr>
            <a:r>
              <a:rPr lang="en-US" b="true" sz="2699">
                <a:solidFill>
                  <a:srgbClr val="545454"/>
                </a:solidFill>
                <a:latin typeface="DM Sans Bold"/>
                <a:ea typeface="DM Sans Bold"/>
                <a:cs typeface="DM Sans Bold"/>
                <a:sym typeface="DM Sans Bold"/>
              </a:rPr>
              <a:t>Simplicity</a:t>
            </a:r>
            <a:r>
              <a:rPr lang="en-US" sz="2699">
                <a:solidFill>
                  <a:srgbClr val="545454"/>
                </a:solidFill>
                <a:latin typeface="DM Sans"/>
                <a:ea typeface="DM Sans"/>
                <a:cs typeface="DM Sans"/>
                <a:sym typeface="DM Sans"/>
              </a:rPr>
              <a:t>: </a:t>
            </a:r>
          </a:p>
          <a:p>
            <a:pPr algn="l" marL="1036317" indent="-345439" lvl="2">
              <a:lnSpc>
                <a:spcPts val="3863"/>
              </a:lnSpc>
              <a:buFont typeface="Arial"/>
              <a:buChar char="⚬"/>
            </a:pPr>
            <a:r>
              <a:rPr lang="en-US" sz="2399">
                <a:solidFill>
                  <a:srgbClr val="545454"/>
                </a:solidFill>
                <a:latin typeface="DM Sans"/>
                <a:ea typeface="DM Sans"/>
                <a:cs typeface="DM Sans"/>
                <a:sym typeface="DM Sans"/>
              </a:rPr>
              <a:t>Teams focus only on what is needed right now. They do not waste time building features for hypothetical future scenarios </a:t>
            </a:r>
            <a:r>
              <a:rPr lang="en-US" sz="2399" i="true">
                <a:solidFill>
                  <a:srgbClr val="545454"/>
                </a:solidFill>
                <a:latin typeface="DM Sans Italics"/>
                <a:ea typeface="DM Sans Italics"/>
                <a:cs typeface="DM Sans Italics"/>
                <a:sym typeface="DM Sans Italics"/>
              </a:rPr>
              <a:t>(YAGNI - You Aren't Gonna Need It)</a:t>
            </a:r>
            <a:r>
              <a:rPr lang="en-US" sz="2399">
                <a:solidFill>
                  <a:srgbClr val="545454"/>
                </a:solidFill>
                <a:latin typeface="DM Sans"/>
                <a:ea typeface="DM Sans"/>
                <a:cs typeface="DM Sans"/>
                <a:sym typeface="DM Sans"/>
              </a:rPr>
              <a:t>, which keeps the codebase lean and manageable.</a:t>
            </a:r>
          </a:p>
          <a:p>
            <a:pPr algn="l" marL="582927" indent="-291463" lvl="1">
              <a:lnSpc>
                <a:spcPts val="4049"/>
              </a:lnSpc>
              <a:buFont typeface="Arial"/>
              <a:buChar char="•"/>
            </a:pPr>
            <a:r>
              <a:rPr lang="en-US" b="true" sz="2699">
                <a:solidFill>
                  <a:srgbClr val="545454"/>
                </a:solidFill>
                <a:latin typeface="DM Sans Bold"/>
                <a:ea typeface="DM Sans Bold"/>
                <a:cs typeface="DM Sans Bold"/>
                <a:sym typeface="DM Sans Bold"/>
              </a:rPr>
              <a:t>Communication</a:t>
            </a:r>
            <a:r>
              <a:rPr lang="en-US" sz="2699">
                <a:solidFill>
                  <a:srgbClr val="545454"/>
                </a:solidFill>
                <a:latin typeface="DM Sans"/>
                <a:ea typeface="DM Sans"/>
                <a:cs typeface="DM Sans"/>
                <a:sym typeface="DM Sans"/>
              </a:rPr>
              <a:t>: </a:t>
            </a:r>
          </a:p>
          <a:p>
            <a:pPr algn="l" marL="1036317" indent="-345439" lvl="2">
              <a:lnSpc>
                <a:spcPts val="3599"/>
              </a:lnSpc>
              <a:buFont typeface="Arial"/>
              <a:buChar char="⚬"/>
            </a:pPr>
            <a:r>
              <a:rPr lang="en-US" sz="2399">
                <a:solidFill>
                  <a:srgbClr val="545454"/>
                </a:solidFill>
                <a:latin typeface="DM Sans"/>
                <a:ea typeface="DM Sans"/>
                <a:cs typeface="DM Sans"/>
                <a:sym typeface="DM Sans"/>
              </a:rPr>
              <a:t>XP argues that most software failures are failures of communication. By keeping teams co-located and using pair programming, developers constantly share knowledge and solve problems in real-time.</a:t>
            </a:r>
          </a:p>
          <a:p>
            <a:pPr algn="l" marL="582927" indent="-291463" lvl="1">
              <a:lnSpc>
                <a:spcPts val="4049"/>
              </a:lnSpc>
              <a:buFont typeface="Arial"/>
              <a:buChar char="•"/>
            </a:pPr>
            <a:r>
              <a:rPr lang="en-US" b="true" sz="2699">
                <a:solidFill>
                  <a:srgbClr val="545454"/>
                </a:solidFill>
                <a:latin typeface="DM Sans Bold"/>
                <a:ea typeface="DM Sans Bold"/>
                <a:cs typeface="DM Sans Bold"/>
                <a:sym typeface="DM Sans Bold"/>
              </a:rPr>
              <a:t>Feedback:</a:t>
            </a:r>
            <a:r>
              <a:rPr lang="en-US" sz="2699">
                <a:solidFill>
                  <a:srgbClr val="545454"/>
                </a:solidFill>
                <a:latin typeface="DM Sans"/>
                <a:ea typeface="DM Sans"/>
                <a:cs typeface="DM Sans"/>
                <a:sym typeface="DM Sans"/>
              </a:rPr>
              <a:t> </a:t>
            </a:r>
          </a:p>
          <a:p>
            <a:pPr algn="l" marL="1036317" indent="-345439" lvl="2">
              <a:lnSpc>
                <a:spcPts val="3599"/>
              </a:lnSpc>
              <a:buFont typeface="Arial"/>
              <a:buChar char="⚬"/>
            </a:pPr>
            <a:r>
              <a:rPr lang="en-US" sz="2399">
                <a:solidFill>
                  <a:srgbClr val="545454"/>
                </a:solidFill>
                <a:latin typeface="DM Sans"/>
                <a:ea typeface="DM Sans"/>
                <a:cs typeface="DM Sans"/>
                <a:sym typeface="DM Sans"/>
              </a:rPr>
              <a:t>Feedback is gathered continuously from the system (through automated tests), the customer (through small releases), and the team (through pair programming). This prevents small mistakes from becoming large failures.</a:t>
            </a:r>
          </a:p>
          <a:p>
            <a:pPr algn="l" marL="582927" indent="-291463" lvl="1">
              <a:lnSpc>
                <a:spcPts val="4049"/>
              </a:lnSpc>
              <a:buFont typeface="Arial"/>
              <a:buChar char="•"/>
            </a:pPr>
            <a:r>
              <a:rPr lang="en-US" b="true" sz="2699">
                <a:solidFill>
                  <a:srgbClr val="545454"/>
                </a:solidFill>
                <a:latin typeface="DM Sans Bold"/>
                <a:ea typeface="DM Sans Bold"/>
                <a:cs typeface="DM Sans Bold"/>
                <a:sym typeface="DM Sans Bold"/>
              </a:rPr>
              <a:t>Courage: </a:t>
            </a:r>
          </a:p>
          <a:p>
            <a:pPr algn="l" marL="1036317" indent="-345439" lvl="2">
              <a:lnSpc>
                <a:spcPts val="3599"/>
              </a:lnSpc>
              <a:buFont typeface="Arial"/>
              <a:buChar char="⚬"/>
            </a:pPr>
            <a:r>
              <a:rPr lang="en-US" sz="2399">
                <a:solidFill>
                  <a:srgbClr val="545454"/>
                </a:solidFill>
                <a:latin typeface="DM Sans"/>
                <a:ea typeface="DM Sans"/>
                <a:cs typeface="DM Sans"/>
                <a:sym typeface="DM Sans"/>
              </a:rPr>
              <a:t>Developers must have the courage to throw away bad code, push back on unrealistic deadlines, and completely rewrite a feature if it isn't working, rather than patching it poorly.</a:t>
            </a:r>
          </a:p>
          <a:p>
            <a:pPr algn="l" marL="582927" indent="-291463" lvl="1">
              <a:lnSpc>
                <a:spcPts val="4049"/>
              </a:lnSpc>
              <a:buFont typeface="Arial"/>
              <a:buChar char="•"/>
            </a:pPr>
            <a:r>
              <a:rPr lang="en-US" b="true" sz="2699">
                <a:solidFill>
                  <a:srgbClr val="545454"/>
                </a:solidFill>
                <a:latin typeface="DM Sans Bold"/>
                <a:ea typeface="DM Sans Bold"/>
                <a:cs typeface="DM Sans Bold"/>
                <a:sym typeface="DM Sans Bold"/>
              </a:rPr>
              <a:t>Respect:</a:t>
            </a:r>
            <a:r>
              <a:rPr lang="en-US" sz="2699">
                <a:solidFill>
                  <a:srgbClr val="545454"/>
                </a:solidFill>
                <a:latin typeface="DM Sans"/>
                <a:ea typeface="DM Sans"/>
                <a:cs typeface="DM Sans"/>
                <a:sym typeface="DM Sans"/>
              </a:rPr>
              <a:t> </a:t>
            </a:r>
          </a:p>
          <a:p>
            <a:pPr algn="l" marL="1036317" indent="-345439" lvl="2">
              <a:lnSpc>
                <a:spcPts val="3599"/>
              </a:lnSpc>
              <a:buFont typeface="Arial"/>
              <a:buChar char="⚬"/>
            </a:pPr>
            <a:r>
              <a:rPr lang="en-US" sz="2399">
                <a:solidFill>
                  <a:srgbClr val="545454"/>
                </a:solidFill>
                <a:latin typeface="DM Sans"/>
                <a:ea typeface="DM Sans"/>
                <a:cs typeface="DM Sans"/>
                <a:sym typeface="DM Sans"/>
              </a:rPr>
              <a:t>Team members respect each other’s time, skills, and boundaries. This also extends to respecting the customer’s budget by not wasting time on unnecessary features.</a:t>
            </a:r>
          </a:p>
          <a:p>
            <a:pPr algn="l">
              <a:lnSpc>
                <a:spcPts val="2550"/>
              </a:lnSpc>
            </a:pPr>
          </a:p>
        </p:txBody>
      </p:sp>
    </p:spTree>
  </p:cSld>
  <p:clrMapOvr>
    <a:masterClrMapping/>
  </p:clrMapOvr>
</p:sld>
</file>

<file path=ppt/slides/slide2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720297"/>
            <a:ext cx="14040558" cy="712055"/>
          </a:xfrm>
          <a:prstGeom prst="rect">
            <a:avLst/>
          </a:prstGeom>
        </p:spPr>
        <p:txBody>
          <a:bodyPr anchor="t" rtlCol="false" tIns="0" lIns="0" bIns="0" rIns="0">
            <a:spAutoFit/>
          </a:bodyPr>
          <a:lstStyle/>
          <a:p>
            <a:pPr algn="l">
              <a:lnSpc>
                <a:spcPts val="5297"/>
              </a:lnSpc>
            </a:pPr>
            <a:r>
              <a:rPr lang="en-US" sz="5297" b="true">
                <a:solidFill>
                  <a:srgbClr val="1566A8"/>
                </a:solidFill>
                <a:latin typeface="HK Grotesk Semi-Bold"/>
                <a:ea typeface="HK Grotesk Semi-Bold"/>
                <a:cs typeface="HK Grotesk Semi-Bold"/>
                <a:sym typeface="HK Grotesk Semi-Bold"/>
              </a:rPr>
              <a:t>Key Practices of Extreme Programming</a:t>
            </a:r>
          </a:p>
        </p:txBody>
      </p:sp>
      <p:sp>
        <p:nvSpPr>
          <p:cNvPr name="TextBox 3" id="3"/>
          <p:cNvSpPr txBox="true"/>
          <p:nvPr/>
        </p:nvSpPr>
        <p:spPr>
          <a:xfrm rot="0">
            <a:off x="1028700" y="1736860"/>
            <a:ext cx="16230600" cy="7983029"/>
          </a:xfrm>
          <a:prstGeom prst="rect">
            <a:avLst/>
          </a:prstGeom>
        </p:spPr>
        <p:txBody>
          <a:bodyPr anchor="t" rtlCol="false" tIns="0" lIns="0" bIns="0" rIns="0">
            <a:spAutoFit/>
          </a:bodyPr>
          <a:lstStyle/>
          <a:p>
            <a:pPr algn="l">
              <a:lnSpc>
                <a:spcPts val="3702"/>
              </a:lnSpc>
            </a:pPr>
            <a:r>
              <a:rPr lang="en-US" sz="2299">
                <a:solidFill>
                  <a:srgbClr val="545454"/>
                </a:solidFill>
                <a:latin typeface="DM Sans"/>
                <a:ea typeface="DM Sans"/>
                <a:cs typeface="DM Sans"/>
                <a:sym typeface="DM Sans"/>
              </a:rPr>
              <a:t>Origin</a:t>
            </a:r>
            <a:r>
              <a:rPr lang="en-US" sz="2299">
                <a:solidFill>
                  <a:srgbClr val="545454"/>
                </a:solidFill>
                <a:latin typeface="DM Sans"/>
                <a:ea typeface="DM Sans"/>
                <a:cs typeface="DM Sans"/>
                <a:sym typeface="DM Sans"/>
              </a:rPr>
              <a:t>ally 12, there’s actually even more now. But here are the key practices online:</a:t>
            </a:r>
          </a:p>
          <a:p>
            <a:pPr algn="l">
              <a:lnSpc>
                <a:spcPts val="2093"/>
              </a:lnSpc>
            </a:pPr>
          </a:p>
          <a:p>
            <a:pPr algn="l" marL="496569" indent="-248284" lvl="1">
              <a:lnSpc>
                <a:spcPts val="3702"/>
              </a:lnSpc>
              <a:buFont typeface="Arial"/>
              <a:buChar char="•"/>
            </a:pPr>
            <a:r>
              <a:rPr lang="en-US" b="true" sz="2299">
                <a:solidFill>
                  <a:srgbClr val="545454"/>
                </a:solidFill>
                <a:latin typeface="DM Sans Bold"/>
                <a:ea typeface="DM Sans Bold"/>
                <a:cs typeface="DM Sans Bold"/>
                <a:sym typeface="DM Sans Bold"/>
              </a:rPr>
              <a:t>Pair Programming:</a:t>
            </a:r>
            <a:r>
              <a:rPr lang="en-US" sz="2299">
                <a:solidFill>
                  <a:srgbClr val="545454"/>
                </a:solidFill>
                <a:latin typeface="DM Sans"/>
                <a:ea typeface="DM Sans"/>
                <a:cs typeface="DM Sans"/>
                <a:sym typeface="DM Sans"/>
              </a:rPr>
              <a:t> Two developers work together at one workstation. One types (the Driver) while the other reviews each line of code in real-time (the Navigator). They switch roles frequently.</a:t>
            </a:r>
          </a:p>
          <a:p>
            <a:pPr algn="l" marL="496569" indent="-248284" lvl="1">
              <a:lnSpc>
                <a:spcPts val="3702"/>
              </a:lnSpc>
              <a:buFont typeface="Arial"/>
              <a:buChar char="•"/>
            </a:pPr>
            <a:r>
              <a:rPr lang="en-US" b="true" sz="2299">
                <a:solidFill>
                  <a:srgbClr val="545454"/>
                </a:solidFill>
                <a:latin typeface="DM Sans Bold"/>
                <a:ea typeface="DM Sans Bold"/>
                <a:cs typeface="DM Sans Bold"/>
                <a:sym typeface="DM Sans Bold"/>
              </a:rPr>
              <a:t>Test-Driven Development (TDD):</a:t>
            </a:r>
            <a:r>
              <a:rPr lang="en-US" sz="2299">
                <a:solidFill>
                  <a:srgbClr val="545454"/>
                </a:solidFill>
                <a:latin typeface="DM Sans"/>
                <a:ea typeface="DM Sans"/>
                <a:cs typeface="DM Sans"/>
                <a:sym typeface="DM Sans"/>
              </a:rPr>
              <a:t> Before any feat</a:t>
            </a:r>
            <a:r>
              <a:rPr lang="en-US" sz="2299">
                <a:solidFill>
                  <a:srgbClr val="545454"/>
                </a:solidFill>
                <a:latin typeface="DM Sans"/>
                <a:ea typeface="DM Sans"/>
                <a:cs typeface="DM Sans"/>
                <a:sym typeface="DM Sans"/>
              </a:rPr>
              <a:t>ure is coded, an</a:t>
            </a:r>
            <a:r>
              <a:rPr lang="en-US" sz="2299">
                <a:solidFill>
                  <a:srgbClr val="545454"/>
                </a:solidFill>
                <a:latin typeface="DM Sans"/>
                <a:ea typeface="DM Sans"/>
                <a:cs typeface="DM Sans"/>
                <a:sym typeface="DM Sans"/>
              </a:rPr>
              <a:t> automated test is written that will fail (since the feature doesn't exist yet). The developer then writes the simplest code to make the test pass.</a:t>
            </a:r>
          </a:p>
          <a:p>
            <a:pPr algn="l" marL="496569" indent="-248284" lvl="1">
              <a:lnSpc>
                <a:spcPts val="3702"/>
              </a:lnSpc>
              <a:buFont typeface="Arial"/>
              <a:buChar char="•"/>
            </a:pPr>
            <a:r>
              <a:rPr lang="en-US" b="true" sz="2299">
                <a:solidFill>
                  <a:srgbClr val="545454"/>
                </a:solidFill>
                <a:latin typeface="DM Sans Bold"/>
                <a:ea typeface="DM Sans Bold"/>
                <a:cs typeface="DM Sans Bold"/>
                <a:sym typeface="DM Sans Bold"/>
              </a:rPr>
              <a:t>Continuous Integration:</a:t>
            </a:r>
            <a:r>
              <a:rPr lang="en-US" sz="2299">
                <a:solidFill>
                  <a:srgbClr val="545454"/>
                </a:solidFill>
                <a:latin typeface="DM Sans"/>
                <a:ea typeface="DM Sans"/>
                <a:cs typeface="DM Sans"/>
                <a:sym typeface="DM Sans"/>
              </a:rPr>
              <a:t> Constant rework/coding of the software.</a:t>
            </a:r>
          </a:p>
          <a:p>
            <a:pPr algn="l" marL="496569" indent="-248284" lvl="1">
              <a:lnSpc>
                <a:spcPts val="3702"/>
              </a:lnSpc>
              <a:buFont typeface="Arial"/>
              <a:buChar char="•"/>
            </a:pPr>
            <a:r>
              <a:rPr lang="en-US" b="true" sz="2299">
                <a:solidFill>
                  <a:srgbClr val="545454"/>
                </a:solidFill>
                <a:latin typeface="DM Sans Bold"/>
                <a:ea typeface="DM Sans Bold"/>
                <a:cs typeface="DM Sans Bold"/>
                <a:sym typeface="DM Sans Bold"/>
              </a:rPr>
              <a:t>Refactoring: </a:t>
            </a:r>
            <a:r>
              <a:rPr lang="en-US" sz="2299">
                <a:solidFill>
                  <a:srgbClr val="545454"/>
                </a:solidFill>
                <a:latin typeface="DM Sans"/>
                <a:ea typeface="DM Sans"/>
                <a:cs typeface="DM Sans"/>
                <a:sym typeface="DM Sans"/>
              </a:rPr>
              <a:t>The continuous process of restructuring existing code to make it cleaner and more efficient, without changing what the code actually does. </a:t>
            </a:r>
          </a:p>
          <a:p>
            <a:pPr algn="l" marL="496569" indent="-248284" lvl="1">
              <a:lnSpc>
                <a:spcPts val="3702"/>
              </a:lnSpc>
              <a:buFont typeface="Arial"/>
              <a:buChar char="•"/>
            </a:pPr>
            <a:r>
              <a:rPr lang="en-US" b="true" sz="2299">
                <a:solidFill>
                  <a:srgbClr val="545454"/>
                </a:solidFill>
                <a:latin typeface="DM Sans Bold"/>
                <a:ea typeface="DM Sans Bold"/>
                <a:cs typeface="DM Sans Bold"/>
                <a:sym typeface="DM Sans Bold"/>
              </a:rPr>
              <a:t>Small Releases: </a:t>
            </a:r>
            <a:r>
              <a:rPr lang="en-US" sz="2299">
                <a:solidFill>
                  <a:srgbClr val="545454"/>
                </a:solidFill>
                <a:latin typeface="DM Sans"/>
                <a:ea typeface="DM Sans"/>
                <a:cs typeface="DM Sans"/>
                <a:sym typeface="DM Sans"/>
              </a:rPr>
              <a:t>Instead of waiting months to release a massive update, XP teams release small, functional pieces of software every few weeks. This allows the customer to start using it early.</a:t>
            </a:r>
          </a:p>
          <a:p>
            <a:pPr algn="l" marL="496569" indent="-248284" lvl="1">
              <a:lnSpc>
                <a:spcPts val="3702"/>
              </a:lnSpc>
              <a:buFont typeface="Arial"/>
              <a:buChar char="•"/>
            </a:pPr>
            <a:r>
              <a:rPr lang="en-US" b="true" sz="2299">
                <a:solidFill>
                  <a:srgbClr val="545454"/>
                </a:solidFill>
                <a:latin typeface="DM Sans Bold"/>
                <a:ea typeface="DM Sans Bold"/>
                <a:cs typeface="DM Sans Bold"/>
                <a:sym typeface="DM Sans Bold"/>
              </a:rPr>
              <a:t>Collecti</a:t>
            </a:r>
            <a:r>
              <a:rPr lang="en-US" b="true" sz="2299">
                <a:solidFill>
                  <a:srgbClr val="545454"/>
                </a:solidFill>
                <a:latin typeface="DM Sans Bold"/>
                <a:ea typeface="DM Sans Bold"/>
                <a:cs typeface="DM Sans Bold"/>
                <a:sym typeface="DM Sans Bold"/>
              </a:rPr>
              <a:t>ve Code Ownership: </a:t>
            </a:r>
            <a:r>
              <a:rPr lang="en-US" sz="2299">
                <a:solidFill>
                  <a:srgbClr val="545454"/>
                </a:solidFill>
                <a:latin typeface="DM Sans"/>
                <a:ea typeface="DM Sans"/>
                <a:cs typeface="DM Sans"/>
                <a:sym typeface="DM Sans"/>
              </a:rPr>
              <a:t>The code does not belong to the person who wrote it; it belongs to the team. Anyone is allowed to go in and improve or fix any part of the codebase at any time.</a:t>
            </a:r>
          </a:p>
          <a:p>
            <a:pPr algn="l" marL="496569" indent="-248284" lvl="1">
              <a:lnSpc>
                <a:spcPts val="3702"/>
              </a:lnSpc>
              <a:buFont typeface="Arial"/>
              <a:buChar char="•"/>
            </a:pPr>
            <a:r>
              <a:rPr lang="en-US" b="true" sz="2299">
                <a:solidFill>
                  <a:srgbClr val="545454"/>
                </a:solidFill>
                <a:latin typeface="DM Sans Bold"/>
                <a:ea typeface="DM Sans Bold"/>
                <a:cs typeface="DM Sans Bold"/>
                <a:sym typeface="DM Sans Bold"/>
              </a:rPr>
              <a:t>Customer Tests</a:t>
            </a:r>
            <a:r>
              <a:rPr lang="en-US" sz="2299">
                <a:solidFill>
                  <a:srgbClr val="545454"/>
                </a:solidFill>
                <a:latin typeface="DM Sans"/>
                <a:ea typeface="DM Sans"/>
                <a:cs typeface="DM Sans"/>
                <a:sym typeface="DM Sans"/>
              </a:rPr>
              <a:t>: The customer writes specific scenarios to prove the software does what they asked for. If the software passes these tests, it is considered complete.</a:t>
            </a:r>
          </a:p>
          <a:p>
            <a:pPr algn="l" marL="496569" indent="-248284" lvl="1">
              <a:lnSpc>
                <a:spcPts val="3702"/>
              </a:lnSpc>
              <a:buFont typeface="Arial"/>
              <a:buChar char="•"/>
            </a:pPr>
            <a:r>
              <a:rPr lang="en-US" b="true" sz="2299">
                <a:solidFill>
                  <a:srgbClr val="545454"/>
                </a:solidFill>
                <a:latin typeface="DM Sans Bold"/>
                <a:ea typeface="DM Sans Bold"/>
                <a:cs typeface="DM Sans Bold"/>
                <a:sym typeface="DM Sans Bold"/>
              </a:rPr>
              <a:t>Sustainable Pace</a:t>
            </a:r>
            <a:r>
              <a:rPr lang="en-US" sz="2299">
                <a:solidFill>
                  <a:srgbClr val="545454"/>
                </a:solidFill>
                <a:latin typeface="DM Sans"/>
                <a:ea typeface="DM Sans"/>
                <a:cs typeface="DM Sans"/>
                <a:sym typeface="DM Sans"/>
              </a:rPr>
              <a:t>: XP strictly forbids mandatory overtime. Working long hours leads to burnout and buggy code. A well-rested team is a productive team.</a:t>
            </a:r>
          </a:p>
          <a:p>
            <a:pPr algn="l">
              <a:lnSpc>
                <a:spcPts val="1950"/>
              </a:lnSpc>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1430000"/>
          </a:xfrm>
          <a:custGeom>
            <a:avLst/>
            <a:gdLst/>
            <a:ahLst/>
            <a:cxnLst/>
            <a:rect r="r" b="b" t="t" l="l"/>
            <a:pathLst>
              <a:path h="11430000" w="18288000">
                <a:moveTo>
                  <a:pt x="0" y="0"/>
                </a:moveTo>
                <a:lnTo>
                  <a:pt x="18288000" y="0"/>
                </a:lnTo>
                <a:lnTo>
                  <a:pt x="18288000" y="11430000"/>
                </a:lnTo>
                <a:lnTo>
                  <a:pt x="0" y="11430000"/>
                </a:lnTo>
                <a:lnTo>
                  <a:pt x="0" y="0"/>
                </a:lnTo>
                <a:close/>
              </a:path>
            </a:pathLst>
          </a:custGeom>
          <a:blipFill>
            <a:blip r:embed="rId3"/>
            <a:stretch>
              <a:fillRect l="0" t="0" r="0" b="0"/>
            </a:stretch>
          </a:blipFill>
        </p:spPr>
      </p:sp>
      <p:sp>
        <p:nvSpPr>
          <p:cNvPr name="TextBox 3" id="3"/>
          <p:cNvSpPr txBox="true"/>
          <p:nvPr/>
        </p:nvSpPr>
        <p:spPr>
          <a:xfrm rot="0">
            <a:off x="798921" y="737973"/>
            <a:ext cx="6493192" cy="2057564"/>
          </a:xfrm>
          <a:prstGeom prst="rect">
            <a:avLst/>
          </a:prstGeom>
        </p:spPr>
        <p:txBody>
          <a:bodyPr anchor="t" rtlCol="false" tIns="0" lIns="0" bIns="0" rIns="0">
            <a:spAutoFit/>
          </a:bodyPr>
          <a:lstStyle/>
          <a:p>
            <a:pPr algn="l">
              <a:lnSpc>
                <a:spcPts val="5297"/>
              </a:lnSpc>
            </a:pPr>
            <a:r>
              <a:rPr lang="en-US" sz="5297" b="true">
                <a:solidFill>
                  <a:srgbClr val="1566A8"/>
                </a:solidFill>
                <a:latin typeface="HK Grotesk Semi-Bold"/>
                <a:ea typeface="HK Grotesk Semi-Bold"/>
                <a:cs typeface="HK Grotesk Semi-Bold"/>
                <a:sym typeface="HK Grotesk Semi-Bold"/>
              </a:rPr>
              <a:t>Life Cycle of Extreme Programming</a:t>
            </a:r>
          </a:p>
          <a:p>
            <a:pPr algn="l">
              <a:lnSpc>
                <a:spcPts val="5297"/>
              </a:lnSpc>
            </a:pPr>
          </a:p>
        </p:txBody>
      </p:sp>
      <p:sp>
        <p:nvSpPr>
          <p:cNvPr name="TextBox 4" id="4"/>
          <p:cNvSpPr txBox="true"/>
          <p:nvPr/>
        </p:nvSpPr>
        <p:spPr>
          <a:xfrm rot="0">
            <a:off x="8193822" y="4101686"/>
            <a:ext cx="2337204" cy="364222"/>
          </a:xfrm>
          <a:prstGeom prst="rect">
            <a:avLst/>
          </a:prstGeom>
        </p:spPr>
        <p:txBody>
          <a:bodyPr anchor="t" rtlCol="false" tIns="0" lIns="0" bIns="0" rIns="0">
            <a:spAutoFit/>
          </a:bodyPr>
          <a:lstStyle/>
          <a:p>
            <a:pPr algn="l">
              <a:lnSpc>
                <a:spcPts val="2714"/>
              </a:lnSpc>
            </a:pPr>
            <a:r>
              <a:rPr lang="en-US" b="true" sz="2714">
                <a:solidFill>
                  <a:srgbClr val="1566A8"/>
                </a:solidFill>
                <a:latin typeface="HK Grotesk Semi-Bold"/>
                <a:ea typeface="HK Grotesk Semi-Bold"/>
                <a:cs typeface="HK Grotesk Semi-Bold"/>
                <a:sym typeface="HK Grotesk Semi-Bold"/>
              </a:rPr>
              <a:t>(Requirements)</a:t>
            </a:r>
          </a:p>
        </p:txBody>
      </p:sp>
      <p:sp>
        <p:nvSpPr>
          <p:cNvPr name="TextBox 5" id="5"/>
          <p:cNvSpPr txBox="true"/>
          <p:nvPr/>
        </p:nvSpPr>
        <p:spPr>
          <a:xfrm rot="0">
            <a:off x="11923316" y="1945296"/>
            <a:ext cx="1559490" cy="364222"/>
          </a:xfrm>
          <a:prstGeom prst="rect">
            <a:avLst/>
          </a:prstGeom>
        </p:spPr>
        <p:txBody>
          <a:bodyPr anchor="t" rtlCol="false" tIns="0" lIns="0" bIns="0" rIns="0">
            <a:spAutoFit/>
          </a:bodyPr>
          <a:lstStyle/>
          <a:p>
            <a:pPr algn="l">
              <a:lnSpc>
                <a:spcPts val="2714"/>
              </a:lnSpc>
            </a:pPr>
            <a:r>
              <a:rPr lang="en-US" sz="2714" b="true">
                <a:solidFill>
                  <a:srgbClr val="1566A8"/>
                </a:solidFill>
                <a:latin typeface="HK Grotesk Semi-Bold"/>
                <a:ea typeface="HK Grotesk Semi-Bold"/>
                <a:cs typeface="HK Grotesk Semi-Bold"/>
                <a:sym typeface="HK Grotesk Semi-Bold"/>
              </a:rPr>
              <a:t>(Planning)</a:t>
            </a:r>
          </a:p>
        </p:txBody>
      </p:sp>
      <p:sp>
        <p:nvSpPr>
          <p:cNvPr name="TextBox 6" id="6"/>
          <p:cNvSpPr txBox="true"/>
          <p:nvPr/>
        </p:nvSpPr>
        <p:spPr>
          <a:xfrm rot="0">
            <a:off x="798921" y="5638800"/>
            <a:ext cx="8917010" cy="3453352"/>
          </a:xfrm>
          <a:prstGeom prst="rect">
            <a:avLst/>
          </a:prstGeom>
        </p:spPr>
        <p:txBody>
          <a:bodyPr anchor="t" rtlCol="false" tIns="0" lIns="0" bIns="0" rIns="0">
            <a:spAutoFit/>
          </a:bodyPr>
          <a:lstStyle/>
          <a:p>
            <a:pPr algn="l" marL="585618" indent="-292809" lvl="1">
              <a:lnSpc>
                <a:spcPts val="4068"/>
              </a:lnSpc>
              <a:buFont typeface="Arial"/>
              <a:buChar char="•"/>
            </a:pPr>
            <a:r>
              <a:rPr lang="en-US" b="true" sz="2712">
                <a:solidFill>
                  <a:srgbClr val="545454"/>
                </a:solidFill>
                <a:latin typeface="DM Sans Bold"/>
                <a:ea typeface="DM Sans Bold"/>
                <a:cs typeface="DM Sans Bold"/>
                <a:sym typeface="DM Sans Bold"/>
              </a:rPr>
              <a:t>Requirements:</a:t>
            </a:r>
            <a:r>
              <a:rPr lang="en-US" sz="2712">
                <a:solidFill>
                  <a:srgbClr val="545454"/>
                </a:solidFill>
                <a:latin typeface="DM Sans"/>
                <a:ea typeface="DM Sans"/>
                <a:cs typeface="DM Sans"/>
                <a:sym typeface="DM Sans"/>
              </a:rPr>
              <a:t> Gather user stories/requirements.</a:t>
            </a:r>
          </a:p>
          <a:p>
            <a:pPr algn="l" marL="585618" indent="-292809" lvl="1">
              <a:lnSpc>
                <a:spcPts val="4068"/>
              </a:lnSpc>
              <a:buFont typeface="Arial"/>
              <a:buChar char="•"/>
            </a:pPr>
            <a:r>
              <a:rPr lang="en-US" b="true" sz="2712">
                <a:solidFill>
                  <a:srgbClr val="545454"/>
                </a:solidFill>
                <a:latin typeface="DM Sans Bold"/>
                <a:ea typeface="DM Sans Bold"/>
                <a:cs typeface="DM Sans Bold"/>
                <a:sym typeface="DM Sans Bold"/>
              </a:rPr>
              <a:t>Planning: </a:t>
            </a:r>
            <a:r>
              <a:rPr lang="en-US" sz="2712">
                <a:solidFill>
                  <a:srgbClr val="545454"/>
                </a:solidFill>
                <a:latin typeface="DM Sans"/>
                <a:ea typeface="DM Sans"/>
                <a:cs typeface="DM Sans"/>
                <a:sym typeface="DM Sans"/>
              </a:rPr>
              <a:t>Prioritize and est</a:t>
            </a:r>
            <a:r>
              <a:rPr lang="en-US" sz="2712">
                <a:solidFill>
                  <a:srgbClr val="545454"/>
                </a:solidFill>
                <a:latin typeface="DM Sans"/>
                <a:ea typeface="DM Sans"/>
                <a:cs typeface="DM Sans"/>
                <a:sym typeface="DM Sans"/>
              </a:rPr>
              <a:t>i</a:t>
            </a:r>
            <a:r>
              <a:rPr lang="en-US" sz="2712">
                <a:solidFill>
                  <a:srgbClr val="545454"/>
                </a:solidFill>
                <a:latin typeface="DM Sans"/>
                <a:ea typeface="DM Sans"/>
                <a:cs typeface="DM Sans"/>
                <a:sym typeface="DM Sans"/>
              </a:rPr>
              <a:t>ma</a:t>
            </a:r>
            <a:r>
              <a:rPr lang="en-US" sz="2712">
                <a:solidFill>
                  <a:srgbClr val="545454"/>
                </a:solidFill>
                <a:latin typeface="DM Sans"/>
                <a:ea typeface="DM Sans"/>
                <a:cs typeface="DM Sans"/>
                <a:sym typeface="DM Sans"/>
              </a:rPr>
              <a:t>t</a:t>
            </a:r>
            <a:r>
              <a:rPr lang="en-US" sz="2712">
                <a:solidFill>
                  <a:srgbClr val="545454"/>
                </a:solidFill>
                <a:latin typeface="DM Sans"/>
                <a:ea typeface="DM Sans"/>
                <a:cs typeface="DM Sans"/>
                <a:sym typeface="DM Sans"/>
              </a:rPr>
              <a:t>e</a:t>
            </a:r>
            <a:r>
              <a:rPr lang="en-US" sz="2712">
                <a:solidFill>
                  <a:srgbClr val="545454"/>
                </a:solidFill>
                <a:latin typeface="DM Sans"/>
                <a:ea typeface="DM Sans"/>
                <a:cs typeface="DM Sans"/>
                <a:sym typeface="DM Sans"/>
              </a:rPr>
              <a:t> w</a:t>
            </a:r>
            <a:r>
              <a:rPr lang="en-US" sz="2712">
                <a:solidFill>
                  <a:srgbClr val="545454"/>
                </a:solidFill>
                <a:latin typeface="DM Sans"/>
                <a:ea typeface="DM Sans"/>
                <a:cs typeface="DM Sans"/>
                <a:sym typeface="DM Sans"/>
              </a:rPr>
              <a:t>ork.</a:t>
            </a:r>
          </a:p>
          <a:p>
            <a:pPr algn="l" marL="585618" indent="-292809" lvl="1">
              <a:lnSpc>
                <a:spcPts val="4068"/>
              </a:lnSpc>
              <a:buFont typeface="Arial"/>
              <a:buChar char="•"/>
            </a:pPr>
            <a:r>
              <a:rPr lang="en-US" b="true" sz="2712">
                <a:solidFill>
                  <a:srgbClr val="545454"/>
                </a:solidFill>
                <a:latin typeface="DM Sans Bold"/>
                <a:ea typeface="DM Sans Bold"/>
                <a:cs typeface="DM Sans Bold"/>
                <a:sym typeface="DM Sans Bold"/>
              </a:rPr>
              <a:t>Coding &amp; Testing:</a:t>
            </a:r>
            <a:r>
              <a:rPr lang="en-US" sz="2712">
                <a:solidFill>
                  <a:srgbClr val="545454"/>
                </a:solidFill>
                <a:latin typeface="DM Sans"/>
                <a:ea typeface="DM Sans"/>
                <a:cs typeface="DM Sans"/>
                <a:sym typeface="DM Sans"/>
              </a:rPr>
              <a:t> TDD and Pair Programming.</a:t>
            </a:r>
          </a:p>
          <a:p>
            <a:pPr algn="l" marL="585618" indent="-292809" lvl="1">
              <a:lnSpc>
                <a:spcPts val="4068"/>
              </a:lnSpc>
              <a:buFont typeface="Arial"/>
              <a:buChar char="•"/>
            </a:pPr>
            <a:r>
              <a:rPr lang="en-US" b="true" sz="2712">
                <a:solidFill>
                  <a:srgbClr val="545454"/>
                </a:solidFill>
                <a:latin typeface="DM Sans Bold"/>
                <a:ea typeface="DM Sans Bold"/>
                <a:cs typeface="DM Sans Bold"/>
                <a:sym typeface="DM Sans Bold"/>
              </a:rPr>
              <a:t>Small Releases:</a:t>
            </a:r>
            <a:r>
              <a:rPr lang="en-US" sz="2712">
                <a:solidFill>
                  <a:srgbClr val="545454"/>
                </a:solidFill>
                <a:latin typeface="DM Sans"/>
                <a:ea typeface="DM Sans"/>
                <a:cs typeface="DM Sans"/>
                <a:sym typeface="DM Sans"/>
              </a:rPr>
              <a:t> Deliver to the customer.</a:t>
            </a:r>
          </a:p>
          <a:p>
            <a:pPr algn="l" marL="585618" indent="-292809" lvl="1">
              <a:lnSpc>
                <a:spcPts val="4068"/>
              </a:lnSpc>
              <a:buFont typeface="Arial"/>
              <a:buChar char="•"/>
            </a:pPr>
            <a:r>
              <a:rPr lang="en-US" b="true" sz="2712">
                <a:solidFill>
                  <a:srgbClr val="545454"/>
                </a:solidFill>
                <a:latin typeface="DM Sans Bold"/>
                <a:ea typeface="DM Sans Bold"/>
                <a:cs typeface="DM Sans Bold"/>
                <a:sym typeface="DM Sans Bold"/>
              </a:rPr>
              <a:t>Repeat:</a:t>
            </a:r>
            <a:r>
              <a:rPr lang="en-US" sz="2712">
                <a:solidFill>
                  <a:srgbClr val="545454"/>
                </a:solidFill>
                <a:latin typeface="DM Sans"/>
                <a:ea typeface="DM Sans"/>
                <a:cs typeface="DM Sans"/>
                <a:sym typeface="DM Sans"/>
              </a:rPr>
              <a:t> The cycle loops back to coding based on new feedback/changes.</a:t>
            </a:r>
          </a:p>
          <a:p>
            <a:pPr algn="l">
              <a:lnSpc>
                <a:spcPts val="3013"/>
              </a:lnSpc>
            </a:pPr>
          </a:p>
        </p:txBody>
      </p:sp>
    </p:spTree>
  </p:cSld>
  <p:clrMapOvr>
    <a:masterClrMapping/>
  </p:clrMapOvr>
</p:sld>
</file>

<file path=ppt/slides/slide2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720297"/>
            <a:ext cx="17557948" cy="1384810"/>
          </a:xfrm>
          <a:prstGeom prst="rect">
            <a:avLst/>
          </a:prstGeom>
        </p:spPr>
        <p:txBody>
          <a:bodyPr anchor="t" rtlCol="false" tIns="0" lIns="0" bIns="0" rIns="0">
            <a:spAutoFit/>
          </a:bodyPr>
          <a:lstStyle/>
          <a:p>
            <a:pPr algn="l">
              <a:lnSpc>
                <a:spcPts val="5297"/>
              </a:lnSpc>
            </a:pPr>
            <a:r>
              <a:rPr lang="en-US" sz="5297" b="true">
                <a:solidFill>
                  <a:srgbClr val="1566A8"/>
                </a:solidFill>
                <a:latin typeface="HK Grotesk Semi-Bold"/>
                <a:ea typeface="HK Grotesk Semi-Bold"/>
                <a:cs typeface="HK Grotesk Semi-Bold"/>
                <a:sym typeface="HK Grotesk Semi-Bold"/>
              </a:rPr>
              <a:t>Benefits &amp; Challenges of Extreme Programming</a:t>
            </a:r>
          </a:p>
          <a:p>
            <a:pPr algn="l">
              <a:lnSpc>
                <a:spcPts val="5297"/>
              </a:lnSpc>
            </a:pPr>
          </a:p>
        </p:txBody>
      </p:sp>
      <p:sp>
        <p:nvSpPr>
          <p:cNvPr name="TextBox 3" id="3"/>
          <p:cNvSpPr txBox="true"/>
          <p:nvPr/>
        </p:nvSpPr>
        <p:spPr>
          <a:xfrm rot="0">
            <a:off x="1028700" y="2238262"/>
            <a:ext cx="16230600" cy="6860604"/>
          </a:xfrm>
          <a:prstGeom prst="rect">
            <a:avLst/>
          </a:prstGeom>
        </p:spPr>
        <p:txBody>
          <a:bodyPr anchor="t" rtlCol="false" tIns="0" lIns="0" bIns="0" rIns="0">
            <a:spAutoFit/>
          </a:bodyPr>
          <a:lstStyle/>
          <a:p>
            <a:pPr algn="l">
              <a:lnSpc>
                <a:spcPts val="4668"/>
              </a:lnSpc>
            </a:pPr>
            <a:r>
              <a:rPr lang="en-US" sz="2899" b="true">
                <a:solidFill>
                  <a:srgbClr val="545454"/>
                </a:solidFill>
                <a:latin typeface="DM Sans Bold"/>
                <a:ea typeface="DM Sans Bold"/>
                <a:cs typeface="DM Sans Bold"/>
                <a:sym typeface="DM Sans Bold"/>
              </a:rPr>
              <a:t>Benefi</a:t>
            </a:r>
            <a:r>
              <a:rPr lang="en-US" sz="2899" b="true">
                <a:solidFill>
                  <a:srgbClr val="545454"/>
                </a:solidFill>
                <a:latin typeface="DM Sans Bold"/>
                <a:ea typeface="DM Sans Bold"/>
                <a:cs typeface="DM Sans Bold"/>
                <a:sym typeface="DM Sans Bold"/>
              </a:rPr>
              <a:t>ts:</a:t>
            </a:r>
          </a:p>
          <a:p>
            <a:pPr algn="l" marL="626106" indent="-313053" lvl="1">
              <a:lnSpc>
                <a:spcPts val="4668"/>
              </a:lnSpc>
              <a:buFont typeface="Arial"/>
              <a:buChar char="•"/>
            </a:pPr>
            <a:r>
              <a:rPr lang="en-US" sz="2899">
                <a:solidFill>
                  <a:srgbClr val="545454"/>
                </a:solidFill>
                <a:latin typeface="DM Sans"/>
                <a:ea typeface="DM Sans"/>
                <a:cs typeface="DM Sans"/>
                <a:sym typeface="DM Sans"/>
              </a:rPr>
              <a:t>Higher Code Quality (due to TDD and p</a:t>
            </a:r>
            <a:r>
              <a:rPr lang="en-US" sz="2899">
                <a:solidFill>
                  <a:srgbClr val="545454"/>
                </a:solidFill>
                <a:latin typeface="DM Sans"/>
                <a:ea typeface="DM Sans"/>
                <a:cs typeface="DM Sans"/>
                <a:sym typeface="DM Sans"/>
              </a:rPr>
              <a:t>air </a:t>
            </a:r>
            <a:r>
              <a:rPr lang="en-US" sz="2899">
                <a:solidFill>
                  <a:srgbClr val="545454"/>
                </a:solidFill>
                <a:latin typeface="DM Sans"/>
                <a:ea typeface="DM Sans"/>
                <a:cs typeface="DM Sans"/>
                <a:sym typeface="DM Sans"/>
              </a:rPr>
              <a:t>p</a:t>
            </a:r>
            <a:r>
              <a:rPr lang="en-US" sz="2899">
                <a:solidFill>
                  <a:srgbClr val="545454"/>
                </a:solidFill>
                <a:latin typeface="DM Sans"/>
                <a:ea typeface="DM Sans"/>
                <a:cs typeface="DM Sans"/>
                <a:sym typeface="DM Sans"/>
              </a:rPr>
              <a:t>rogramming</a:t>
            </a:r>
            <a:r>
              <a:rPr lang="en-US" sz="2899">
                <a:solidFill>
                  <a:srgbClr val="545454"/>
                </a:solidFill>
                <a:latin typeface="DM Sans"/>
                <a:ea typeface="DM Sans"/>
                <a:cs typeface="DM Sans"/>
                <a:sym typeface="DM Sans"/>
              </a:rPr>
              <a:t>).</a:t>
            </a:r>
          </a:p>
          <a:p>
            <a:pPr algn="l" marL="626106" indent="-313053" lvl="1">
              <a:lnSpc>
                <a:spcPts val="4668"/>
              </a:lnSpc>
              <a:buFont typeface="Arial"/>
              <a:buChar char="•"/>
            </a:pPr>
            <a:r>
              <a:rPr lang="en-US" sz="2899">
                <a:solidFill>
                  <a:srgbClr val="545454"/>
                </a:solidFill>
                <a:latin typeface="DM Sans"/>
                <a:ea typeface="DM Sans"/>
                <a:cs typeface="DM Sans"/>
                <a:sym typeface="DM Sans"/>
              </a:rPr>
              <a:t>Faster response to change</a:t>
            </a:r>
            <a:r>
              <a:rPr lang="en-US" sz="2899">
                <a:solidFill>
                  <a:srgbClr val="545454"/>
                </a:solidFill>
                <a:latin typeface="DM Sans"/>
                <a:ea typeface="DM Sans"/>
                <a:cs typeface="DM Sans"/>
                <a:sym typeface="DM Sans"/>
              </a:rPr>
              <a:t> (</a:t>
            </a:r>
            <a:r>
              <a:rPr lang="en-US" sz="2899">
                <a:solidFill>
                  <a:srgbClr val="545454"/>
                </a:solidFill>
                <a:latin typeface="DM Sans"/>
                <a:ea typeface="DM Sans"/>
                <a:cs typeface="DM Sans"/>
                <a:sym typeface="DM Sans"/>
              </a:rPr>
              <a:t>short cycles).</a:t>
            </a:r>
          </a:p>
          <a:p>
            <a:pPr algn="l" marL="626106" indent="-313053" lvl="1">
              <a:lnSpc>
                <a:spcPts val="4668"/>
              </a:lnSpc>
              <a:buFont typeface="Arial"/>
              <a:buChar char="•"/>
            </a:pPr>
            <a:r>
              <a:rPr lang="en-US" sz="2899">
                <a:solidFill>
                  <a:srgbClr val="545454"/>
                </a:solidFill>
                <a:latin typeface="DM Sans"/>
                <a:ea typeface="DM Sans"/>
                <a:cs typeface="DM Sans"/>
                <a:sym typeface="DM Sans"/>
              </a:rPr>
              <a:t>Improved collaboration</a:t>
            </a:r>
          </a:p>
          <a:p>
            <a:pPr algn="l" marL="626106" indent="-313053" lvl="1">
              <a:lnSpc>
                <a:spcPts val="4668"/>
              </a:lnSpc>
              <a:buFont typeface="Arial"/>
              <a:buChar char="•"/>
            </a:pPr>
            <a:r>
              <a:rPr lang="en-US" sz="2899">
                <a:solidFill>
                  <a:srgbClr val="545454"/>
                </a:solidFill>
                <a:latin typeface="DM Sans"/>
                <a:ea typeface="DM Sans"/>
                <a:cs typeface="DM Sans"/>
                <a:sym typeface="DM Sans"/>
              </a:rPr>
              <a:t>Increased customer satisfaction (th</a:t>
            </a:r>
            <a:r>
              <a:rPr lang="en-US" sz="2899">
                <a:solidFill>
                  <a:srgbClr val="545454"/>
                </a:solidFill>
                <a:latin typeface="DM Sans"/>
                <a:ea typeface="DM Sans"/>
                <a:cs typeface="DM Sans"/>
                <a:sym typeface="DM Sans"/>
              </a:rPr>
              <a:t>ey</a:t>
            </a:r>
            <a:r>
              <a:rPr lang="en-US" sz="2899">
                <a:solidFill>
                  <a:srgbClr val="545454"/>
                </a:solidFill>
                <a:latin typeface="DM Sans"/>
                <a:ea typeface="DM Sans"/>
                <a:cs typeface="DM Sans"/>
                <a:sym typeface="DM Sans"/>
              </a:rPr>
              <a:t> see progress c</a:t>
            </a:r>
            <a:r>
              <a:rPr lang="en-US" sz="2899">
                <a:solidFill>
                  <a:srgbClr val="545454"/>
                </a:solidFill>
                <a:latin typeface="DM Sans"/>
                <a:ea typeface="DM Sans"/>
                <a:cs typeface="DM Sans"/>
                <a:sym typeface="DM Sans"/>
              </a:rPr>
              <a:t>o</a:t>
            </a:r>
            <a:r>
              <a:rPr lang="en-US" sz="2899">
                <a:solidFill>
                  <a:srgbClr val="545454"/>
                </a:solidFill>
                <a:latin typeface="DM Sans"/>
                <a:ea typeface="DM Sans"/>
                <a:cs typeface="DM Sans"/>
                <a:sym typeface="DM Sans"/>
              </a:rPr>
              <a:t>nstantly).</a:t>
            </a:r>
          </a:p>
          <a:p>
            <a:pPr algn="l">
              <a:lnSpc>
                <a:spcPts val="4668"/>
              </a:lnSpc>
            </a:pPr>
          </a:p>
          <a:p>
            <a:pPr algn="l">
              <a:lnSpc>
                <a:spcPts val="4668"/>
              </a:lnSpc>
            </a:pPr>
            <a:r>
              <a:rPr lang="en-US" sz="2899" b="true">
                <a:solidFill>
                  <a:srgbClr val="545454"/>
                </a:solidFill>
                <a:latin typeface="DM Sans Bold"/>
                <a:ea typeface="DM Sans Bold"/>
                <a:cs typeface="DM Sans Bold"/>
                <a:sym typeface="DM Sans Bold"/>
              </a:rPr>
              <a:t>Challenges:</a:t>
            </a:r>
          </a:p>
          <a:p>
            <a:pPr algn="l" marL="626106" indent="-313053" lvl="1">
              <a:lnSpc>
                <a:spcPts val="4668"/>
              </a:lnSpc>
              <a:buFont typeface="Arial"/>
              <a:buChar char="•"/>
            </a:pPr>
            <a:r>
              <a:rPr lang="en-US" sz="2899">
                <a:solidFill>
                  <a:srgbClr val="545454"/>
                </a:solidFill>
                <a:latin typeface="DM Sans"/>
                <a:ea typeface="DM Sans"/>
                <a:cs typeface="DM Sans"/>
                <a:sym typeface="DM Sans"/>
              </a:rPr>
              <a:t>Costly rework (if requirements change too drastically).</a:t>
            </a:r>
          </a:p>
          <a:p>
            <a:pPr algn="l" marL="626106" indent="-313053" lvl="1">
              <a:lnSpc>
                <a:spcPts val="4668"/>
              </a:lnSpc>
              <a:buFont typeface="Arial"/>
              <a:buChar char="•"/>
            </a:pPr>
            <a:r>
              <a:rPr lang="en-US" sz="2899">
                <a:solidFill>
                  <a:srgbClr val="545454"/>
                </a:solidFill>
                <a:latin typeface="DM Sans"/>
                <a:ea typeface="DM Sans"/>
                <a:cs typeface="DM Sans"/>
                <a:sym typeface="DM Sans"/>
              </a:rPr>
              <a:t>Better for small teams (hard to scale up).</a:t>
            </a:r>
          </a:p>
          <a:p>
            <a:pPr algn="l" marL="626106" indent="-313053" lvl="1">
              <a:lnSpc>
                <a:spcPts val="4668"/>
              </a:lnSpc>
              <a:buFont typeface="Arial"/>
              <a:buChar char="•"/>
            </a:pPr>
            <a:r>
              <a:rPr lang="en-US" sz="2899">
                <a:solidFill>
                  <a:srgbClr val="545454"/>
                </a:solidFill>
                <a:latin typeface="DM Sans"/>
                <a:ea typeface="DM Sans"/>
                <a:cs typeface="DM Sans"/>
                <a:sym typeface="DM Sans"/>
              </a:rPr>
              <a:t>Pair programming discomfort (personality clashes, etc).</a:t>
            </a:r>
          </a:p>
          <a:p>
            <a:pPr algn="l" marL="626106" indent="-313053" lvl="1">
              <a:lnSpc>
                <a:spcPts val="4668"/>
              </a:lnSpc>
              <a:buFont typeface="Arial"/>
              <a:buChar char="•"/>
            </a:pPr>
            <a:r>
              <a:rPr lang="en-US" sz="2899">
                <a:solidFill>
                  <a:srgbClr val="545454"/>
                </a:solidFill>
                <a:latin typeface="DM Sans"/>
                <a:ea typeface="DM Sans"/>
                <a:cs typeface="DM Sans"/>
                <a:sym typeface="DM Sans"/>
              </a:rPr>
              <a:t>Requires a lot of discipline (cutting corners breaks the system).</a:t>
            </a:r>
          </a:p>
          <a:p>
            <a:pPr algn="l">
              <a:lnSpc>
                <a:spcPts val="2850"/>
              </a:lnSpc>
            </a:pPr>
          </a:p>
        </p:txBody>
      </p:sp>
    </p:spTree>
  </p:cSld>
  <p:clrMapOvr>
    <a:masterClrMapping/>
  </p:clrMapOvr>
</p:sld>
</file>

<file path=ppt/slides/slide2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759558" y="834692"/>
            <a:ext cx="848550" cy="453402"/>
          </a:xfrm>
          <a:prstGeom prst="rect">
            <a:avLst/>
          </a:prstGeom>
        </p:spPr>
        <p:txBody>
          <a:bodyPr anchor="t" rtlCol="false" tIns="0" lIns="0" bIns="0" rIns="0">
            <a:spAutoFit/>
          </a:bodyPr>
          <a:lstStyle/>
          <a:p>
            <a:pPr algn="l">
              <a:lnSpc>
                <a:spcPts val="1731"/>
              </a:lnSpc>
            </a:pPr>
            <a:r>
              <a:rPr lang="en-US" sz="1731" b="true">
                <a:solidFill>
                  <a:srgbClr val="FFFFFF"/>
                </a:solidFill>
                <a:latin typeface="HK Grotesk Medium"/>
                <a:ea typeface="HK Grotesk Medium"/>
                <a:cs typeface="HK Grotesk Medium"/>
                <a:sym typeface="HK Grotesk Medium"/>
              </a:rPr>
              <a:t>YOUR</a:t>
            </a:r>
          </a:p>
          <a:p>
            <a:pPr algn="l">
              <a:lnSpc>
                <a:spcPts val="1731"/>
              </a:lnSpc>
            </a:pPr>
            <a:r>
              <a:rPr lang="en-US" b="true" sz="1731">
                <a:solidFill>
                  <a:srgbClr val="FFFFFF"/>
                </a:solidFill>
                <a:latin typeface="HK Grotesk Medium"/>
                <a:ea typeface="HK Grotesk Medium"/>
                <a:cs typeface="HK Grotesk Medium"/>
                <a:sym typeface="HK Grotesk Medium"/>
              </a:rPr>
              <a:t>LOGO</a:t>
            </a:r>
          </a:p>
        </p:txBody>
      </p:sp>
      <p:sp>
        <p:nvSpPr>
          <p:cNvPr name="TextBox 3" id="3"/>
          <p:cNvSpPr txBox="true"/>
          <p:nvPr/>
        </p:nvSpPr>
        <p:spPr>
          <a:xfrm rot="0">
            <a:off x="1028700" y="1373819"/>
            <a:ext cx="8010949" cy="2483481"/>
          </a:xfrm>
          <a:prstGeom prst="rect">
            <a:avLst/>
          </a:prstGeom>
        </p:spPr>
        <p:txBody>
          <a:bodyPr anchor="t" rtlCol="false" tIns="0" lIns="0" bIns="0" rIns="0">
            <a:spAutoFit/>
          </a:bodyPr>
          <a:lstStyle/>
          <a:p>
            <a:pPr algn="ctr">
              <a:lnSpc>
                <a:spcPts val="9679"/>
              </a:lnSpc>
            </a:pPr>
            <a:r>
              <a:rPr lang="en-US" sz="8799">
                <a:solidFill>
                  <a:srgbClr val="1566A8"/>
                </a:solidFill>
                <a:latin typeface="Anton"/>
                <a:ea typeface="Anton"/>
                <a:cs typeface="Anton"/>
                <a:sym typeface="Anton"/>
              </a:rPr>
              <a:t>Scaling Agile Method</a:t>
            </a:r>
          </a:p>
        </p:txBody>
      </p:sp>
      <p:sp>
        <p:nvSpPr>
          <p:cNvPr name="TextBox 4" id="4"/>
          <p:cNvSpPr txBox="true"/>
          <p:nvPr/>
        </p:nvSpPr>
        <p:spPr>
          <a:xfrm rot="0">
            <a:off x="9144000" y="825167"/>
            <a:ext cx="8286504" cy="3787750"/>
          </a:xfrm>
          <a:prstGeom prst="rect">
            <a:avLst/>
          </a:prstGeom>
        </p:spPr>
        <p:txBody>
          <a:bodyPr anchor="t" rtlCol="false" tIns="0" lIns="0" bIns="0" rIns="0">
            <a:spAutoFit/>
          </a:bodyPr>
          <a:lstStyle/>
          <a:p>
            <a:pPr algn="just">
              <a:lnSpc>
                <a:spcPts val="3297"/>
              </a:lnSpc>
            </a:pPr>
            <a:r>
              <a:rPr lang="en-US" sz="2997">
                <a:solidFill>
                  <a:srgbClr val="128AA8"/>
                </a:solidFill>
                <a:latin typeface="HK Grotesk"/>
                <a:ea typeface="HK Grotesk"/>
                <a:cs typeface="HK Grotesk"/>
                <a:sym typeface="HK Grotesk"/>
              </a:rPr>
              <a:t>Scaling Agile refers to applying Agile principles and practices across multiple teams, large projects, or entire organizations, instead of just a single small team.</a:t>
            </a:r>
          </a:p>
          <a:p>
            <a:pPr algn="just">
              <a:lnSpc>
                <a:spcPts val="3297"/>
              </a:lnSpc>
            </a:pPr>
          </a:p>
          <a:p>
            <a:pPr algn="just">
              <a:lnSpc>
                <a:spcPts val="3297"/>
              </a:lnSpc>
            </a:pPr>
            <a:r>
              <a:rPr lang="en-US" sz="2997">
                <a:solidFill>
                  <a:srgbClr val="128AA8"/>
                </a:solidFill>
                <a:latin typeface="HK Grotesk"/>
                <a:ea typeface="HK Grotesk"/>
                <a:cs typeface="HK Grotesk"/>
                <a:sym typeface="HK Grotesk"/>
              </a:rPr>
              <a:t>Compared to smaller-scale scrum, Scaling agile Methods are harder to execute due to its nature of being used for larger companies with complex and very detailed needs.</a:t>
            </a:r>
          </a:p>
        </p:txBody>
      </p:sp>
      <p:sp>
        <p:nvSpPr>
          <p:cNvPr name="TextBox 5" id="5"/>
          <p:cNvSpPr txBox="true"/>
          <p:nvPr/>
        </p:nvSpPr>
        <p:spPr>
          <a:xfrm rot="0">
            <a:off x="1028700" y="5229225"/>
            <a:ext cx="15871326" cy="1254756"/>
          </a:xfrm>
          <a:prstGeom prst="rect">
            <a:avLst/>
          </a:prstGeom>
        </p:spPr>
        <p:txBody>
          <a:bodyPr anchor="t" rtlCol="false" tIns="0" lIns="0" bIns="0" rIns="0">
            <a:spAutoFit/>
          </a:bodyPr>
          <a:lstStyle/>
          <a:p>
            <a:pPr algn="ctr">
              <a:lnSpc>
                <a:spcPts val="9679"/>
              </a:lnSpc>
            </a:pPr>
            <a:r>
              <a:rPr lang="en-US" sz="8799">
                <a:solidFill>
                  <a:srgbClr val="1566A8"/>
                </a:solidFill>
                <a:latin typeface="Anton"/>
                <a:ea typeface="Anton"/>
                <a:cs typeface="Anton"/>
                <a:sym typeface="Anton"/>
              </a:rPr>
              <a:t>Some Sample Frameworks Include</a:t>
            </a:r>
          </a:p>
        </p:txBody>
      </p:sp>
      <p:sp>
        <p:nvSpPr>
          <p:cNvPr name="TextBox 6" id="6"/>
          <p:cNvSpPr txBox="true"/>
          <p:nvPr/>
        </p:nvSpPr>
        <p:spPr>
          <a:xfrm rot="0">
            <a:off x="551073" y="7272448"/>
            <a:ext cx="9647217" cy="720725"/>
          </a:xfrm>
          <a:prstGeom prst="rect">
            <a:avLst/>
          </a:prstGeom>
        </p:spPr>
        <p:txBody>
          <a:bodyPr anchor="t" rtlCol="false" tIns="0" lIns="0" bIns="0" rIns="0">
            <a:spAutoFit/>
          </a:bodyPr>
          <a:lstStyle/>
          <a:p>
            <a:pPr algn="ctr">
              <a:lnSpc>
                <a:spcPts val="5500"/>
              </a:lnSpc>
            </a:pPr>
            <a:r>
              <a:rPr lang="en-US" b="true" sz="5000">
                <a:solidFill>
                  <a:srgbClr val="128AA8"/>
                </a:solidFill>
                <a:latin typeface="HK Grotesk Bold"/>
                <a:ea typeface="HK Grotesk Bold"/>
                <a:cs typeface="HK Grotesk Bold"/>
                <a:sym typeface="HK Grotesk Bold"/>
              </a:rPr>
              <a:t>SAF</a:t>
            </a:r>
            <a:r>
              <a:rPr lang="en-US" b="true" sz="5000">
                <a:solidFill>
                  <a:srgbClr val="128AA8"/>
                </a:solidFill>
                <a:latin typeface="HK Grotesk Bold"/>
                <a:ea typeface="HK Grotesk Bold"/>
                <a:cs typeface="HK Grotesk Bold"/>
                <a:sym typeface="HK Grotesk Bold"/>
              </a:rPr>
              <a:t>e (Scaled Agile Framework)</a:t>
            </a:r>
          </a:p>
        </p:txBody>
      </p:sp>
      <p:sp>
        <p:nvSpPr>
          <p:cNvPr name="TextBox 7" id="7"/>
          <p:cNvSpPr txBox="true"/>
          <p:nvPr/>
        </p:nvSpPr>
        <p:spPr>
          <a:xfrm rot="0">
            <a:off x="10142162" y="8564673"/>
            <a:ext cx="6290180" cy="720725"/>
          </a:xfrm>
          <a:prstGeom prst="rect">
            <a:avLst/>
          </a:prstGeom>
        </p:spPr>
        <p:txBody>
          <a:bodyPr anchor="t" rtlCol="false" tIns="0" lIns="0" bIns="0" rIns="0">
            <a:spAutoFit/>
          </a:bodyPr>
          <a:lstStyle/>
          <a:p>
            <a:pPr algn="ctr">
              <a:lnSpc>
                <a:spcPts val="5500"/>
              </a:lnSpc>
            </a:pPr>
            <a:r>
              <a:rPr lang="en-US" b="true" sz="5000">
                <a:solidFill>
                  <a:srgbClr val="128AA8"/>
                </a:solidFill>
                <a:latin typeface="HK Grotesk Bold"/>
                <a:ea typeface="HK Grotesk Bold"/>
                <a:cs typeface="HK Grotesk Bold"/>
                <a:sym typeface="HK Grotesk Bold"/>
              </a:rPr>
              <a:t>Scrum@</a:t>
            </a:r>
            <a:r>
              <a:rPr lang="en-US" b="true" sz="5000">
                <a:solidFill>
                  <a:srgbClr val="128AA8"/>
                </a:solidFill>
                <a:latin typeface="HK Grotesk Bold"/>
                <a:ea typeface="HK Grotesk Bold"/>
                <a:cs typeface="HK Grotesk Bold"/>
                <a:sym typeface="HK Grotesk Bold"/>
              </a:rPr>
              <a:t>Scale (S@S)</a:t>
            </a:r>
          </a:p>
        </p:txBody>
      </p:sp>
      <p:sp>
        <p:nvSpPr>
          <p:cNvPr name="TextBox 8" id="8"/>
          <p:cNvSpPr txBox="true"/>
          <p:nvPr/>
        </p:nvSpPr>
        <p:spPr>
          <a:xfrm rot="0">
            <a:off x="10142162" y="7272448"/>
            <a:ext cx="6290180" cy="720725"/>
          </a:xfrm>
          <a:prstGeom prst="rect">
            <a:avLst/>
          </a:prstGeom>
        </p:spPr>
        <p:txBody>
          <a:bodyPr anchor="t" rtlCol="false" tIns="0" lIns="0" bIns="0" rIns="0">
            <a:spAutoFit/>
          </a:bodyPr>
          <a:lstStyle/>
          <a:p>
            <a:pPr algn="ctr">
              <a:lnSpc>
                <a:spcPts val="5500"/>
              </a:lnSpc>
            </a:pPr>
            <a:r>
              <a:rPr lang="en-US" b="true" sz="5000">
                <a:solidFill>
                  <a:srgbClr val="128AA8"/>
                </a:solidFill>
                <a:latin typeface="HK Grotesk Bold"/>
                <a:ea typeface="HK Grotesk Bold"/>
                <a:cs typeface="HK Grotesk Bold"/>
                <a:sym typeface="HK Grotesk Bold"/>
              </a:rPr>
              <a:t>N</a:t>
            </a:r>
            <a:r>
              <a:rPr lang="en-US" b="true" sz="5000">
                <a:solidFill>
                  <a:srgbClr val="128AA8"/>
                </a:solidFill>
                <a:latin typeface="HK Grotesk Bold"/>
                <a:ea typeface="HK Grotesk Bold"/>
                <a:cs typeface="HK Grotesk Bold"/>
                <a:sym typeface="HK Grotesk Bold"/>
              </a:rPr>
              <a:t>exus Framework</a:t>
            </a:r>
          </a:p>
        </p:txBody>
      </p:sp>
      <p:sp>
        <p:nvSpPr>
          <p:cNvPr name="TextBox 9" id="9"/>
          <p:cNvSpPr txBox="true"/>
          <p:nvPr/>
        </p:nvSpPr>
        <p:spPr>
          <a:xfrm rot="0">
            <a:off x="1028700" y="8537575"/>
            <a:ext cx="8691962" cy="720725"/>
          </a:xfrm>
          <a:prstGeom prst="rect">
            <a:avLst/>
          </a:prstGeom>
        </p:spPr>
        <p:txBody>
          <a:bodyPr anchor="t" rtlCol="false" tIns="0" lIns="0" bIns="0" rIns="0">
            <a:spAutoFit/>
          </a:bodyPr>
          <a:lstStyle/>
          <a:p>
            <a:pPr algn="ctr">
              <a:lnSpc>
                <a:spcPts val="5500"/>
              </a:lnSpc>
            </a:pPr>
            <a:r>
              <a:rPr lang="en-US" b="true" sz="5000">
                <a:solidFill>
                  <a:srgbClr val="128AA8"/>
                </a:solidFill>
                <a:latin typeface="HK Grotesk Bold"/>
                <a:ea typeface="HK Grotesk Bold"/>
                <a:cs typeface="HK Grotesk Bold"/>
                <a:sym typeface="HK Grotesk Bold"/>
              </a:rPr>
              <a:t>L</a:t>
            </a:r>
            <a:r>
              <a:rPr lang="en-US" b="true" sz="5000">
                <a:solidFill>
                  <a:srgbClr val="128AA8"/>
                </a:solidFill>
                <a:latin typeface="HK Grotesk Bold"/>
                <a:ea typeface="HK Grotesk Bold"/>
                <a:cs typeface="HK Grotesk Bold"/>
                <a:sym typeface="HK Grotesk Bold"/>
              </a:rPr>
              <a:t>eSS (Large-Scale Scrum)</a:t>
            </a:r>
          </a:p>
        </p:txBody>
      </p:sp>
    </p:spTree>
  </p:cSld>
  <p:clrMapOvr>
    <a:masterClrMapping/>
  </p:clrMapOvr>
</p:sld>
</file>

<file path=ppt/slides/slide2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0" y="0"/>
          <a:ext cx="18288000" cy="10316578"/>
        </p:xfrm>
        <a:graphic>
          <a:graphicData uri="http://schemas.openxmlformats.org/drawingml/2006/table">
            <a:tbl>
              <a:tblPr/>
              <a:tblGrid>
                <a:gridCol w="4531039"/>
                <a:gridCol w="5362829"/>
                <a:gridCol w="8394132"/>
              </a:tblGrid>
              <a:tr h="1539209">
                <a:tc>
                  <a:txBody>
                    <a:bodyPr anchor="t" rtlCol="false"/>
                    <a:lstStyle/>
                    <a:p>
                      <a:pPr algn="ctr">
                        <a:lnSpc>
                          <a:spcPts val="7699"/>
                        </a:lnSpc>
                        <a:defRPr/>
                      </a:pPr>
                      <a:r>
                        <a:rPr lang="en-US" sz="5499" b="true">
                          <a:solidFill>
                            <a:srgbClr val="000000"/>
                          </a:solidFill>
                          <a:latin typeface="HK Grotesk Bold"/>
                          <a:ea typeface="HK Grotesk Bold"/>
                          <a:cs typeface="HK Grotesk Bold"/>
                          <a:sym typeface="HK Grotesk Bold"/>
                        </a:rPr>
                        <a:t>Types</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CDD6FF"/>
                    </a:solidFill>
                  </a:tcPr>
                </a:tc>
                <a:tc>
                  <a:txBody>
                    <a:bodyPr anchor="t" rtlCol="false"/>
                    <a:lstStyle/>
                    <a:p>
                      <a:pPr algn="ctr">
                        <a:lnSpc>
                          <a:spcPts val="7699"/>
                        </a:lnSpc>
                        <a:defRPr/>
                      </a:pPr>
                      <a:r>
                        <a:rPr lang="en-US" sz="5499" b="true">
                          <a:solidFill>
                            <a:srgbClr val="000000"/>
                          </a:solidFill>
                          <a:latin typeface="HK Grotesk Bold"/>
                          <a:ea typeface="HK Grotesk Bold"/>
                          <a:cs typeface="HK Grotesk Bold"/>
                          <a:sym typeface="HK Grotesk Bold"/>
                        </a:rPr>
                        <a:t>Description</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CDD6FF"/>
                    </a:solidFill>
                  </a:tcPr>
                </a:tc>
                <a:tc>
                  <a:txBody>
                    <a:bodyPr anchor="t" rtlCol="false"/>
                    <a:lstStyle/>
                    <a:p>
                      <a:pPr algn="ctr">
                        <a:lnSpc>
                          <a:spcPts val="7699"/>
                        </a:lnSpc>
                        <a:defRPr/>
                      </a:pPr>
                      <a:r>
                        <a:rPr lang="en-US" sz="5499" b="true">
                          <a:solidFill>
                            <a:srgbClr val="000000"/>
                          </a:solidFill>
                          <a:latin typeface="HK Grotesk Bold"/>
                          <a:ea typeface="HK Grotesk Bold"/>
                          <a:cs typeface="HK Grotesk Bold"/>
                          <a:sym typeface="HK Grotesk Bold"/>
                        </a:rPr>
                        <a:t>Advantages</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CDD6FF"/>
                    </a:solidFill>
                  </a:tcPr>
                </a:tc>
              </a:tr>
              <a:tr h="2409197">
                <a:tc>
                  <a:txBody>
                    <a:bodyPr anchor="t" rtlCol="false"/>
                    <a:lstStyle/>
                    <a:p>
                      <a:pPr algn="ctr">
                        <a:lnSpc>
                          <a:spcPts val="4480"/>
                        </a:lnSpc>
                        <a:defRPr/>
                      </a:pPr>
                      <a:r>
                        <a:rPr lang="en-US" sz="3200" b="true">
                          <a:solidFill>
                            <a:srgbClr val="000000"/>
                          </a:solidFill>
                          <a:latin typeface="HK Grotesk Bold"/>
                          <a:ea typeface="HK Grotesk Bold"/>
                          <a:cs typeface="HK Grotesk Bold"/>
                          <a:sym typeface="HK Grotesk Bold"/>
                        </a:rPr>
                        <a:t>SAFe (Scaled Agile Framework)</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3779"/>
                        </a:lnSpc>
                        <a:defRPr/>
                      </a:pPr>
                      <a:r>
                        <a:rPr lang="en-US" sz="2699">
                          <a:solidFill>
                            <a:srgbClr val="000000"/>
                          </a:solidFill>
                          <a:latin typeface="HK Grotesk"/>
                          <a:ea typeface="HK Grotesk"/>
                          <a:cs typeface="HK Grotesk"/>
                          <a:sym typeface="HK Grotesk"/>
                        </a:rPr>
                        <a:t>Teams plan together, follow a structured system, and stay aligned while building a large product.</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3779"/>
                        </a:lnSpc>
                        <a:defRPr/>
                      </a:pPr>
                      <a:r>
                        <a:rPr lang="en-US" sz="2700">
                          <a:solidFill>
                            <a:srgbClr val="000000"/>
                          </a:solidFill>
                          <a:latin typeface="HK Grotesk"/>
                          <a:ea typeface="HK Grotesk"/>
                          <a:cs typeface="HK Grotesk"/>
                          <a:sym typeface="HK Grotesk"/>
                        </a:rPr>
                        <a:t>Prevents teams from doing their own thing by enforcing uniform security rules and planning across the entire organization.</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1931182">
                <a:tc>
                  <a:txBody>
                    <a:bodyPr anchor="t" rtlCol="false"/>
                    <a:lstStyle/>
                    <a:p>
                      <a:pPr algn="ctr">
                        <a:lnSpc>
                          <a:spcPts val="4480"/>
                        </a:lnSpc>
                        <a:defRPr/>
                      </a:pPr>
                      <a:r>
                        <a:rPr lang="en-US" sz="3200" b="true">
                          <a:solidFill>
                            <a:srgbClr val="000000"/>
                          </a:solidFill>
                          <a:latin typeface="HK Grotesk Bold"/>
                          <a:ea typeface="HK Grotesk Bold"/>
                          <a:cs typeface="HK Grotesk Bold"/>
                          <a:sym typeface="HK Grotesk Bold"/>
                        </a:rPr>
                        <a:t>LeSS (Large-Scale Scrum)</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3779"/>
                        </a:lnSpc>
                        <a:defRPr/>
                      </a:pPr>
                      <a:r>
                        <a:rPr lang="en-US" sz="2700">
                          <a:solidFill>
                            <a:srgbClr val="000000"/>
                          </a:solidFill>
                          <a:latin typeface="HK Grotesk"/>
                          <a:ea typeface="HK Grotesk"/>
                          <a:cs typeface="HK Grotesk"/>
                          <a:sym typeface="HK Grotesk"/>
                        </a:rPr>
                        <a:t>Multiple teams share one backlog and use simple Scrum together to build one product.</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3779"/>
                        </a:lnSpc>
                        <a:defRPr/>
                      </a:pPr>
                      <a:r>
                        <a:rPr lang="en-US" sz="2700">
                          <a:solidFill>
                            <a:srgbClr val="000000"/>
                          </a:solidFill>
                          <a:latin typeface="HK Grotesk"/>
                          <a:ea typeface="HK Grotesk"/>
                          <a:cs typeface="HK Grotesk"/>
                          <a:sym typeface="HK Grotesk"/>
                        </a:rPr>
                        <a:t>Gives developers the flexibility to handle security without being restricted by strict rules or heavy management.</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2027791">
                <a:tc>
                  <a:txBody>
                    <a:bodyPr anchor="t" rtlCol="false"/>
                    <a:lstStyle/>
                    <a:p>
                      <a:pPr algn="ctr">
                        <a:lnSpc>
                          <a:spcPts val="4480"/>
                        </a:lnSpc>
                        <a:defRPr/>
                      </a:pPr>
                      <a:r>
                        <a:rPr lang="en-US" sz="3200" b="true">
                          <a:solidFill>
                            <a:srgbClr val="000000"/>
                          </a:solidFill>
                          <a:latin typeface="HK Grotesk Bold"/>
                          <a:ea typeface="HK Grotesk Bold"/>
                          <a:cs typeface="HK Grotesk Bold"/>
                          <a:sym typeface="HK Grotesk Bold"/>
                        </a:rPr>
                        <a:t>Nexus Framework</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3779"/>
                        </a:lnSpc>
                        <a:defRPr/>
                      </a:pPr>
                      <a:r>
                        <a:rPr lang="en-US" sz="2700">
                          <a:solidFill>
                            <a:srgbClr val="000000"/>
                          </a:solidFill>
                          <a:latin typeface="HK Grotesk"/>
                          <a:ea typeface="HK Grotesk"/>
                          <a:cs typeface="HK Grotesk"/>
                          <a:sym typeface="HK Grotesk"/>
                        </a:rPr>
                        <a:t>Tasks are assigned so that there are less dependencies upon the teams.</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3779"/>
                        </a:lnSpc>
                        <a:defRPr/>
                      </a:pPr>
                      <a:r>
                        <a:rPr lang="en-US" sz="2700">
                          <a:solidFill>
                            <a:srgbClr val="000000"/>
                          </a:solidFill>
                          <a:latin typeface="HK Grotesk"/>
                          <a:ea typeface="HK Grotesk"/>
                          <a:cs typeface="HK Grotesk"/>
                          <a:sym typeface="HK Grotesk"/>
                        </a:rPr>
                        <a:t>Prevents a domino effect of delays by managing dependencies, ensuring that one team's slow security fixes don't stall the whole project.</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2409197">
                <a:tc>
                  <a:txBody>
                    <a:bodyPr anchor="t" rtlCol="false"/>
                    <a:lstStyle/>
                    <a:p>
                      <a:pPr algn="ctr">
                        <a:lnSpc>
                          <a:spcPts val="4480"/>
                        </a:lnSpc>
                        <a:defRPr/>
                      </a:pPr>
                      <a:r>
                        <a:rPr lang="en-US" sz="3200" b="true">
                          <a:solidFill>
                            <a:srgbClr val="000000"/>
                          </a:solidFill>
                          <a:latin typeface="HK Grotesk Bold"/>
                          <a:ea typeface="HK Grotesk Bold"/>
                          <a:cs typeface="HK Grotesk Bold"/>
                          <a:sym typeface="HK Grotesk Bold"/>
                        </a:rPr>
                        <a:t>Scrum@Scale (S@S)</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3779"/>
                        </a:lnSpc>
                        <a:defRPr/>
                      </a:pPr>
                      <a:r>
                        <a:rPr lang="en-US" sz="2700">
                          <a:solidFill>
                            <a:srgbClr val="000000"/>
                          </a:solidFill>
                          <a:latin typeface="HK Grotesk"/>
                          <a:ea typeface="HK Grotesk"/>
                          <a:cs typeface="HK Grotesk"/>
                          <a:sym typeface="HK Grotesk"/>
                        </a:rPr>
                        <a:t>Scrum teams stay independent but coordinate through shared meetings to align goals and progress.</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3779"/>
                        </a:lnSpc>
                        <a:defRPr/>
                      </a:pPr>
                      <a:r>
                        <a:rPr lang="en-US" sz="2700">
                          <a:solidFill>
                            <a:srgbClr val="000000"/>
                          </a:solidFill>
                          <a:latin typeface="HK Grotesk"/>
                          <a:ea typeface="HK Grotesk"/>
                          <a:cs typeface="HK Grotesk"/>
                          <a:sym typeface="HK Grotesk"/>
                        </a:rPr>
                        <a:t>Fixes the disconnect between management and developers, ensuring urgent security threats are quickly communicated and handled by everyone.</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bl>
          </a:graphicData>
        </a:graphic>
      </p:graphicFrame>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87426" y="354592"/>
            <a:ext cx="9458577" cy="4008072"/>
          </a:xfrm>
          <a:custGeom>
            <a:avLst/>
            <a:gdLst/>
            <a:ahLst/>
            <a:cxnLst/>
            <a:rect r="r" b="b" t="t" l="l"/>
            <a:pathLst>
              <a:path h="4008072" w="9458577">
                <a:moveTo>
                  <a:pt x="0" y="0"/>
                </a:moveTo>
                <a:lnTo>
                  <a:pt x="9458576" y="0"/>
                </a:lnTo>
                <a:lnTo>
                  <a:pt x="9458576" y="4008071"/>
                </a:lnTo>
                <a:lnTo>
                  <a:pt x="0" y="4008071"/>
                </a:lnTo>
                <a:lnTo>
                  <a:pt x="0" y="0"/>
                </a:lnTo>
                <a:close/>
              </a:path>
            </a:pathLst>
          </a:custGeom>
          <a:blipFill>
            <a:blip r:embed="rId3"/>
            <a:stretch>
              <a:fillRect l="0" t="0" r="0" b="0"/>
            </a:stretch>
          </a:blipFill>
        </p:spPr>
      </p:sp>
      <p:sp>
        <p:nvSpPr>
          <p:cNvPr name="Freeform 3" id="3"/>
          <p:cNvSpPr/>
          <p:nvPr/>
        </p:nvSpPr>
        <p:spPr>
          <a:xfrm flipH="false" flipV="false" rot="0">
            <a:off x="10051680" y="354592"/>
            <a:ext cx="7741855" cy="4356204"/>
          </a:xfrm>
          <a:custGeom>
            <a:avLst/>
            <a:gdLst/>
            <a:ahLst/>
            <a:cxnLst/>
            <a:rect r="r" b="b" t="t" l="l"/>
            <a:pathLst>
              <a:path h="4356204" w="7741855">
                <a:moveTo>
                  <a:pt x="0" y="0"/>
                </a:moveTo>
                <a:lnTo>
                  <a:pt x="7741855" y="0"/>
                </a:lnTo>
                <a:lnTo>
                  <a:pt x="7741855" y="4356203"/>
                </a:lnTo>
                <a:lnTo>
                  <a:pt x="0" y="4356203"/>
                </a:lnTo>
                <a:lnTo>
                  <a:pt x="0" y="0"/>
                </a:lnTo>
                <a:close/>
              </a:path>
            </a:pathLst>
          </a:custGeom>
          <a:blipFill>
            <a:blip r:embed="rId4"/>
            <a:stretch>
              <a:fillRect l="0" t="0" r="0" b="0"/>
            </a:stretch>
          </a:blipFill>
        </p:spPr>
      </p:sp>
      <p:sp>
        <p:nvSpPr>
          <p:cNvPr name="Freeform 4" id="4"/>
          <p:cNvSpPr/>
          <p:nvPr/>
        </p:nvSpPr>
        <p:spPr>
          <a:xfrm flipH="false" flipV="false" rot="0">
            <a:off x="823022" y="4778807"/>
            <a:ext cx="9022980" cy="4511490"/>
          </a:xfrm>
          <a:custGeom>
            <a:avLst/>
            <a:gdLst/>
            <a:ahLst/>
            <a:cxnLst/>
            <a:rect r="r" b="b" t="t" l="l"/>
            <a:pathLst>
              <a:path h="4511490" w="9022980">
                <a:moveTo>
                  <a:pt x="0" y="0"/>
                </a:moveTo>
                <a:lnTo>
                  <a:pt x="9022980" y="0"/>
                </a:lnTo>
                <a:lnTo>
                  <a:pt x="9022980" y="4511490"/>
                </a:lnTo>
                <a:lnTo>
                  <a:pt x="0" y="4511490"/>
                </a:lnTo>
                <a:lnTo>
                  <a:pt x="0" y="0"/>
                </a:lnTo>
                <a:close/>
              </a:path>
            </a:pathLst>
          </a:custGeom>
          <a:blipFill>
            <a:blip r:embed="rId5"/>
            <a:stretch>
              <a:fillRect l="0" t="0" r="0" b="0"/>
            </a:stretch>
          </a:blipFill>
        </p:spPr>
      </p:sp>
      <p:sp>
        <p:nvSpPr>
          <p:cNvPr name="Freeform 5" id="5"/>
          <p:cNvSpPr/>
          <p:nvPr/>
        </p:nvSpPr>
        <p:spPr>
          <a:xfrm flipH="false" flipV="false" rot="0">
            <a:off x="10178421" y="4976594"/>
            <a:ext cx="6888563" cy="4115917"/>
          </a:xfrm>
          <a:custGeom>
            <a:avLst/>
            <a:gdLst/>
            <a:ahLst/>
            <a:cxnLst/>
            <a:rect r="r" b="b" t="t" l="l"/>
            <a:pathLst>
              <a:path h="4115917" w="6888563">
                <a:moveTo>
                  <a:pt x="0" y="0"/>
                </a:moveTo>
                <a:lnTo>
                  <a:pt x="6888563" y="0"/>
                </a:lnTo>
                <a:lnTo>
                  <a:pt x="6888563" y="4115916"/>
                </a:lnTo>
                <a:lnTo>
                  <a:pt x="0" y="4115916"/>
                </a:lnTo>
                <a:lnTo>
                  <a:pt x="0" y="0"/>
                </a:lnTo>
                <a:close/>
              </a:path>
            </a:pathLst>
          </a:custGeom>
          <a:blipFill>
            <a:blip r:embed="rId6"/>
            <a:stretch>
              <a:fillRect l="0" t="0" r="0" b="0"/>
            </a:stretch>
          </a:blipFill>
        </p:spPr>
      </p:sp>
      <p:sp>
        <p:nvSpPr>
          <p:cNvPr name="TextBox 6" id="6"/>
          <p:cNvSpPr txBox="true"/>
          <p:nvPr/>
        </p:nvSpPr>
        <p:spPr>
          <a:xfrm rot="0">
            <a:off x="2806466" y="4413233"/>
            <a:ext cx="5857706" cy="426526"/>
          </a:xfrm>
          <a:prstGeom prst="rect">
            <a:avLst/>
          </a:prstGeom>
        </p:spPr>
        <p:txBody>
          <a:bodyPr anchor="t" rtlCol="false" tIns="0" lIns="0" bIns="0" rIns="0">
            <a:spAutoFit/>
          </a:bodyPr>
          <a:lstStyle/>
          <a:p>
            <a:pPr algn="l">
              <a:lnSpc>
                <a:spcPts val="3330"/>
              </a:lnSpc>
            </a:pPr>
            <a:r>
              <a:rPr lang="en-US" sz="3028" b="true">
                <a:solidFill>
                  <a:srgbClr val="3D291F"/>
                </a:solidFill>
                <a:latin typeface="HK Grotesk Medium"/>
                <a:ea typeface="HK Grotesk Medium"/>
                <a:cs typeface="HK Grotesk Medium"/>
                <a:sym typeface="HK Grotesk Medium"/>
              </a:rPr>
              <a:t>SAFe (Scaled Agile Framework)</a:t>
            </a:r>
          </a:p>
        </p:txBody>
      </p:sp>
      <p:sp>
        <p:nvSpPr>
          <p:cNvPr name="TextBox 7" id="7"/>
          <p:cNvSpPr txBox="true"/>
          <p:nvPr/>
        </p:nvSpPr>
        <p:spPr>
          <a:xfrm rot="0">
            <a:off x="11420438" y="4297141"/>
            <a:ext cx="5004339" cy="413655"/>
          </a:xfrm>
          <a:prstGeom prst="rect">
            <a:avLst/>
          </a:prstGeom>
        </p:spPr>
        <p:txBody>
          <a:bodyPr anchor="t" rtlCol="false" tIns="0" lIns="0" bIns="0" rIns="0">
            <a:spAutoFit/>
          </a:bodyPr>
          <a:lstStyle/>
          <a:p>
            <a:pPr algn="l">
              <a:lnSpc>
                <a:spcPts val="3167"/>
              </a:lnSpc>
            </a:pPr>
            <a:r>
              <a:rPr lang="en-US" sz="2879" b="true">
                <a:solidFill>
                  <a:srgbClr val="3D291F"/>
                </a:solidFill>
                <a:latin typeface="HK Grotesk Medium"/>
                <a:ea typeface="HK Grotesk Medium"/>
                <a:cs typeface="HK Grotesk Medium"/>
                <a:sym typeface="HK Grotesk Medium"/>
              </a:rPr>
              <a:t>LeSS (Large-Scale Scrum)</a:t>
            </a:r>
          </a:p>
        </p:txBody>
      </p:sp>
      <p:sp>
        <p:nvSpPr>
          <p:cNvPr name="TextBox 8" id="8"/>
          <p:cNvSpPr txBox="true"/>
          <p:nvPr/>
        </p:nvSpPr>
        <p:spPr>
          <a:xfrm rot="0">
            <a:off x="3830356" y="9014994"/>
            <a:ext cx="3809924" cy="515187"/>
          </a:xfrm>
          <a:prstGeom prst="rect">
            <a:avLst/>
          </a:prstGeom>
        </p:spPr>
        <p:txBody>
          <a:bodyPr anchor="t" rtlCol="false" tIns="0" lIns="0" bIns="0" rIns="0">
            <a:spAutoFit/>
          </a:bodyPr>
          <a:lstStyle/>
          <a:p>
            <a:pPr algn="l">
              <a:lnSpc>
                <a:spcPts val="3979"/>
              </a:lnSpc>
            </a:pPr>
            <a:r>
              <a:rPr lang="en-US" sz="3618" b="true">
                <a:solidFill>
                  <a:srgbClr val="3D291F"/>
                </a:solidFill>
                <a:latin typeface="HK Grotesk Medium"/>
                <a:ea typeface="HK Grotesk Medium"/>
                <a:cs typeface="HK Grotesk Medium"/>
                <a:sym typeface="HK Grotesk Medium"/>
              </a:rPr>
              <a:t>Nexus Framework</a:t>
            </a:r>
          </a:p>
        </p:txBody>
      </p:sp>
      <p:sp>
        <p:nvSpPr>
          <p:cNvPr name="TextBox 9" id="9"/>
          <p:cNvSpPr txBox="true"/>
          <p:nvPr/>
        </p:nvSpPr>
        <p:spPr>
          <a:xfrm rot="0">
            <a:off x="10778231" y="9011488"/>
            <a:ext cx="6288753" cy="522199"/>
          </a:xfrm>
          <a:prstGeom prst="rect">
            <a:avLst/>
          </a:prstGeom>
        </p:spPr>
        <p:txBody>
          <a:bodyPr anchor="t" rtlCol="false" tIns="0" lIns="0" bIns="0" rIns="0">
            <a:spAutoFit/>
          </a:bodyPr>
          <a:lstStyle/>
          <a:p>
            <a:pPr algn="ctr">
              <a:lnSpc>
                <a:spcPts val="3979"/>
              </a:lnSpc>
            </a:pPr>
            <a:r>
              <a:rPr lang="en-US" b="true" sz="3618">
                <a:solidFill>
                  <a:srgbClr val="3D291F"/>
                </a:solidFill>
                <a:latin typeface="HK Grotesk Medium"/>
                <a:ea typeface="HK Grotesk Medium"/>
                <a:cs typeface="HK Grotesk Medium"/>
                <a:sym typeface="HK Grotesk Medium"/>
              </a:rPr>
              <a:t>Scrum@Scale (S@S)</a:t>
            </a:r>
          </a:p>
        </p:txBody>
      </p:sp>
    </p:spTree>
  </p:cSld>
  <p:clrMapOvr>
    <a:masterClrMapping/>
  </p:clrMapOvr>
</p:sld>
</file>

<file path=ppt/slides/slide2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759558" y="834692"/>
            <a:ext cx="848550" cy="453402"/>
          </a:xfrm>
          <a:prstGeom prst="rect">
            <a:avLst/>
          </a:prstGeom>
        </p:spPr>
        <p:txBody>
          <a:bodyPr anchor="t" rtlCol="false" tIns="0" lIns="0" bIns="0" rIns="0">
            <a:spAutoFit/>
          </a:bodyPr>
          <a:lstStyle/>
          <a:p>
            <a:pPr algn="l">
              <a:lnSpc>
                <a:spcPts val="1731"/>
              </a:lnSpc>
            </a:pPr>
            <a:r>
              <a:rPr lang="en-US" sz="1731" b="true">
                <a:solidFill>
                  <a:srgbClr val="FFFFFF"/>
                </a:solidFill>
                <a:latin typeface="HK Grotesk Medium"/>
                <a:ea typeface="HK Grotesk Medium"/>
                <a:cs typeface="HK Grotesk Medium"/>
                <a:sym typeface="HK Grotesk Medium"/>
              </a:rPr>
              <a:t>YOUR</a:t>
            </a:r>
          </a:p>
          <a:p>
            <a:pPr algn="l">
              <a:lnSpc>
                <a:spcPts val="1731"/>
              </a:lnSpc>
            </a:pPr>
            <a:r>
              <a:rPr lang="en-US" b="true" sz="1731">
                <a:solidFill>
                  <a:srgbClr val="FFFFFF"/>
                </a:solidFill>
                <a:latin typeface="HK Grotesk Medium"/>
                <a:ea typeface="HK Grotesk Medium"/>
                <a:cs typeface="HK Grotesk Medium"/>
                <a:sym typeface="HK Grotesk Medium"/>
              </a:rPr>
              <a:t>LOGO</a:t>
            </a:r>
          </a:p>
        </p:txBody>
      </p:sp>
      <p:sp>
        <p:nvSpPr>
          <p:cNvPr name="TextBox 3" id="3"/>
          <p:cNvSpPr txBox="true"/>
          <p:nvPr/>
        </p:nvSpPr>
        <p:spPr>
          <a:xfrm rot="0">
            <a:off x="1028700" y="399428"/>
            <a:ext cx="16466147" cy="2483481"/>
          </a:xfrm>
          <a:prstGeom prst="rect">
            <a:avLst/>
          </a:prstGeom>
        </p:spPr>
        <p:txBody>
          <a:bodyPr anchor="t" rtlCol="false" tIns="0" lIns="0" bIns="0" rIns="0">
            <a:spAutoFit/>
          </a:bodyPr>
          <a:lstStyle/>
          <a:p>
            <a:pPr algn="ctr">
              <a:lnSpc>
                <a:spcPts val="9679"/>
              </a:lnSpc>
            </a:pPr>
            <a:r>
              <a:rPr lang="en-US" sz="8799">
                <a:solidFill>
                  <a:srgbClr val="1566A8"/>
                </a:solidFill>
                <a:latin typeface="Anton"/>
                <a:ea typeface="Anton"/>
                <a:cs typeface="Anton"/>
                <a:sym typeface="Anton"/>
              </a:rPr>
              <a:t>Challenges in Implementation of Scaling Agile Methods</a:t>
            </a:r>
          </a:p>
        </p:txBody>
      </p:sp>
      <p:sp>
        <p:nvSpPr>
          <p:cNvPr name="TextBox 4" id="4"/>
          <p:cNvSpPr txBox="true"/>
          <p:nvPr/>
        </p:nvSpPr>
        <p:spPr>
          <a:xfrm rot="0">
            <a:off x="840108" y="3123885"/>
            <a:ext cx="16938295" cy="5148289"/>
          </a:xfrm>
          <a:prstGeom prst="rect">
            <a:avLst/>
          </a:prstGeom>
        </p:spPr>
        <p:txBody>
          <a:bodyPr anchor="t" rtlCol="false" tIns="0" lIns="0" bIns="0" rIns="0">
            <a:spAutoFit/>
          </a:bodyPr>
          <a:lstStyle/>
          <a:p>
            <a:pPr algn="l" marL="840586" indent="-420293" lvl="1">
              <a:lnSpc>
                <a:spcPts val="5840"/>
              </a:lnSpc>
              <a:buFont typeface="Arial"/>
              <a:buChar char="•"/>
            </a:pPr>
            <a:r>
              <a:rPr lang="en-US" sz="3893">
                <a:solidFill>
                  <a:srgbClr val="545454"/>
                </a:solidFill>
                <a:latin typeface="DM Sans"/>
                <a:ea typeface="DM Sans"/>
                <a:cs typeface="DM Sans"/>
                <a:sym typeface="DM Sans"/>
              </a:rPr>
              <a:t>Resistance to change</a:t>
            </a:r>
          </a:p>
          <a:p>
            <a:pPr algn="l" marL="840586" indent="-420293" lvl="1">
              <a:lnSpc>
                <a:spcPts val="5840"/>
              </a:lnSpc>
              <a:buFont typeface="Arial"/>
              <a:buChar char="•"/>
            </a:pPr>
            <a:r>
              <a:rPr lang="en-US" sz="3893">
                <a:solidFill>
                  <a:srgbClr val="545454"/>
                </a:solidFill>
                <a:latin typeface="DM Sans"/>
                <a:ea typeface="DM Sans"/>
                <a:cs typeface="DM Sans"/>
                <a:sym typeface="DM Sans"/>
              </a:rPr>
              <a:t>Teams getting in each other's way</a:t>
            </a:r>
          </a:p>
          <a:p>
            <a:pPr algn="l" marL="840586" indent="-420293" lvl="1">
              <a:lnSpc>
                <a:spcPts val="5840"/>
              </a:lnSpc>
              <a:buFont typeface="Arial"/>
              <a:buChar char="•"/>
            </a:pPr>
            <a:r>
              <a:rPr lang="en-US" sz="3893">
                <a:solidFill>
                  <a:srgbClr val="545454"/>
                </a:solidFill>
                <a:latin typeface="DM Sans"/>
                <a:ea typeface="DM Sans"/>
                <a:cs typeface="DM Sans"/>
                <a:sym typeface="DM Sans"/>
              </a:rPr>
              <a:t>Communication breakdown</a:t>
            </a:r>
            <a:r>
              <a:rPr lang="en-US" sz="3893">
                <a:solidFill>
                  <a:srgbClr val="545454"/>
                </a:solidFill>
                <a:latin typeface="DM Sans"/>
                <a:ea typeface="DM Sans"/>
                <a:cs typeface="DM Sans"/>
                <a:sym typeface="DM Sans"/>
              </a:rPr>
              <a:t>.</a:t>
            </a:r>
          </a:p>
          <a:p>
            <a:pPr algn="l" marL="840586" indent="-420293" lvl="1">
              <a:lnSpc>
                <a:spcPts val="5840"/>
              </a:lnSpc>
              <a:buFont typeface="Arial"/>
              <a:buChar char="•"/>
            </a:pPr>
            <a:r>
              <a:rPr lang="en-US" sz="3893">
                <a:solidFill>
                  <a:srgbClr val="545454"/>
                </a:solidFill>
                <a:latin typeface="DM Sans"/>
                <a:ea typeface="DM Sans"/>
                <a:cs typeface="DM Sans"/>
                <a:sym typeface="DM Sans"/>
              </a:rPr>
              <a:t>Managing access permissions gets chaotic and risky when hundreds of developers are working across different systems at once.</a:t>
            </a:r>
          </a:p>
          <a:p>
            <a:pPr algn="l" marL="840586" indent="-420293" lvl="1">
              <a:lnSpc>
                <a:spcPts val="5840"/>
              </a:lnSpc>
              <a:buFont typeface="Arial"/>
              <a:buChar char="•"/>
            </a:pPr>
            <a:r>
              <a:rPr lang="en-US" sz="3893">
                <a:solidFill>
                  <a:srgbClr val="545454"/>
                </a:solidFill>
                <a:latin typeface="DM Sans"/>
                <a:ea typeface="DM Sans"/>
                <a:cs typeface="DM Sans"/>
                <a:sym typeface="DM Sans"/>
              </a:rPr>
              <a:t>Mandatory security audits and compliance checks across multiple teams can severely slow down software release times.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DAHICq7bWDw</dc:identifier>
  <dcterms:modified xsi:type="dcterms:W3CDTF">2011-08-01T06:04:30Z</dcterms:modified>
  <cp:revision>1</cp:revision>
  <dc:title>Group 2</dc:title>
</cp:coreProperties>
</file>